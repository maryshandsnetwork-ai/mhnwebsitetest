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5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302" r:id="rId52"/>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303" r:id="rId39"/>
    <p:sldId id="291" r:id="rId40"/>
    <p:sldId id="292" r:id="rId41"/>
    <p:sldId id="293" r:id="rId42"/>
    <p:sldId id="294" r:id="rId43"/>
    <p:sldId id="295" r:id="rId44"/>
    <p:sldId id="296" r:id="rId45"/>
    <p:sldId id="297" r:id="rId46"/>
    <p:sldId id="298" r:id="rId47"/>
    <p:sldId id="299" r:id="rId48"/>
    <p:sldId id="300" r:id="rId49"/>
    <p:sldId id="301" r:id="rId50"/>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3" roundtripDataSignature="AMtx7mj5UkXrkqpI14U30ilco5xeczAw5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DB2BFA-64D8-5667-6A15-2BBF561167F8}" v="1" dt="2026-05-11T01:21:22.2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notesMaster" Target="notesMasters/notesMaster1.xml"/><Relationship Id="rId52" Type="http://schemas.openxmlformats.org/officeDocument/2006/relationships/slide" Target="slides/slide18.xml"/><Relationship Id="rId53" Type="http://customschemas.google.com/relationships/presentationmetadata" Target="metadata"/><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5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 name="Google Shape;2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objectives ---</a:t>
            </a:r>
          </a:p>
          <a:p>
            <a:r>
              <a:t>Explain the physical and emotional changes that occur during each trimester of pregnancy</a:t>
            </a:r>
          </a:p>
          <a:p>
            <a:r>
              <a:t>Offer evidence-based comfort strategies for the most common pregnancy discomforts</a:t>
            </a:r>
          </a:p>
          <a:p>
            <a:r>
              <a:t>Describe major prenatal tests and your role in supporting clients through them</a:t>
            </a:r>
          </a:p>
          <a:p>
            <a:r>
              <a:t>Describe the doula's role during the prenatal period, including scope of practice</a:t>
            </a:r>
          </a:p>
          <a:p>
            <a:r>
              <a:t>Recognize the warning signs of preeclampsia and other complications requiring immediate attention</a:t>
            </a:r>
          </a:p>
          <a:p>
            <a:r>
              <a:t>Practice advocacy language for when a client's concerns are minimized or dismissed</a:t>
            </a:r>
          </a:p>
          <a:p>
            <a:r>
              <a:t>Describe the impact of racial health disparities on maternal outcomes in Louisiana</a:t>
            </a:r>
          </a:p>
        </p:txBody>
      </p:sp>
      <p:sp>
        <p:nvSpPr>
          <p:cNvPr id="26" name="Google Shape;2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Google Shape;3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 name="Google Shape;3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Sperm meets egg in the fallopian tube, forming a fertilized egg called a zygote</a:t>
            </a:r>
          </a:p>
          <a:p>
            <a:r>
              <a:t>The zygote immediately begins dividing as it travels toward the uterus</a:t>
            </a:r>
          </a:p>
          <a:p>
            <a:r>
              <a:t>The genetic blueprint is fixed at this exact moment — chromosomes, biological sex, and many inherited traits are set here</a:t>
            </a:r>
          </a:p>
          <a:p>
            <a:r>
              <a:t>Pregnancy is dated from the first day of the last menstrual period — not from conception</a:t>
            </a:r>
          </a:p>
          <a:p>
            <a:r>
              <a:t>Most people are already 2 weeks "pregnant" before conception even occurs</a:t>
            </a:r>
          </a:p>
        </p:txBody>
      </p:sp>
      <p:sp>
        <p:nvSpPr>
          <p:cNvPr id="50" name="Google Shape;5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Around days 6–10 after fertilization, the blastocyst burrows into the uterine lining (the endometrium)</a:t>
            </a:r>
          </a:p>
          <a:p>
            <a:r>
              <a:t>This triggers the release of hCG — human chorionic gonadotropin — the hormone pregnancy tests detect</a:t>
            </a:r>
          </a:p>
          <a:p>
            <a:r>
              <a:t>Some people notice light spotting at implantation and mistake it for a period</a:t>
            </a:r>
          </a:p>
          <a:p>
            <a:r>
              <a:t>If implantation fails, the lining sheds as a normal period — most very early pregnancies end this way</a:t>
            </a:r>
          </a:p>
          <a:p>
            <a:r>
              <a:t>The person will never know they were briefly pregnant</a:t>
            </a:r>
          </a:p>
        </p:txBody>
      </p:sp>
      <p:sp>
        <p:nvSpPr>
          <p:cNvPr id="63" name="Google Shape;6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Produced by the placenta starting at implantation</a:t>
            </a:r>
          </a:p>
          <a:p>
            <a:r>
              <a:t>The hormone pregnancy tests detect — levels double every 48–72 hours in early pregnancy</a:t>
            </a:r>
          </a:p>
          <a:p>
            <a:r>
              <a:t>Surges dramatically in the first trimester, peaks around week 10, then drops off</a:t>
            </a:r>
          </a:p>
          <a:p>
            <a:r>
              <a:t>Triggers the nausea center in the brainstem — explains why first-trimester nausea is worst at the peak</a:t>
            </a:r>
          </a:p>
          <a:p>
            <a:r>
              <a:t>Also signals the ovaries to stop producing eggs for the duration of the pregnancy</a:t>
            </a:r>
          </a:p>
        </p:txBody>
      </p:sp>
      <p:sp>
        <p:nvSpPr>
          <p:cNvPr id="138" name="Google Shape;13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Maintains the uterine lining so the embryo stays implanted</a:t>
            </a:r>
          </a:p>
          <a:p>
            <a:r>
              <a:t>Suppresses uterine contractions to protect the pregnancy</a:t>
            </a:r>
          </a:p>
          <a:p>
            <a:r>
              <a:t>Relaxes smooth muscle throughout the entire body — causes heartburn, constipation, and bloating</a:t>
            </a:r>
          </a:p>
          <a:p>
            <a:r>
              <a:t>Has a sedating effect — directly responsible for first-trimester fatigue</a:t>
            </a:r>
          </a:p>
          <a:p>
            <a:r>
              <a:t>Rises steadily throughout pregnancy; a sudden drop after birth contributes to baby blues</a:t>
            </a:r>
          </a:p>
        </p:txBody>
      </p:sp>
      <p:sp>
        <p:nvSpPr>
          <p:cNvPr id="152" name="Google Shape;15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Drives uterine growth to accommodate the expanding baby</a:t>
            </a:r>
          </a:p>
          <a:p>
            <a:r>
              <a:t>Stimulates breast tissue development in preparation for lactation</a:t>
            </a:r>
          </a:p>
          <a:p>
            <a:r>
              <a:t>Increases blood flow to the skin — responsible for the "pregnancy glow"</a:t>
            </a:r>
          </a:p>
          <a:p>
            <a:r>
              <a:t>That same blood flow also causes nasal congestion, nosebleeds, and bleeding gums</a:t>
            </a:r>
          </a:p>
          <a:p>
            <a:r>
              <a:t>Drives skin changes: stretch marks, linea nigra (the dark midline), and melasma (facial pigmentation)</a:t>
            </a:r>
          </a:p>
        </p:txBody>
      </p:sp>
      <p:sp>
        <p:nvSpPr>
          <p:cNvPr id="166" name="Google Shape;16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Primary job: loosen the pelvic ligaments so the pelvis can widen enough for birth</a:t>
            </a:r>
          </a:p>
          <a:p>
            <a:r>
              <a:t>The problem: it loosens ALL ligaments in the body, not just pelvic ones</a:t>
            </a:r>
          </a:p>
          <a:p>
            <a:r>
              <a:t>Causes back pain, round ligament pain (sharp lower belly pains), and symphysis pubis dysfunction (SPD)</a:t>
            </a:r>
          </a:p>
          <a:p>
            <a:r>
              <a:t>The "pregnancy clumsiness" clients describe — dropping things, misjudging distances — is relaxin destabilizing joints</a:t>
            </a:r>
          </a:p>
          <a:p>
            <a:r>
              <a:t>Levels peak in the first trimester, stay elevated throughout, and resolve after birth or after breastfeeding ends</a:t>
            </a:r>
          </a:p>
        </p:txBody>
      </p:sp>
      <p:sp>
        <p:nvSpPr>
          <p:cNvPr id="180" name="Google Shape;18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Builds gradually throughout pregnancy and peaks at the onset of labor</a:t>
            </a:r>
          </a:p>
          <a:p>
            <a:r>
              <a:t>Triggers and sustains uterine contractions — Pitocin is synthetic oxytocin</a:t>
            </a:r>
          </a:p>
          <a:p>
            <a:r>
              <a:t>Released in response to touch, eye contact, warm skin contact, and emotional safety</a:t>
            </a:r>
          </a:p>
          <a:p>
            <a:r>
              <a:t>Drives maternal bonding after birth — skin-to-skin contact floods the system with oxytocin</a:t>
            </a:r>
          </a:p>
          <a:p>
            <a:r>
              <a:t>Also responsible for the milk let-down reflex during breastfeeding</a:t>
            </a:r>
          </a:p>
        </p:txBody>
      </p:sp>
      <p:sp>
        <p:nvSpPr>
          <p:cNvPr id="194" name="Google Shape;19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Rises steadily throughout pregnancy — this is normal and necessary</a:t>
            </a:r>
          </a:p>
          <a:p>
            <a:r>
              <a:t>Adapts the immune system to tolerate the fetus, which is genetically foreign tissue</a:t>
            </a:r>
          </a:p>
          <a:p>
            <a:r>
              <a:t>Supports fetal lung and organ development in the third trimester</a:t>
            </a:r>
          </a:p>
          <a:p>
            <a:r>
              <a:t>Chronically elevated cortisol from unmanaged stress is linked to increased preterm labor risk and lower birth weight</a:t>
            </a:r>
          </a:p>
          <a:p>
            <a:r>
              <a:t>Doula presence reduces cortisol — this is one mechanism behind the Cochrane Review data showing improved outcomes</a:t>
            </a:r>
          </a:p>
        </p:txBody>
      </p:sp>
      <p:sp>
        <p:nvSpPr>
          <p:cNvPr id="208" name="Google Shape;20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Starts as a pear-sized, 3-ounce organ tucked deep in the pelvis</a:t>
            </a:r>
          </a:p>
          <a:p>
            <a:r>
              <a:t>By full term it is the size of a watermelon and weighs about 2 pounds</a:t>
            </a:r>
          </a:p>
          <a:p>
            <a:r>
              <a:t>Pushes every organ in the abdominal cavity upward, outward, and to the sides</a:t>
            </a:r>
          </a:p>
          <a:p>
            <a:r>
              <a:t>This single structural change causes the majority of third-trimester symptoms</a:t>
            </a:r>
          </a:p>
          <a:p>
            <a:r>
              <a:t>The uterine muscle must contract powerfully during labor — it is one of the strongest muscles in the human body</a:t>
            </a:r>
          </a:p>
        </p:txBody>
      </p:sp>
      <p:sp>
        <p:nvSpPr>
          <p:cNvPr id="234" name="Google Shape;234;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Days 1–14: Fertilization, cell division, and implantation into the uterine wall</a:t>
            </a:r>
          </a:p>
          <a:p>
            <a:r>
              <a:t>Week 4: Neural tube forms — closes by day 28. Heart tube begins beating</a:t>
            </a:r>
          </a:p>
          <a:p>
            <a:r>
              <a:t>Weeks 5–8: All major organ systems established — heart, brain, kidneys, liver, lungs</a:t>
            </a:r>
          </a:p>
          <a:p>
            <a:r>
              <a:t>Week 8: Now called a fetus. Fingers and toes forming. About 1 inch long</a:t>
            </a:r>
          </a:p>
          <a:p>
            <a:r>
              <a:t>Week 10: Placenta takes over hormone production from the corpus luteum</a:t>
            </a:r>
          </a:p>
          <a:p>
            <a:r>
              <a:t>Week 13: Facial features recognizable, vocal cords forming — 3 inches and 1 ounce</a:t>
            </a:r>
          </a:p>
        </p:txBody>
      </p:sp>
      <p:sp>
        <p:nvSpPr>
          <p:cNvPr id="302" name="Google Shape;30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Nausea and vomiting — affects 70–80% of pregnant people and can happen all day, not just morning</a:t>
            </a:r>
          </a:p>
          <a:p>
            <a:r>
              <a:t>Extreme fatigue — the body is building a placenta; this is physiologically exhausting</a:t>
            </a:r>
          </a:p>
          <a:p>
            <a:r>
              <a:t>Breast tenderness, frequent urination, food aversions, heightened sense of smell</a:t>
            </a:r>
          </a:p>
          <a:p>
            <a:r>
              <a:t>Emotional ups and downs from hormonal surges — fear, ambivalence, and excitement can all coexist</a:t>
            </a:r>
          </a:p>
          <a:p>
            <a:r>
              <a:t>No visible bump yet — pregnancy can feel abstract or surreal, especially for first-time parents</a:t>
            </a:r>
          </a:p>
          <a:p>
            <a:r>
              <a:t>Miscarriage risk is highest now — your most anxiety-containing work happens in T1</a:t>
            </a:r>
          </a:p>
        </p:txBody>
      </p:sp>
      <p:sp>
        <p:nvSpPr>
          <p:cNvPr id="317" name="Google Shape;317;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Weeks 14–16: Making facial expressions, sucking movements, hiccupping</a:t>
            </a:r>
          </a:p>
          <a:p>
            <a:r>
              <a:t>Week 16: Fingerprints form; skeleton hardening from cartilage to bone</a:t>
            </a:r>
          </a:p>
          <a:p>
            <a:r>
              <a:t>Week 18–22: Quickening — the pregnant person begins feeling fetal movement for the first time</a:t>
            </a:r>
          </a:p>
          <a:p>
            <a:r>
              <a:t>Week 20: Baby can swallow amniotic fluid, taste, and hear sounds from outside the womb</a:t>
            </a:r>
          </a:p>
          <a:p>
            <a:r>
              <a:t>Week 24: Threshold of viability — with intensive NICU care, survival is possible</a:t>
            </a:r>
          </a:p>
          <a:p>
            <a:r>
              <a:t>Week 27: Eyes beginning to open — about 14 inches and 2 pounds</a:t>
            </a:r>
          </a:p>
        </p:txBody>
      </p:sp>
      <p:sp>
        <p:nvSpPr>
          <p:cNvPr id="331" name="Google Shape;331;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Nausea often subsides and energy returns — many people feel more like themselves</a:t>
            </a:r>
          </a:p>
          <a:p>
            <a:r>
              <a:t>Baby bump becomes visible — can feel affirming and real for the first time</a:t>
            </a:r>
          </a:p>
          <a:p>
            <a:r>
              <a:t>Round ligament pain begins — sharp lower abdominal pains as the uterus expands</a:t>
            </a:r>
          </a:p>
          <a:p>
            <a:r>
              <a:t>Nasal congestion, nosebleeds, and bleeding gums from increased blood volume</a:t>
            </a:r>
          </a:p>
          <a:p>
            <a:r>
              <a:t>Skin changes: the pregnancy glow, stretch marks, linea nigra, melasma</a:t>
            </a:r>
          </a:p>
          <a:p>
            <a:r>
              <a:t>Begin discussing birth preferences and fears — this is prime prenatal relationship-building time</a:t>
            </a:r>
          </a:p>
        </p:txBody>
      </p:sp>
      <p:sp>
        <p:nvSpPr>
          <p:cNvPr id="345" name="Google Shape;34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Weeks 28–32: Rapid weight gain, body fat accumulating for temperature regulation after birth</a:t>
            </a:r>
          </a:p>
          <a:p>
            <a:r>
              <a:t>Weeks 32–36: Lungs produce surfactant — the substance that keeps air sacs open after birth</a:t>
            </a:r>
          </a:p>
          <a:p>
            <a:r>
              <a:t>Week 37: "Early term" — lungs functional but brain still developing rapidly through week 39</a:t>
            </a:r>
          </a:p>
          <a:p>
            <a:r>
              <a:t>Weeks 39–40: Developmentally optimal; baby settles head-down as space shrinks</a:t>
            </a:r>
          </a:p>
          <a:p>
            <a:r>
              <a:t>Full term: 19–21 inches, 6–9 lbs, all systems ready</a:t>
            </a:r>
          </a:p>
        </p:txBody>
      </p:sp>
      <p:sp>
        <p:nvSpPr>
          <p:cNvPr id="359" name="Google Shape;35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Increasing discomfort — carrying extra weight, difficulty sleeping, shortness of breath</a:t>
            </a:r>
          </a:p>
          <a:p>
            <a:r>
              <a:t>Heartburn and indigestion intensify as the uterus presses on the stomach</a:t>
            </a:r>
          </a:p>
          <a:p>
            <a:r>
              <a:t>Pelvic pressure, lightning crotch (sharp pelvic pains), and frequent urination return</a:t>
            </a:r>
          </a:p>
          <a:p>
            <a:r>
              <a:t>Swelling in feet, ankles, and hands — normal if gradual; sudden severe swelling is a red flag</a:t>
            </a:r>
          </a:p>
          <a:p>
            <a:r>
              <a:t>Nesting instinct — a sudden urge to clean, organize, and prepare</a:t>
            </a:r>
          </a:p>
          <a:p>
            <a:r>
              <a:t>Emotional intensity — anticipation, fear, excitement, and impatience all at once</a:t>
            </a:r>
          </a:p>
        </p:txBody>
      </p:sp>
      <p:sp>
        <p:nvSpPr>
          <p:cNvPr id="373" name="Google Shape;373;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Nausea offers (original) ---</a:t>
            </a:r>
          </a:p>
          <a:p>
            <a:r>
              <a:t>Small, frequent meals — an empty stomach worsens nausea</a:t>
            </a:r>
          </a:p>
          <a:p>
            <a:r>
              <a:t>Ginger: tea, candies, or fresh ginger — evidence supports its effectiveness</a:t>
            </a:r>
          </a:p>
          <a:p>
            <a:r>
              <a:t>Vitamin B6 with provider approval</a:t>
            </a:r>
          </a:p>
          <a:p>
            <a:r>
              <a:t>Acupressure wristbands (Sea-Bands)</a:t>
            </a:r>
          </a:p>
          <a:p>
            <a:r>
              <a:t>Avoid known triggers — certain smells, foods, or activities</a:t>
            </a:r>
          </a:p>
        </p:txBody>
      </p:sp>
      <p:sp>
        <p:nvSpPr>
          <p:cNvPr id="387" name="Google Shape;38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Heartburn offers (original) ---</a:t>
            </a:r>
          </a:p>
          <a:p>
            <a:r>
              <a:t>Small, frequent meals instead of large ones</a:t>
            </a:r>
          </a:p>
          <a:p>
            <a:r>
              <a:t>Avoid spicy, acidic, fatty, or fried foods</a:t>
            </a:r>
          </a:p>
          <a:p>
            <a:r>
              <a:t>Don't lie down for 2–3 hours after eating</a:t>
            </a:r>
          </a:p>
          <a:p>
            <a:r>
              <a:t>Sleep with the head elevated — gravity keeps acid down</a:t>
            </a:r>
          </a:p>
          <a:p>
            <a:r>
              <a:t>Chew gum: increases saliva, which neutralizes acid</a:t>
            </a:r>
          </a:p>
        </p:txBody>
      </p:sp>
      <p:sp>
        <p:nvSpPr>
          <p:cNvPr id="410" name="Google Shape;41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Swelling offers (original) ---</a:t>
            </a:r>
          </a:p>
          <a:p>
            <a:r>
              <a:t>Elevate feet when sitting or resting</a:t>
            </a:r>
          </a:p>
          <a:p>
            <a:r>
              <a:t>Avoid standing for long periods</a:t>
            </a:r>
          </a:p>
          <a:p>
            <a:r>
              <a:t>Stay hydrated — counterintuitively, this reduces swelling</a:t>
            </a:r>
          </a:p>
          <a:p>
            <a:r>
              <a:t>Reduce sodium intake</a:t>
            </a:r>
          </a:p>
          <a:p>
            <a:r>
              <a:t>Compression stockings if swelling is significant</a:t>
            </a:r>
          </a:p>
        </p:txBody>
      </p:sp>
      <p:sp>
        <p:nvSpPr>
          <p:cNvPr id="433" name="Google Shape;433;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 name="Google Shape;455;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 pain offers (original) ---</a:t>
            </a:r>
          </a:p>
          <a:p>
            <a:r>
              <a:t>Good posture coaching — shoulders back, pelvis tucked</a:t>
            </a:r>
          </a:p>
          <a:p>
            <a:r>
              <a:t>Supportive shoes — avoid heels</a:t>
            </a:r>
          </a:p>
          <a:p>
            <a:r>
              <a:t>Prenatal yoga or gentle stretching</a:t>
            </a:r>
          </a:p>
          <a:p>
            <a:r>
              <a:t>Heat for muscle pain (not directly on belly)</a:t>
            </a:r>
          </a:p>
          <a:p>
            <a:r>
              <a:t>Side-lying with a pillow between the knees for sleep</a:t>
            </a:r>
          </a:p>
        </p:txBody>
      </p:sp>
      <p:sp>
        <p:nvSpPr>
          <p:cNvPr id="456" name="Google Shape;456;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8" name="Google Shape;478;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Fatigue offers (original) ---</a:t>
            </a:r>
          </a:p>
          <a:p>
            <a:r>
              <a:t>Give explicit permission to rest — this is essential, not lazy</a:t>
            </a:r>
          </a:p>
          <a:p>
            <a:r>
              <a:t>Short naps (20–30 minutes) if possible</a:t>
            </a:r>
          </a:p>
          <a:p>
            <a:r>
              <a:t>Protein and complex carbs for steady energy</a:t>
            </a:r>
          </a:p>
          <a:p>
            <a:r>
              <a:t>Hydration — dehydration worsens fatigue</a:t>
            </a:r>
          </a:p>
          <a:p>
            <a:r>
              <a:t>Gentle movement, like walking, can actually increase energy</a:t>
            </a:r>
          </a:p>
        </p:txBody>
      </p:sp>
      <p:sp>
        <p:nvSpPr>
          <p:cNvPr id="479" name="Google Shape;479;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1" name="Google Shape;501;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Braxton Hicks offers (original) ---</a:t>
            </a:r>
          </a:p>
          <a:p>
            <a:r>
              <a:t>Hydration — dehydration is a common trigger</a:t>
            </a:r>
          </a:p>
          <a:p>
            <a:r>
              <a:t>Position change — often stops them immediately</a:t>
            </a:r>
          </a:p>
          <a:p>
            <a:r>
              <a:t>Rest if they are frequent</a:t>
            </a:r>
          </a:p>
          <a:p>
            <a:r>
              <a:t>Reassurance that this is the uterus practicing for labor, not early labor</a:t>
            </a:r>
          </a:p>
        </p:txBody>
      </p:sp>
      <p:sp>
        <p:nvSpPr>
          <p:cNvPr id="502" name="Google Shape;502;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4" name="Google Shape;52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5" name="Google Shape;52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9" name="Google Shape;55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Pregnancy Brain (original) ---</a:t>
            </a:r>
          </a:p>
          <a:p>
            <a:r>
              <a:t>A 2016 study in Nature Neuroscience found that pregnancy causes measurable remodeling of the brain — specifically in areas governing social cognition, empathy, and understanding others. These changes persist for at least two years postpartum and correlate with stronger maternal-infant bonding. Short-term memory and executive function take a hit. This is adaptive — not pathological.</a:t>
            </a:r>
          </a:p>
        </p:txBody>
      </p:sp>
      <p:sp>
        <p:nvSpPr>
          <p:cNvPr id="577" name="Google Shape;577;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3" name="Google Shape;593;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4" name="Google Shape;594;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2" name="Google Shape;612;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7" name="Google Shape;637;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8" name="Google Shape;638;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8" name="Google Shape;648;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9" name="Google Shape;649;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8" name="Google Shape;668;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Severe features begin at BP ≥160/110 — stroke risk rises dramatically at this threshold</a:t>
            </a:r>
          </a:p>
          <a:p>
            <a:r>
              <a:t>The ONLY cure is delivery — all other treatments buy time</a:t>
            </a:r>
          </a:p>
          <a:p>
            <a:r>
              <a:t>HELLP syndrome is a severe variant — affects 10–20% of severe preeclampsia cases</a:t>
            </a:r>
          </a:p>
          <a:p>
            <a:r>
              <a:t>Preeclampsia can develop AFTER birth — up to 6 weeks postpartum</a:t>
            </a:r>
          </a:p>
        </p:txBody>
      </p:sp>
      <p:sp>
        <p:nvSpPr>
          <p:cNvPr id="669" name="Google Shape;669;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8" name="Google Shape;688;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9" name="Google Shape;689;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Original detailed content ---</a:t>
            </a:r>
          </a:p>
          <a:p>
            <a:r>
              <a:t>The ONLY cure is delivery — all treatment buys time until delivery is safe</a:t>
            </a:r>
          </a:p>
          <a:p>
            <a:r>
              <a:t>Magnesium sulfate prevents seizures — causes intense heat, weakness, and foggy feeling</a:t>
            </a:r>
          </a:p>
          <a:p>
            <a:r>
              <a:t>Antihypertensive medications prevent stroke by lowering dangerously high BP</a:t>
            </a:r>
          </a:p>
          <a:p>
            <a:r>
              <a:t>Close monitoring: BP checks, blood work, non-stress tests, biophysical profiles</a:t>
            </a:r>
          </a:p>
          <a:p/>
          <a:p>
            <a:r>
              <a:t>--- Postpartum Risk (original) ---</a:t>
            </a:r>
          </a:p>
          <a:p>
            <a:r>
              <a:t>About 1 in 4 eclamptic seizures occur postpartum — most in the first 48 hours after birth</a:t>
            </a:r>
          </a:p>
          <a:p>
            <a:r>
              <a:t>But postpartum preeclampsia can occur up to 6 weeks after delivery</a:t>
            </a:r>
          </a:p>
          <a:p>
            <a:r>
              <a:t>Many cases occur in women who did NOT have preeclampsia during pregnancy</a:t>
            </a:r>
          </a:p>
          <a:p>
            <a:r>
              <a:t>This is why your postpartum check-in visits are not optional — you may catch something no one else does</a:t>
            </a:r>
          </a:p>
        </p:txBody>
      </p:sp>
      <p:sp>
        <p:nvSpPr>
          <p:cNvPr id="722" name="Google Shape;722;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0" name="Google Shape;740;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2" name="Google Shape;762;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9" name="Google Shape;789;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5" name="Google Shape;805;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5" name="Google Shape;835;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Takeaway original ---</a:t>
            </a:r>
          </a:p>
          <a:p>
            <a:r>
              <a:t>Pregnancy is a 40-week transformation. Understand it deeply enough to support it well.</a:t>
            </a:r>
          </a:p>
          <a:p/>
          <a:p>
            <a:r>
              <a:t>--- Takeaway original ---</a:t>
            </a:r>
          </a:p>
          <a:p>
            <a:r>
              <a:t>The prenatal period is where your client relationship is built. Trust before labor makes everything easier during it.</a:t>
            </a:r>
          </a:p>
          <a:p/>
          <a:p>
            <a:r>
              <a:t>--- Takeaway original ---</a:t>
            </a:r>
          </a:p>
          <a:p>
            <a:r>
              <a:t>Common discomforts are real and sometimes severe. Normalizing and offering evidence-based strategies is a clinical skill.</a:t>
            </a:r>
          </a:p>
          <a:p/>
          <a:p>
            <a:r>
              <a:t>--- Takeaway original ---</a:t>
            </a:r>
          </a:p>
          <a:p>
            <a:r>
              <a:t>Memorize the warning signs — severe headache, vision changes, upper abdominal pain, sudden severe swelling. Preeclampsia can also develop after birth.</a:t>
            </a:r>
          </a:p>
          <a:p/>
          <a:p>
            <a:r>
              <a:t>--- Takeaway original ---</a:t>
            </a:r>
          </a:p>
          <a:p>
            <a:r>
              <a:t>Racial health disparities in maternal care are real, documented, and rooted in systemic racism. Your advocacy is part of the solution.</a:t>
            </a:r>
          </a:p>
          <a:p/>
          <a:p>
            <a:r>
              <a:t>--- Takeaway original ---</a:t>
            </a:r>
          </a:p>
          <a:p>
            <a:r>
              <a:t>Your scope is observation, education, advocacy, and support — never diagnosis, never medical advice.</a:t>
            </a:r>
          </a:p>
        </p:txBody>
      </p:sp>
      <p:sp>
        <p:nvSpPr>
          <p:cNvPr id="850" name="Google Shape;850;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e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sp>
        <p:nvSpPr>
          <p:cNvPr id="16" name="Google Shape;16;p1"/>
          <p:cNvSpPr/>
          <p:nvPr/>
        </p:nvSpPr>
        <p:spPr>
          <a:xfrm>
            <a:off x="0" y="0"/>
            <a:ext cx="9144000" cy="51435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5943600" y="0"/>
            <a:ext cx="3200400" cy="51435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0" y="5088636"/>
            <a:ext cx="9144000" cy="54864"/>
          </a:xfrm>
          <a:prstGeom prst="rect">
            <a:avLst/>
          </a:prstGeom>
          <a:solidFill>
            <a:srgbClr val="D4BADD"/>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p:nvPr/>
        </p:nvSpPr>
        <p:spPr>
          <a:xfrm>
            <a:off x="475488" y="548640"/>
            <a:ext cx="5303520" cy="23774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1000"/>
              <a:buFont typeface=" Arial"/>
              <a:buNone/>
            </a:pPr>
            <a:r>
              <a:rPr lang="en-US" sz="1000" b="0" i="0" u="none" strike="noStrike" cap="none">
                <a:solidFill>
                  <a:srgbClr val="D4BADD"/>
                </a:solidFill>
                <a:latin typeface=" Arial"/>
                <a:ea typeface=" Arial"/>
                <a:cs typeface=" Arial"/>
                <a:sym typeface=" Arial"/>
              </a:rPr>
              <a:t>ONLINE NIGHT 1  ·  5:30 PM – 8:00 PM CST</a:t>
            </a:r>
            <a:endParaRPr sz="1000" b="0" i="0" u="none" strike="noStrike" cap="none">
              <a:solidFill>
                <a:schemeClr val="dk1"/>
              </a:solidFill>
              <a:latin typeface="Calibri"/>
              <a:ea typeface="Calibri"/>
              <a:cs typeface="Calibri"/>
              <a:sym typeface="Calibri"/>
            </a:endParaRPr>
          </a:p>
        </p:txBody>
      </p:sp>
      <p:sp>
        <p:nvSpPr>
          <p:cNvPr id="20" name="Google Shape;20;p1"/>
          <p:cNvSpPr/>
          <p:nvPr/>
        </p:nvSpPr>
        <p:spPr>
          <a:xfrm>
            <a:off x="457200" y="914400"/>
            <a:ext cx="5394960" cy="5669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3400"/>
              <a:buFont typeface="Georgia"/>
              <a:buNone/>
            </a:pPr>
            <a:r>
              <a:rPr lang="en-US" sz="3400" b="1" i="0" u="none" strike="noStrike" cap="none">
                <a:solidFill>
                  <a:srgbClr val="FFFFFF"/>
                </a:solidFill>
                <a:latin typeface="Georgia"/>
                <a:ea typeface="Georgia"/>
                <a:cs typeface="Georgia"/>
                <a:sym typeface="Georgia"/>
              </a:rPr>
              <a:t>Pregnancy Physiology</a:t>
            </a:r>
            <a:endParaRPr sz="3400" b="0" i="0" u="none" strike="noStrike" cap="none">
              <a:solidFill>
                <a:schemeClr val="dk1"/>
              </a:solidFill>
              <a:latin typeface="Calibri"/>
              <a:ea typeface="Calibri"/>
              <a:cs typeface="Calibri"/>
              <a:sym typeface="Calibri"/>
            </a:endParaRPr>
          </a:p>
        </p:txBody>
      </p:sp>
      <p:sp>
        <p:nvSpPr>
          <p:cNvPr id="21" name="Google Shape;21;p1"/>
          <p:cNvSpPr/>
          <p:nvPr/>
        </p:nvSpPr>
        <p:spPr>
          <a:xfrm>
            <a:off x="457200" y="1572768"/>
            <a:ext cx="5394960" cy="47548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2200"/>
              <a:buFont typeface="Georgia"/>
              <a:buNone/>
            </a:pPr>
            <a:r>
              <a:rPr lang="en-US" sz="2200" b="0" i="1" u="none" strike="noStrike" cap="none">
                <a:solidFill>
                  <a:srgbClr val="D4BADD"/>
                </a:solidFill>
                <a:latin typeface="Georgia"/>
                <a:ea typeface="Georgia"/>
                <a:cs typeface="Georgia"/>
                <a:sym typeface="Georgia"/>
              </a:rPr>
              <a:t>&amp; When Pregnancy Goes Wrong</a:t>
            </a:r>
            <a:endParaRPr sz="2200" b="0" i="0" u="none" strike="noStrike" cap="none">
              <a:solidFill>
                <a:schemeClr val="dk1"/>
              </a:solidFill>
              <a:latin typeface="Calibri"/>
              <a:ea typeface="Calibri"/>
              <a:cs typeface="Calibri"/>
              <a:sym typeface="Calibri"/>
            </a:endParaRPr>
          </a:p>
        </p:txBody>
      </p:sp>
      <p:sp>
        <p:nvSpPr>
          <p:cNvPr id="22" name="Google Shape;22;p1"/>
          <p:cNvSpPr/>
          <p:nvPr/>
        </p:nvSpPr>
        <p:spPr>
          <a:xfrm>
            <a:off x="6080760" y="2011680"/>
            <a:ext cx="2834640" cy="914400"/>
          </a:xfrm>
          <a:prstGeom prst="rect">
            <a:avLst/>
          </a:prstGeom>
          <a:noFill/>
          <a:ln>
            <a:noFill/>
          </a:ln>
        </p:spPr>
        <p:txBody>
          <a:bodyPr spcFirstLastPara="1" wrap="square" lIns="0" tIns="0" rIns="0" bIns="0" anchor="t" anchorCtr="0">
            <a:noAutofit/>
          </a:bodyPr>
          <a:lstStyle/>
          <a:p>
            <a:pPr marL="0" marR="0" lvl="0" indent="0" algn="ctr" rtl="0">
              <a:lnSpc>
                <a:spcPct val="150000"/>
              </a:lnSpc>
              <a:spcBef>
                <a:spcPts val="0"/>
              </a:spcBef>
              <a:spcAft>
                <a:spcPts val="0"/>
              </a:spcAft>
              <a:buClr>
                <a:srgbClr val="D4BADD"/>
              </a:buClr>
              <a:buSzPts val="1050"/>
              <a:buFont typeface=" Arial"/>
              <a:buNone/>
            </a:pPr>
            <a:r>
              <a:rPr lang="en-US" sz="1050" b="0" i="0" u="none" strike="noStrike" cap="none">
                <a:solidFill>
                  <a:srgbClr val="D4BADD"/>
                </a:solidFill>
                <a:latin typeface=" Arial"/>
                <a:ea typeface=" Arial"/>
                <a:cs typeface=" Arial"/>
                <a:sym typeface=" Arial"/>
              </a:rPr>
              <a:t>Mary's Hands Network</a:t>
            </a:r>
            <a:endParaRPr sz="1050" b="0" i="0" u="none" strike="noStrike" cap="none">
              <a:solidFill>
                <a:schemeClr val="dk1"/>
              </a:solidFill>
              <a:latin typeface="Calibri"/>
              <a:ea typeface="Calibri"/>
              <a:cs typeface="Calibri"/>
              <a:sym typeface="Calibri"/>
            </a:endParaRPr>
          </a:p>
          <a:p>
            <a:pPr marL="0" marR="0" lvl="0" indent="0" algn="ctr" rtl="0">
              <a:lnSpc>
                <a:spcPct val="150000"/>
              </a:lnSpc>
              <a:spcBef>
                <a:spcPts val="0"/>
              </a:spcBef>
              <a:spcAft>
                <a:spcPts val="0"/>
              </a:spcAft>
              <a:buClr>
                <a:srgbClr val="D4BADD"/>
              </a:buClr>
              <a:buSzPts val="1050"/>
              <a:buFont typeface=" Arial"/>
              <a:buNone/>
            </a:pPr>
            <a:r>
              <a:rPr lang="en-US" sz="1050" b="0" i="0" u="none" strike="noStrike" cap="none">
                <a:solidFill>
                  <a:srgbClr val="D4BADD"/>
                </a:solidFill>
                <a:latin typeface=" Arial"/>
                <a:ea typeface=" Arial"/>
                <a:cs typeface=" Arial"/>
                <a:sym typeface=" Arial"/>
              </a:rPr>
              <a:t>ICEA Certified Birth Doula</a:t>
            </a:r>
            <a:endParaRPr sz="1050" b="0" i="0" u="none" strike="noStrike" cap="none">
              <a:solidFill>
                <a:schemeClr val="dk1"/>
              </a:solidFill>
              <a:latin typeface="Calibri"/>
              <a:ea typeface="Calibri"/>
              <a:cs typeface="Calibri"/>
              <a:sym typeface="Calibri"/>
            </a:endParaRPr>
          </a:p>
          <a:p>
            <a:pPr marL="0" marR="0" lvl="0" indent="0" algn="ctr" rtl="0">
              <a:lnSpc>
                <a:spcPct val="150000"/>
              </a:lnSpc>
              <a:spcBef>
                <a:spcPts val="0"/>
              </a:spcBef>
              <a:spcAft>
                <a:spcPts val="0"/>
              </a:spcAft>
              <a:buClr>
                <a:srgbClr val="D4BADD"/>
              </a:buClr>
              <a:buSzPts val="1050"/>
              <a:buFont typeface=" Arial"/>
              <a:buNone/>
            </a:pPr>
            <a:r>
              <a:rPr lang="en-US" sz="1050" b="0" i="0" u="none" strike="noStrike" cap="none">
                <a:solidFill>
                  <a:srgbClr val="D4BADD"/>
                </a:solidFill>
                <a:latin typeface=" Arial"/>
                <a:ea typeface=" Arial"/>
                <a:cs typeface=" Arial"/>
                <a:sym typeface=" Arial"/>
              </a:rPr>
              <a:t>Hybrid Training</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FA"/>
        </a:solidFill>
        <a:effectLst/>
      </p:bgPr>
    </p:bg>
    <p:spTree>
      <p:nvGrpSpPr>
        <p:cNvPr id="1" name="Shape 27"/>
        <p:cNvGrpSpPr/>
        <p:nvPr/>
      </p:nvGrpSpPr>
      <p:grpSpPr>
        <a:xfrm>
          <a:off x="0" y="0"/>
          <a:ext cx="0" cy="0"/>
          <a:chOff x="0" y="0"/>
          <a:chExt cx="0" cy="0"/>
        </a:xfrm>
      </p:grpSpPr>
      <p:sp>
        <p:nvSpPr>
          <p:cNvPr id="28" name="Google Shape;28;p2"/>
          <p:cNvSpPr/>
          <p:nvPr/>
        </p:nvSpPr>
        <p:spPr>
          <a:xfrm>
            <a:off x="0" y="0"/>
            <a:ext cx="73152" cy="51435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TONIGHT'S FOCUS</a:t>
            </a:r>
            <a:endParaRPr sz="900" b="0" i="0" u="none" strike="noStrike" cap="none">
              <a:solidFill>
                <a:schemeClr val="dk1"/>
              </a:solidFill>
              <a:latin typeface="Calibri"/>
              <a:ea typeface="Calibri"/>
              <a:cs typeface="Calibri"/>
              <a:sym typeface="Calibri"/>
            </a:endParaRPr>
          </a:p>
        </p:txBody>
      </p:sp>
      <p:sp>
        <p:nvSpPr>
          <p:cNvPr id="30" name="Google Shape;30;p2"/>
          <p:cNvSpPr/>
          <p:nvPr/>
        </p:nvSpPr>
        <p:spPr>
          <a:xfrm>
            <a:off x="411480" y="365760"/>
            <a:ext cx="8321040" cy="6583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Learning Objectives</a:t>
            </a:r>
            <a:endParaRPr sz="2000" b="0" i="0" u="none" strike="noStrike" cap="none">
              <a:solidFill>
                <a:schemeClr val="dk1"/>
              </a:solidFill>
              <a:latin typeface="Calibri"/>
              <a:ea typeface="Calibri"/>
              <a:cs typeface="Calibri"/>
              <a:sym typeface="Calibri"/>
            </a:endParaRPr>
          </a:p>
        </p:txBody>
      </p:sp>
      <p:sp>
        <p:nvSpPr>
          <p:cNvPr id="31" name="Google Shape;31;p2"/>
          <p:cNvSpPr/>
          <p:nvPr/>
        </p:nvSpPr>
        <p:spPr>
          <a:xfrm>
            <a:off x="502920" y="1097280"/>
            <a:ext cx="8229600" cy="3767328"/>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Pregnancy by trimester — physical &amp; emotional</a:t>
            </a:r>
            <a:endParaRPr sz="14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Common discomforts — evidence-based comfort</a:t>
            </a:r>
            <a:endParaRPr sz="14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Prenatal testing + doula's prenatal role</a:t>
            </a:r>
            <a:endParaRPr sz="14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Recognize preeclampsia &amp; complications</a:t>
            </a:r>
            <a:endParaRPr sz="14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Advocacy + Louisiana health disparities</a:t>
            </a:r>
            <a:endParaRPr sz="1400" b="0" i="0" u="none" strike="noStrike" cap="none">
              <a:solidFill>
                <a:schemeClr val="dk1"/>
              </a:solidFill>
              <a:latin typeface="Calibri"/>
              <a:ea typeface="Calibri"/>
              <a:cs typeface="Calibri"/>
              <a:sym typeface="Calibri"/>
            </a:endParaRPr>
          </a:p>
        </p:txBody>
      </p:sp>
      <p:sp>
        <p:nvSpPr>
          <p:cNvPr id="32" name="Google Shape;32;p2"/>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4"/>
          <p:cNvSpPr/>
          <p:nvPr/>
        </p:nvSpPr>
        <p:spPr>
          <a:xfrm>
            <a:off x="0" y="0"/>
            <a:ext cx="9144000" cy="51435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0" y="5088636"/>
            <a:ext cx="9144000" cy="54864"/>
          </a:xfrm>
          <a:prstGeom prst="rect">
            <a:avLst/>
          </a:prstGeom>
          <a:solidFill>
            <a:srgbClr val="D4BADD"/>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6035040" y="0"/>
            <a:ext cx="3108960" cy="51435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475488" y="594360"/>
            <a:ext cx="5394960" cy="23774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1000"/>
              <a:buFont typeface=" Arial"/>
              <a:buNone/>
            </a:pPr>
            <a:endParaRPr sz="1000" b="0" i="0" u="none" strike="noStrike" cap="none">
              <a:solidFill>
                <a:schemeClr val="dk1"/>
              </a:solidFill>
              <a:latin typeface="Calibri"/>
              <a:ea typeface="Calibri"/>
              <a:cs typeface="Calibri"/>
              <a:sym typeface="Calibri"/>
            </a:endParaRPr>
          </a:p>
        </p:txBody>
      </p:sp>
      <p:sp>
        <p:nvSpPr>
          <p:cNvPr id="44" name="Google Shape;44;p4"/>
          <p:cNvSpPr/>
          <p:nvPr/>
        </p:nvSpPr>
        <p:spPr>
          <a:xfrm>
            <a:off x="457200" y="960120"/>
            <a:ext cx="5486400" cy="77724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FFFFFF"/>
              </a:buClr>
              <a:buSzPts val="4400"/>
              <a:buFont typeface="Georgia"/>
              <a:buNone/>
            </a:pPr>
            <a:r>
              <a:rPr lang="en-US" sz="4400" b="1" i="0" u="none" strike="noStrike" cap="none">
                <a:solidFill>
                  <a:srgbClr val="FFFFFF"/>
                </a:solidFill>
                <a:latin typeface="Georgia"/>
                <a:ea typeface="Georgia"/>
                <a:cs typeface="Georgia"/>
                <a:sym typeface="Georgia"/>
              </a:rPr>
              <a:t>Normal Pregnancy:</a:t>
            </a:r>
            <a:endParaRPr sz="4400" b="0" i="0" u="none" strike="noStrike" cap="none">
              <a:solidFill>
                <a:schemeClr val="dk1"/>
              </a:solidFill>
              <a:latin typeface="Calibri"/>
              <a:ea typeface="Calibri"/>
              <a:cs typeface="Calibri"/>
              <a:sym typeface="Calibri"/>
            </a:endParaRPr>
          </a:p>
        </p:txBody>
      </p:sp>
      <p:sp>
        <p:nvSpPr>
          <p:cNvPr id="45" name="Google Shape;45;p4"/>
          <p:cNvSpPr/>
          <p:nvPr/>
        </p:nvSpPr>
        <p:spPr>
          <a:xfrm>
            <a:off x="429775" y="2538180"/>
            <a:ext cx="5486400" cy="6402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D4BADD"/>
              </a:buClr>
              <a:buSzPts val="2800"/>
              <a:buFont typeface="Georgia"/>
              <a:buNone/>
            </a:pPr>
            <a:r>
              <a:rPr lang="en-US" sz="2800" b="0" i="1" u="none" strike="noStrike" cap="none">
                <a:solidFill>
                  <a:srgbClr val="D4BADD"/>
                </a:solidFill>
                <a:latin typeface="Georgia"/>
                <a:ea typeface="Georgia"/>
                <a:cs typeface="Georgia"/>
                <a:sym typeface="Georgia"/>
              </a:rPr>
              <a:t>Physiology &amp; the Doula's Role</a:t>
            </a:r>
            <a:endParaRPr sz="2800" b="0" i="0" u="none" strike="noStrike" cap="none">
              <a:solidFill>
                <a:schemeClr val="dk1"/>
              </a:solidFill>
              <a:latin typeface="Calibri"/>
              <a:ea typeface="Calibri"/>
              <a:cs typeface="Calibri"/>
              <a:sym typeface="Calibri"/>
            </a:endParaRPr>
          </a:p>
        </p:txBody>
      </p:sp>
      <p:sp>
        <p:nvSpPr>
          <p:cNvPr id="46" name="Google Shape;46;p4"/>
          <p:cNvSpPr/>
          <p:nvPr/>
        </p:nvSpPr>
        <p:spPr>
          <a:xfrm>
            <a:off x="475525" y="3459177"/>
            <a:ext cx="5394900" cy="8529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D4BADD"/>
              </a:buClr>
              <a:buSzPts val="1300"/>
              <a:buFont typeface=" Arial"/>
              <a:buNone/>
            </a:pPr>
            <a:endParaRPr sz="13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
        <p:cNvGrpSpPr/>
        <p:nvPr/>
      </p:nvGrpSpPr>
      <p:grpSpPr>
        <a:xfrm>
          <a:off x="0" y="0"/>
          <a:ext cx="0" cy="0"/>
          <a:chOff x="0" y="0"/>
          <a:chExt cx="0" cy="0"/>
        </a:xfrm>
      </p:grpSpPr>
      <p:sp>
        <p:nvSpPr>
          <p:cNvPr id="52" name="Google Shape;52;p5"/>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HOW PREGNANCY BEGINS  ·  STEP 1</a:t>
            </a:r>
            <a:endParaRPr sz="900" b="0" i="0" u="none" strike="noStrike" cap="none">
              <a:solidFill>
                <a:schemeClr val="dk1"/>
              </a:solidFill>
              <a:latin typeface="Calibri"/>
              <a:ea typeface="Calibri"/>
              <a:cs typeface="Calibri"/>
              <a:sym typeface="Calibri"/>
            </a:endParaRPr>
          </a:p>
        </p:txBody>
      </p:sp>
      <p:sp>
        <p:nvSpPr>
          <p:cNvPr id="53" name="Google Shape;53;p5"/>
          <p:cNvSpPr/>
          <p:nvPr/>
        </p:nvSpPr>
        <p:spPr>
          <a:xfrm>
            <a:off x="411480" y="518685"/>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Fertilization</a:t>
            </a:r>
            <a:endParaRPr sz="2000" b="0" i="0" u="none" strike="noStrike" cap="none">
              <a:solidFill>
                <a:schemeClr val="dk1"/>
              </a:solidFill>
              <a:latin typeface="Calibri"/>
              <a:ea typeface="Calibri"/>
              <a:cs typeface="Calibri"/>
              <a:sym typeface="Calibri"/>
            </a:endParaRPr>
          </a:p>
        </p:txBody>
      </p:sp>
      <p:sp>
        <p:nvSpPr>
          <p:cNvPr id="56" name="Google Shape;56;p5"/>
          <p:cNvSpPr/>
          <p:nvPr/>
        </p:nvSpPr>
        <p:spPr>
          <a:xfrm>
            <a:off x="566928" y="1639222"/>
            <a:ext cx="4261104" cy="288036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Sperm meets egg in fallopian tube</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Zygote begins dividing immediately</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Genetic blueprint fixed at conception</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Pregnancy is dated from last period</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Many are 2 weeks "pregnant" already</a:t>
            </a:r>
            <a:endParaRPr sz="1500" b="0" i="0" u="none" strike="noStrike" cap="none">
              <a:solidFill>
                <a:schemeClr val="dk1"/>
              </a:solidFill>
              <a:latin typeface="Calibri"/>
              <a:ea typeface="Calibri"/>
              <a:cs typeface="Calibri"/>
              <a:sym typeface="Calibri"/>
            </a:endParaRPr>
          </a:p>
        </p:txBody>
      </p:sp>
      <p:sp>
        <p:nvSpPr>
          <p:cNvPr id="57" name="Google Shape;57;p5"/>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pic>
        <p:nvPicPr>
          <p:cNvPr id="60" name="Picture 59" descr="fertilization.png"/>
          <p:cNvPicPr>
            <a:picLocks noChangeAspect="1"/>
          </p:cNvPicPr>
          <p:nvPr/>
        </p:nvPicPr>
        <p:blipFill>
          <a:blip r:embed="rId3"/>
          <a:stretch>
            <a:fillRect/>
          </a:stretch>
        </p:blipFill>
        <p:spPr>
          <a:xfrm>
            <a:off x="5303520" y="1874519"/>
            <a:ext cx="3657600" cy="21346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
        <p:cNvGrpSpPr/>
        <p:nvPr/>
      </p:nvGrpSpPr>
      <p:grpSpPr>
        <a:xfrm>
          <a:off x="0" y="0"/>
          <a:ext cx="0" cy="0"/>
          <a:chOff x="0" y="0"/>
          <a:chExt cx="0" cy="0"/>
        </a:xfrm>
      </p:grpSpPr>
      <p:sp>
        <p:nvSpPr>
          <p:cNvPr id="65" name="Google Shape;65;p6"/>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HOW PREGNANCY BEGINS  ·  STEP 2</a:t>
            </a:r>
            <a:endParaRPr sz="900" b="0" i="0" u="none" strike="noStrike" cap="none">
              <a:solidFill>
                <a:schemeClr val="dk1"/>
              </a:solidFill>
              <a:latin typeface="Calibri"/>
              <a:ea typeface="Calibri"/>
              <a:cs typeface="Calibri"/>
              <a:sym typeface="Calibri"/>
            </a:endParaRPr>
          </a:p>
        </p:txBody>
      </p:sp>
      <p:sp>
        <p:nvSpPr>
          <p:cNvPr id="66" name="Google Shape;66;p6"/>
          <p:cNvSpPr/>
          <p:nvPr/>
        </p:nvSpPr>
        <p:spPr>
          <a:xfrm>
            <a:off x="411480" y="53036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Implantation</a:t>
            </a:r>
            <a:endParaRPr sz="2000" b="0" i="0" u="none" strike="noStrike" cap="none">
              <a:solidFill>
                <a:schemeClr val="dk1"/>
              </a:solidFill>
              <a:latin typeface="Calibri"/>
              <a:ea typeface="Calibri"/>
              <a:cs typeface="Calibri"/>
              <a:sym typeface="Calibri"/>
            </a:endParaRPr>
          </a:p>
        </p:txBody>
      </p:sp>
      <p:sp>
        <p:nvSpPr>
          <p:cNvPr id="69" name="Google Shape;69;p6"/>
          <p:cNvSpPr/>
          <p:nvPr/>
        </p:nvSpPr>
        <p:spPr>
          <a:xfrm>
            <a:off x="566928" y="1417320"/>
            <a:ext cx="4261104" cy="324612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6–10 days after fertilization</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Blastocyst burrows into uterine lining</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Triggers hCG — pregnancy test positive</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Some notice light spotting</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1500" b="0" i="0" u="none" strike="noStrike" cap="none">
                <a:solidFill>
                  <a:srgbClr val="2D2D2D"/>
                </a:solidFill>
                <a:latin typeface=" Arial"/>
                <a:ea typeface=" Arial"/>
                <a:cs typeface=" Arial"/>
                <a:sym typeface=" Arial"/>
              </a:rPr>
              <a:t>If it fails, period follows</a:t>
            </a:r>
            <a:endParaRPr sz="1500" b="0" i="0" u="none" strike="noStrike" cap="none">
              <a:solidFill>
                <a:schemeClr val="dk1"/>
              </a:solidFill>
              <a:latin typeface="Calibri"/>
              <a:ea typeface="Calibri"/>
              <a:cs typeface="Calibri"/>
              <a:sym typeface="Calibri"/>
            </a:endParaRPr>
          </a:p>
        </p:txBody>
      </p:sp>
      <p:sp>
        <p:nvSpPr>
          <p:cNvPr id="70" name="Google Shape;70;p6"/>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pic>
        <p:nvPicPr>
          <p:cNvPr id="73" name="Picture 72" descr="implantation.png"/>
          <p:cNvPicPr>
            <a:picLocks noChangeAspect="1"/>
          </p:cNvPicPr>
          <p:nvPr/>
        </p:nvPicPr>
        <p:blipFill>
          <a:blip r:embed="rId3"/>
          <a:stretch>
            <a:fillRect/>
          </a:stretch>
        </p:blipFill>
        <p:spPr>
          <a:xfrm>
            <a:off x="5303520" y="1783080"/>
            <a:ext cx="3657600" cy="21346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7"/>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HOW PREGNANCY BEGINS  ·  THE LIFE SUPPORT SYSTEM</a:t>
            </a:r>
            <a:endParaRPr sz="900" b="0" i="0" u="none" strike="noStrike" cap="none">
              <a:solidFill>
                <a:schemeClr val="dk1"/>
              </a:solidFill>
              <a:latin typeface="Calibri"/>
              <a:ea typeface="Calibri"/>
              <a:cs typeface="Calibri"/>
              <a:sym typeface="Calibri"/>
            </a:endParaRPr>
          </a:p>
        </p:txBody>
      </p:sp>
      <p:sp>
        <p:nvSpPr>
          <p:cNvPr id="79" name="Google Shape;79;p7"/>
          <p:cNvSpPr/>
          <p:nvPr/>
        </p:nvSpPr>
        <p:spPr>
          <a:xfrm>
            <a:off x="411480" y="417435"/>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The Placenta</a:t>
            </a:r>
            <a:endParaRPr sz="2000" b="0" i="0" u="none" strike="noStrike" cap="none">
              <a:solidFill>
                <a:schemeClr val="dk1"/>
              </a:solidFill>
              <a:latin typeface="Calibri"/>
              <a:ea typeface="Calibri"/>
              <a:cs typeface="Calibri"/>
              <a:sym typeface="Calibri"/>
            </a:endParaRPr>
          </a:p>
        </p:txBody>
      </p:sp>
      <p:sp>
        <p:nvSpPr>
          <p:cNvPr id="80" name="Google Shape;80;p7"/>
          <p:cNvSpPr/>
          <p:nvPr/>
        </p:nvSpPr>
        <p:spPr>
          <a:xfrm>
            <a:off x="411480" y="820718"/>
            <a:ext cx="8321100" cy="402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600"/>
              <a:buFont typeface="Georgia"/>
              <a:buNone/>
            </a:pPr>
            <a:r>
              <a:rPr lang="en-US" sz="1600" b="0" i="1" u="none" strike="noStrike" cap="none">
                <a:solidFill>
                  <a:srgbClr val="845995"/>
                </a:solidFill>
                <a:latin typeface="Georgia"/>
                <a:ea typeface="Georgia"/>
                <a:cs typeface="Georgia"/>
                <a:sym typeface="Georgia"/>
              </a:rPr>
              <a:t>The only organ the human body grows — and then discards.</a:t>
            </a:r>
            <a:endParaRPr sz="1600" b="0" i="0" u="none" strike="noStrike" cap="none">
              <a:solidFill>
                <a:schemeClr val="dk1"/>
              </a:solidFill>
              <a:latin typeface="Calibri"/>
              <a:ea typeface="Calibri"/>
              <a:cs typeface="Calibri"/>
              <a:sym typeface="Calibri"/>
            </a:endParaRPr>
          </a:p>
        </p:txBody>
      </p:sp>
      <p:sp>
        <p:nvSpPr>
          <p:cNvPr id="81" name="Google Shape;81;p7"/>
          <p:cNvSpPr/>
          <p:nvPr/>
        </p:nvSpPr>
        <p:spPr>
          <a:xfrm>
            <a:off x="370327" y="1358693"/>
            <a:ext cx="2011800" cy="32460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7"/>
          <p:cNvSpPr/>
          <p:nvPr/>
        </p:nvSpPr>
        <p:spPr>
          <a:xfrm>
            <a:off x="370328" y="1358693"/>
            <a:ext cx="73200" cy="32460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7"/>
          <p:cNvSpPr/>
          <p:nvPr/>
        </p:nvSpPr>
        <p:spPr>
          <a:xfrm>
            <a:off x="534920" y="1450133"/>
            <a:ext cx="1737300" cy="502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5E376C"/>
              </a:buClr>
              <a:buSzPts val="1250"/>
              <a:buFont typeface="Georgia"/>
              <a:buNone/>
            </a:pPr>
            <a:r>
              <a:rPr lang="en-US" sz="1250" b="1" i="0" u="none" strike="noStrike" cap="none">
                <a:solidFill>
                  <a:srgbClr val="5E376C"/>
                </a:solidFill>
                <a:latin typeface="Georgia"/>
                <a:ea typeface="Georgia"/>
                <a:cs typeface="Georgia"/>
                <a:sym typeface="Georgia"/>
              </a:rPr>
              <a:t>Delivers Oxygen &amp; Nutrients</a:t>
            </a:r>
            <a:endParaRPr sz="1250" b="0" i="0" u="none" strike="noStrike" cap="none">
              <a:solidFill>
                <a:schemeClr val="dk1"/>
              </a:solidFill>
              <a:latin typeface="Calibri"/>
              <a:ea typeface="Calibri"/>
              <a:cs typeface="Calibri"/>
              <a:sym typeface="Calibri"/>
            </a:endParaRPr>
          </a:p>
        </p:txBody>
      </p:sp>
      <p:sp>
        <p:nvSpPr>
          <p:cNvPr id="84" name="Google Shape;84;p7"/>
          <p:cNvSpPr/>
          <p:nvPr/>
        </p:nvSpPr>
        <p:spPr>
          <a:xfrm>
            <a:off x="534920" y="1998773"/>
            <a:ext cx="1737300" cy="25236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Maternal and fetal blood never directly mix. The placenta acts as a selective barrier — passing oxygen, glucose, and vitamins through to the fetus while blocking most pathogens and toxins.</a:t>
            </a:r>
            <a:endParaRPr sz="1200" b="0" i="0" u="none" strike="noStrike" cap="none">
              <a:solidFill>
                <a:schemeClr val="dk1"/>
              </a:solidFill>
              <a:latin typeface="Calibri"/>
              <a:ea typeface="Calibri"/>
              <a:cs typeface="Calibri"/>
              <a:sym typeface="Calibri"/>
            </a:endParaRPr>
          </a:p>
        </p:txBody>
      </p:sp>
      <p:sp>
        <p:nvSpPr>
          <p:cNvPr id="85" name="Google Shape;85;p7"/>
          <p:cNvSpPr/>
          <p:nvPr/>
        </p:nvSpPr>
        <p:spPr>
          <a:xfrm>
            <a:off x="2500880" y="1358693"/>
            <a:ext cx="2011800" cy="32460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
          <p:cNvSpPr/>
          <p:nvPr/>
        </p:nvSpPr>
        <p:spPr>
          <a:xfrm>
            <a:off x="2500880" y="1358693"/>
            <a:ext cx="73200" cy="32460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7"/>
          <p:cNvSpPr/>
          <p:nvPr/>
        </p:nvSpPr>
        <p:spPr>
          <a:xfrm>
            <a:off x="2665471" y="1450133"/>
            <a:ext cx="1737300" cy="502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845995"/>
              </a:buClr>
              <a:buSzPts val="1250"/>
              <a:buFont typeface="Georgia"/>
              <a:buNone/>
            </a:pPr>
            <a:r>
              <a:rPr lang="en-US" sz="1250" b="1" i="0" u="none" strike="noStrike" cap="none">
                <a:solidFill>
                  <a:srgbClr val="845995"/>
                </a:solidFill>
                <a:latin typeface="Georgia"/>
                <a:ea typeface="Georgia"/>
                <a:cs typeface="Georgia"/>
                <a:sym typeface="Georgia"/>
              </a:rPr>
              <a:t>Removes Fetal Waste</a:t>
            </a:r>
            <a:endParaRPr sz="1250" b="0" i="0" u="none" strike="noStrike" cap="none">
              <a:solidFill>
                <a:schemeClr val="dk1"/>
              </a:solidFill>
              <a:latin typeface="Calibri"/>
              <a:ea typeface="Calibri"/>
              <a:cs typeface="Calibri"/>
              <a:sym typeface="Calibri"/>
            </a:endParaRPr>
          </a:p>
        </p:txBody>
      </p:sp>
      <p:sp>
        <p:nvSpPr>
          <p:cNvPr id="88" name="Google Shape;88;p7"/>
          <p:cNvSpPr/>
          <p:nvPr/>
        </p:nvSpPr>
        <p:spPr>
          <a:xfrm>
            <a:off x="2665471" y="1998773"/>
            <a:ext cx="1737300" cy="25236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Carbon dioxide and metabolic waste products from the fetus cross back through the placenta into the mother's circulation for disposal.</a:t>
            </a:r>
            <a:endParaRPr sz="1200" b="0" i="0" u="none" strike="noStrike" cap="none">
              <a:solidFill>
                <a:schemeClr val="dk1"/>
              </a:solidFill>
              <a:latin typeface="Calibri"/>
              <a:ea typeface="Calibri"/>
              <a:cs typeface="Calibri"/>
              <a:sym typeface="Calibri"/>
            </a:endParaRPr>
          </a:p>
        </p:txBody>
      </p:sp>
      <p:sp>
        <p:nvSpPr>
          <p:cNvPr id="89" name="Google Shape;89;p7"/>
          <p:cNvSpPr/>
          <p:nvPr/>
        </p:nvSpPr>
        <p:spPr>
          <a:xfrm>
            <a:off x="4631432" y="1358693"/>
            <a:ext cx="2011800" cy="32460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7"/>
          <p:cNvSpPr/>
          <p:nvPr/>
        </p:nvSpPr>
        <p:spPr>
          <a:xfrm>
            <a:off x="4631432" y="1358693"/>
            <a:ext cx="73200" cy="32460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a:off x="4796024" y="1450133"/>
            <a:ext cx="1737300" cy="502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5E376C"/>
              </a:buClr>
              <a:buSzPts val="1250"/>
              <a:buFont typeface="Georgia"/>
              <a:buNone/>
            </a:pPr>
            <a:r>
              <a:rPr lang="en-US" sz="1250" b="1" i="0" u="none" strike="noStrike" cap="none">
                <a:solidFill>
                  <a:srgbClr val="5E376C"/>
                </a:solidFill>
                <a:latin typeface="Georgia"/>
                <a:ea typeface="Georgia"/>
                <a:cs typeface="Georgia"/>
                <a:sym typeface="Georgia"/>
              </a:rPr>
              <a:t>Produces Key Hormones</a:t>
            </a:r>
            <a:endParaRPr sz="1250" b="0" i="0" u="none" strike="noStrike" cap="none">
              <a:solidFill>
                <a:schemeClr val="dk1"/>
              </a:solidFill>
              <a:latin typeface="Calibri"/>
              <a:ea typeface="Calibri"/>
              <a:cs typeface="Calibri"/>
              <a:sym typeface="Calibri"/>
            </a:endParaRPr>
          </a:p>
        </p:txBody>
      </p:sp>
      <p:sp>
        <p:nvSpPr>
          <p:cNvPr id="92" name="Google Shape;92;p7"/>
          <p:cNvSpPr/>
          <p:nvPr/>
        </p:nvSpPr>
        <p:spPr>
          <a:xfrm>
            <a:off x="4796024" y="1998773"/>
            <a:ext cx="1737300" cy="25236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Takes over hormone production around week 10 — producing hCG, progesterone, and estrogen to sustain the pregnancy and drive physical changes.</a:t>
            </a:r>
            <a:endParaRPr sz="1200" b="0" i="0" u="none" strike="noStrike" cap="none">
              <a:solidFill>
                <a:schemeClr val="dk1"/>
              </a:solidFill>
              <a:latin typeface="Calibri"/>
              <a:ea typeface="Calibri"/>
              <a:cs typeface="Calibri"/>
              <a:sym typeface="Calibri"/>
            </a:endParaRPr>
          </a:p>
        </p:txBody>
      </p:sp>
      <p:sp>
        <p:nvSpPr>
          <p:cNvPr id="93" name="Google Shape;93;p7"/>
          <p:cNvSpPr/>
          <p:nvPr/>
        </p:nvSpPr>
        <p:spPr>
          <a:xfrm>
            <a:off x="6761984" y="1358693"/>
            <a:ext cx="2011800" cy="32460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
          <p:cNvSpPr/>
          <p:nvPr/>
        </p:nvSpPr>
        <p:spPr>
          <a:xfrm>
            <a:off x="6761984" y="1358693"/>
            <a:ext cx="73200" cy="32460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
          <p:cNvSpPr/>
          <p:nvPr/>
        </p:nvSpPr>
        <p:spPr>
          <a:xfrm>
            <a:off x="6926576" y="1450133"/>
            <a:ext cx="1737300" cy="502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845995"/>
              </a:buClr>
              <a:buSzPts val="1250"/>
              <a:buFont typeface="Georgia"/>
              <a:buNone/>
            </a:pPr>
            <a:r>
              <a:rPr lang="en-US" sz="1250" b="1" i="0" u="none" strike="noStrike" cap="none">
                <a:solidFill>
                  <a:srgbClr val="845995"/>
                </a:solidFill>
                <a:latin typeface="Georgia"/>
                <a:ea typeface="Georgia"/>
                <a:cs typeface="Georgia"/>
                <a:sym typeface="Georgia"/>
              </a:rPr>
              <a:t>Development &amp; Delivery</a:t>
            </a:r>
            <a:endParaRPr sz="1250" b="0" i="0" u="none" strike="noStrike" cap="none">
              <a:solidFill>
                <a:schemeClr val="dk1"/>
              </a:solidFill>
              <a:latin typeface="Calibri"/>
              <a:ea typeface="Calibri"/>
              <a:cs typeface="Calibri"/>
              <a:sym typeface="Calibri"/>
            </a:endParaRPr>
          </a:p>
        </p:txBody>
      </p:sp>
      <p:sp>
        <p:nvSpPr>
          <p:cNvPr id="96" name="Google Shape;96;p7"/>
          <p:cNvSpPr/>
          <p:nvPr/>
        </p:nvSpPr>
        <p:spPr>
          <a:xfrm>
            <a:off x="6926576" y="1998773"/>
            <a:ext cx="1737300" cy="25236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Fully functional by weeks 12–16. Continues growing until birth, ultimately weighing about 1–1.5 lbs. Delivered as the third stage of labor.</a:t>
            </a:r>
            <a:endParaRPr sz="1200" b="0" i="0" u="none" strike="noStrike" cap="none">
              <a:solidFill>
                <a:schemeClr val="dk1"/>
              </a:solidFill>
              <a:latin typeface="Calibri"/>
              <a:ea typeface="Calibri"/>
              <a:cs typeface="Calibri"/>
              <a:sym typeface="Calibri"/>
            </a:endParaRPr>
          </a:p>
        </p:txBody>
      </p:sp>
      <p:sp>
        <p:nvSpPr>
          <p:cNvPr id="97" name="Google Shape;97;p7"/>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7"/>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pic>
        <p:nvPicPr>
          <p:cNvPr id="100" name="Picture 99" descr="placenta.png"/>
          <p:cNvPicPr>
            <a:picLocks noChangeAspect="1"/>
          </p:cNvPicPr>
          <p:nvPr/>
        </p:nvPicPr>
        <p:blipFill>
          <a:blip r:embed="rId3"/>
          <a:stretch>
            <a:fillRect/>
          </a:stretch>
        </p:blipFill>
        <p:spPr>
          <a:xfrm>
            <a:off x="6949440" y="91440"/>
            <a:ext cx="2103120" cy="12234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
        <p:cNvGrpSpPr/>
        <p:nvPr/>
      </p:nvGrpSpPr>
      <p:grpSpPr>
        <a:xfrm>
          <a:off x="0" y="0"/>
          <a:ext cx="0" cy="0"/>
          <a:chOff x="0" y="0"/>
          <a:chExt cx="0" cy="0"/>
        </a:xfrm>
      </p:grpSpPr>
      <p:sp>
        <p:nvSpPr>
          <p:cNvPr id="105" name="Google Shape;105;p8"/>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THE HORMONES OF PREGNANCY  ·  OVERVIEW</a:t>
            </a:r>
            <a:endParaRPr sz="900" b="0" i="0" u="none" strike="noStrike" cap="none">
              <a:solidFill>
                <a:schemeClr val="dk1"/>
              </a:solidFill>
              <a:latin typeface="Calibri"/>
              <a:ea typeface="Calibri"/>
              <a:cs typeface="Calibri"/>
              <a:sym typeface="Calibri"/>
            </a:endParaRPr>
          </a:p>
        </p:txBody>
      </p:sp>
      <p:sp>
        <p:nvSpPr>
          <p:cNvPr id="106" name="Google Shape;106;p8"/>
          <p:cNvSpPr/>
          <p:nvPr/>
        </p:nvSpPr>
        <p:spPr>
          <a:xfrm>
            <a:off x="411480" y="365760"/>
            <a:ext cx="8321040" cy="6583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Six Hormones Drive Every Symptom Your Client Feels</a:t>
            </a:r>
            <a:endParaRPr sz="2000" b="0" i="0" u="none" strike="noStrike" cap="none">
              <a:solidFill>
                <a:schemeClr val="dk1"/>
              </a:solidFill>
              <a:latin typeface="Calibri"/>
              <a:ea typeface="Calibri"/>
              <a:cs typeface="Calibri"/>
              <a:sym typeface="Calibri"/>
            </a:endParaRPr>
          </a:p>
        </p:txBody>
      </p:sp>
      <p:sp>
        <p:nvSpPr>
          <p:cNvPr id="107" name="Google Shape;107;p8"/>
          <p:cNvSpPr/>
          <p:nvPr/>
        </p:nvSpPr>
        <p:spPr>
          <a:xfrm>
            <a:off x="420618" y="811517"/>
            <a:ext cx="83211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350"/>
              <a:buFont typeface=" Arial"/>
              <a:buNone/>
            </a:pPr>
            <a:r>
              <a:rPr lang="en-US" sz="1350" b="0" i="0" u="none" strike="noStrike" cap="none">
                <a:solidFill>
                  <a:srgbClr val="6B6B6B"/>
                </a:solidFill>
                <a:latin typeface=" Arial"/>
                <a:ea typeface=" Arial"/>
                <a:cs typeface=" Arial"/>
                <a:sym typeface=" Arial"/>
              </a:rPr>
              <a:t>Understanding these hormones lets you explain exactly why your client feels the way she does.</a:t>
            </a:r>
            <a:endParaRPr sz="1350" b="0" i="0" u="none" strike="noStrike" cap="none">
              <a:solidFill>
                <a:schemeClr val="dk1"/>
              </a:solidFill>
              <a:latin typeface="Calibri"/>
              <a:ea typeface="Calibri"/>
              <a:cs typeface="Calibri"/>
              <a:sym typeface="Calibri"/>
            </a:endParaRPr>
          </a:p>
        </p:txBody>
      </p:sp>
      <p:sp>
        <p:nvSpPr>
          <p:cNvPr id="108" name="Google Shape;108;p8"/>
          <p:cNvSpPr/>
          <p:nvPr/>
        </p:nvSpPr>
        <p:spPr>
          <a:xfrm>
            <a:off x="283458" y="1250429"/>
            <a:ext cx="2761500" cy="15363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8"/>
          <p:cNvSpPr/>
          <p:nvPr/>
        </p:nvSpPr>
        <p:spPr>
          <a:xfrm>
            <a:off x="283458" y="1250429"/>
            <a:ext cx="73200" cy="15363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8"/>
          <p:cNvSpPr/>
          <p:nvPr/>
        </p:nvSpPr>
        <p:spPr>
          <a:xfrm>
            <a:off x="466338" y="1360157"/>
            <a:ext cx="24690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800"/>
              <a:buFont typeface="Georgia"/>
              <a:buNone/>
            </a:pPr>
            <a:r>
              <a:rPr lang="en-US" sz="1800" b="1" i="0" u="none" strike="noStrike" cap="none">
                <a:solidFill>
                  <a:srgbClr val="5E376C"/>
                </a:solidFill>
                <a:latin typeface="Georgia"/>
                <a:ea typeface="Georgia"/>
                <a:cs typeface="Georgia"/>
                <a:sym typeface="Georgia"/>
              </a:rPr>
              <a:t>hCG</a:t>
            </a:r>
            <a:endParaRPr sz="1800" b="0" i="0" u="none" strike="noStrike" cap="none">
              <a:solidFill>
                <a:schemeClr val="dk1"/>
              </a:solidFill>
              <a:latin typeface="Calibri"/>
              <a:ea typeface="Calibri"/>
              <a:cs typeface="Calibri"/>
              <a:sym typeface="Calibri"/>
            </a:endParaRPr>
          </a:p>
        </p:txBody>
      </p:sp>
      <p:sp>
        <p:nvSpPr>
          <p:cNvPr id="111" name="Google Shape;111;p8"/>
          <p:cNvSpPr/>
          <p:nvPr/>
        </p:nvSpPr>
        <p:spPr>
          <a:xfrm>
            <a:off x="466338" y="1762493"/>
            <a:ext cx="2469000" cy="9144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Causes nausea, detected by pregnancy tests, peaks at week 10</a:t>
            </a:r>
            <a:endParaRPr sz="1200" b="0" i="0" u="none" strike="noStrike" cap="none">
              <a:solidFill>
                <a:schemeClr val="dk1"/>
              </a:solidFill>
              <a:latin typeface="Calibri"/>
              <a:ea typeface="Calibri"/>
              <a:cs typeface="Calibri"/>
              <a:sym typeface="Calibri"/>
            </a:endParaRPr>
          </a:p>
        </p:txBody>
      </p:sp>
      <p:sp>
        <p:nvSpPr>
          <p:cNvPr id="112" name="Google Shape;112;p8"/>
          <p:cNvSpPr/>
          <p:nvPr/>
        </p:nvSpPr>
        <p:spPr>
          <a:xfrm>
            <a:off x="3191249" y="1250429"/>
            <a:ext cx="2761500" cy="15363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8"/>
          <p:cNvSpPr/>
          <p:nvPr/>
        </p:nvSpPr>
        <p:spPr>
          <a:xfrm>
            <a:off x="3191250" y="1250429"/>
            <a:ext cx="73200" cy="15363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8"/>
          <p:cNvSpPr/>
          <p:nvPr/>
        </p:nvSpPr>
        <p:spPr>
          <a:xfrm>
            <a:off x="3374130" y="1360157"/>
            <a:ext cx="24690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800"/>
              <a:buFont typeface="Georgia"/>
              <a:buNone/>
            </a:pPr>
            <a:r>
              <a:rPr lang="en-US" sz="1800" b="1" i="0" u="none" strike="noStrike" cap="none">
                <a:solidFill>
                  <a:srgbClr val="845995"/>
                </a:solidFill>
                <a:latin typeface="Georgia"/>
                <a:ea typeface="Georgia"/>
                <a:cs typeface="Georgia"/>
                <a:sym typeface="Georgia"/>
              </a:rPr>
              <a:t>Progesterone</a:t>
            </a:r>
            <a:endParaRPr sz="1800" b="0" i="0" u="none" strike="noStrike" cap="none">
              <a:solidFill>
                <a:schemeClr val="dk1"/>
              </a:solidFill>
              <a:latin typeface="Calibri"/>
              <a:ea typeface="Calibri"/>
              <a:cs typeface="Calibri"/>
              <a:sym typeface="Calibri"/>
            </a:endParaRPr>
          </a:p>
        </p:txBody>
      </p:sp>
      <p:sp>
        <p:nvSpPr>
          <p:cNvPr id="115" name="Google Shape;115;p8"/>
          <p:cNvSpPr/>
          <p:nvPr/>
        </p:nvSpPr>
        <p:spPr>
          <a:xfrm>
            <a:off x="3374130" y="1762493"/>
            <a:ext cx="2469000" cy="9144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Maintains the uterine lining, causes heartburn, fatigue</a:t>
            </a:r>
            <a:endParaRPr sz="1200" b="0" i="0" u="none" strike="noStrike" cap="none">
              <a:solidFill>
                <a:schemeClr val="dk1"/>
              </a:solidFill>
              <a:latin typeface="Calibri"/>
              <a:ea typeface="Calibri"/>
              <a:cs typeface="Calibri"/>
              <a:sym typeface="Calibri"/>
            </a:endParaRPr>
          </a:p>
        </p:txBody>
      </p:sp>
      <p:sp>
        <p:nvSpPr>
          <p:cNvPr id="116" name="Google Shape;116;p8"/>
          <p:cNvSpPr/>
          <p:nvPr/>
        </p:nvSpPr>
        <p:spPr>
          <a:xfrm>
            <a:off x="6099042" y="1250429"/>
            <a:ext cx="2761500" cy="15363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a:off x="6099042" y="1250429"/>
            <a:ext cx="73200" cy="1536300"/>
          </a:xfrm>
          <a:prstGeom prst="rect">
            <a:avLst/>
          </a:prstGeom>
          <a:solidFill>
            <a:srgbClr val="B8A0C0"/>
          </a:solidFill>
          <a:ln w="12700" cap="flat" cmpd="sng">
            <a:solidFill>
              <a:srgbClr val="B8A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8"/>
          <p:cNvSpPr/>
          <p:nvPr/>
        </p:nvSpPr>
        <p:spPr>
          <a:xfrm>
            <a:off x="6281922" y="1360157"/>
            <a:ext cx="24690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8A0C0"/>
              </a:buClr>
              <a:buSzPts val="1800"/>
              <a:buFont typeface="Georgia"/>
              <a:buNone/>
            </a:pPr>
            <a:r>
              <a:rPr lang="en-US" sz="1800" b="1" i="0" u="none" strike="noStrike" cap="none">
                <a:solidFill>
                  <a:srgbClr val="B8A0C0"/>
                </a:solidFill>
                <a:latin typeface="Georgia"/>
                <a:ea typeface="Georgia"/>
                <a:cs typeface="Georgia"/>
                <a:sym typeface="Georgia"/>
              </a:rPr>
              <a:t>Estrogen</a:t>
            </a:r>
            <a:endParaRPr sz="1800" b="0" i="0" u="none" strike="noStrike" cap="none">
              <a:solidFill>
                <a:schemeClr val="dk1"/>
              </a:solidFill>
              <a:latin typeface="Calibri"/>
              <a:ea typeface="Calibri"/>
              <a:cs typeface="Calibri"/>
              <a:sym typeface="Calibri"/>
            </a:endParaRPr>
          </a:p>
        </p:txBody>
      </p:sp>
      <p:sp>
        <p:nvSpPr>
          <p:cNvPr id="119" name="Google Shape;119;p8"/>
          <p:cNvSpPr/>
          <p:nvPr/>
        </p:nvSpPr>
        <p:spPr>
          <a:xfrm>
            <a:off x="6281922" y="1762493"/>
            <a:ext cx="2469000" cy="9144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Drives growth, blood flow, skin changes, the pregnancy glow</a:t>
            </a:r>
            <a:endParaRPr sz="1200" b="0" i="0" u="none" strike="noStrike" cap="none">
              <a:solidFill>
                <a:schemeClr val="dk1"/>
              </a:solidFill>
              <a:latin typeface="Calibri"/>
              <a:ea typeface="Calibri"/>
              <a:cs typeface="Calibri"/>
              <a:sym typeface="Calibri"/>
            </a:endParaRPr>
          </a:p>
        </p:txBody>
      </p:sp>
      <p:sp>
        <p:nvSpPr>
          <p:cNvPr id="120" name="Google Shape;120;p8"/>
          <p:cNvSpPr/>
          <p:nvPr/>
        </p:nvSpPr>
        <p:spPr>
          <a:xfrm>
            <a:off x="283458" y="2914637"/>
            <a:ext cx="2761500" cy="15363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a:off x="283458" y="2914637"/>
            <a:ext cx="73200" cy="15363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a:off x="466338" y="3024365"/>
            <a:ext cx="24690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800"/>
              <a:buFont typeface="Georgia"/>
              <a:buNone/>
            </a:pPr>
            <a:r>
              <a:rPr lang="en-US" sz="1800" b="1" i="0" u="none" strike="noStrike" cap="none">
                <a:solidFill>
                  <a:srgbClr val="5E376C"/>
                </a:solidFill>
                <a:latin typeface="Georgia"/>
                <a:ea typeface="Georgia"/>
                <a:cs typeface="Georgia"/>
                <a:sym typeface="Georgia"/>
              </a:rPr>
              <a:t>Relaxin</a:t>
            </a:r>
            <a:endParaRPr sz="1800" b="0" i="0" u="none" strike="noStrike" cap="none">
              <a:solidFill>
                <a:schemeClr val="dk1"/>
              </a:solidFill>
              <a:latin typeface="Calibri"/>
              <a:ea typeface="Calibri"/>
              <a:cs typeface="Calibri"/>
              <a:sym typeface="Calibri"/>
            </a:endParaRPr>
          </a:p>
        </p:txBody>
      </p:sp>
      <p:sp>
        <p:nvSpPr>
          <p:cNvPr id="123" name="Google Shape;123;p8"/>
          <p:cNvSpPr/>
          <p:nvPr/>
        </p:nvSpPr>
        <p:spPr>
          <a:xfrm>
            <a:off x="466338" y="3426701"/>
            <a:ext cx="2469000" cy="9144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Loosens ALL ligaments — causes back pain, SPD, clumsiness</a:t>
            </a:r>
            <a:endParaRPr sz="1200" b="0" i="0" u="none" strike="noStrike" cap="none">
              <a:solidFill>
                <a:schemeClr val="dk1"/>
              </a:solidFill>
              <a:latin typeface="Calibri"/>
              <a:ea typeface="Calibri"/>
              <a:cs typeface="Calibri"/>
              <a:sym typeface="Calibri"/>
            </a:endParaRPr>
          </a:p>
        </p:txBody>
      </p:sp>
      <p:sp>
        <p:nvSpPr>
          <p:cNvPr id="124" name="Google Shape;124;p8"/>
          <p:cNvSpPr/>
          <p:nvPr/>
        </p:nvSpPr>
        <p:spPr>
          <a:xfrm>
            <a:off x="3191249" y="2914637"/>
            <a:ext cx="2761500" cy="15363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a:off x="3191250" y="2914637"/>
            <a:ext cx="73200" cy="15363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p:nvPr/>
        </p:nvSpPr>
        <p:spPr>
          <a:xfrm>
            <a:off x="3374130" y="3024365"/>
            <a:ext cx="24690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800"/>
              <a:buFont typeface="Georgia"/>
              <a:buNone/>
            </a:pPr>
            <a:r>
              <a:rPr lang="en-US" sz="1800" b="1" i="0" u="none" strike="noStrike" cap="none">
                <a:solidFill>
                  <a:srgbClr val="845995"/>
                </a:solidFill>
                <a:latin typeface="Georgia"/>
                <a:ea typeface="Georgia"/>
                <a:cs typeface="Georgia"/>
                <a:sym typeface="Georgia"/>
              </a:rPr>
              <a:t>Oxytocin</a:t>
            </a:r>
            <a:endParaRPr sz="1800" b="0" i="0" u="none" strike="noStrike" cap="none">
              <a:solidFill>
                <a:schemeClr val="dk1"/>
              </a:solidFill>
              <a:latin typeface="Calibri"/>
              <a:ea typeface="Calibri"/>
              <a:cs typeface="Calibri"/>
              <a:sym typeface="Calibri"/>
            </a:endParaRPr>
          </a:p>
        </p:txBody>
      </p:sp>
      <p:sp>
        <p:nvSpPr>
          <p:cNvPr id="127" name="Google Shape;127;p8"/>
          <p:cNvSpPr/>
          <p:nvPr/>
        </p:nvSpPr>
        <p:spPr>
          <a:xfrm>
            <a:off x="3374130" y="3426701"/>
            <a:ext cx="2469000" cy="9144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Builds through pregnancy, triggers labor, drives bonding</a:t>
            </a:r>
            <a:endParaRPr sz="1200" b="0" i="0" u="none" strike="noStrike" cap="none">
              <a:solidFill>
                <a:schemeClr val="dk1"/>
              </a:solidFill>
              <a:latin typeface="Calibri"/>
              <a:ea typeface="Calibri"/>
              <a:cs typeface="Calibri"/>
              <a:sym typeface="Calibri"/>
            </a:endParaRPr>
          </a:p>
        </p:txBody>
      </p:sp>
      <p:sp>
        <p:nvSpPr>
          <p:cNvPr id="128" name="Google Shape;128;p8"/>
          <p:cNvSpPr/>
          <p:nvPr/>
        </p:nvSpPr>
        <p:spPr>
          <a:xfrm>
            <a:off x="6099042" y="2914637"/>
            <a:ext cx="2761500" cy="15363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8"/>
          <p:cNvSpPr/>
          <p:nvPr/>
        </p:nvSpPr>
        <p:spPr>
          <a:xfrm>
            <a:off x="6099042" y="2914637"/>
            <a:ext cx="73200" cy="1536300"/>
          </a:xfrm>
          <a:prstGeom prst="rect">
            <a:avLst/>
          </a:prstGeom>
          <a:solidFill>
            <a:srgbClr val="B8A0C0"/>
          </a:solidFill>
          <a:ln w="12700" cap="flat" cmpd="sng">
            <a:solidFill>
              <a:srgbClr val="B8A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a:off x="6281922" y="3024365"/>
            <a:ext cx="24690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8A0C0"/>
              </a:buClr>
              <a:buSzPts val="1800"/>
              <a:buFont typeface="Georgia"/>
              <a:buNone/>
            </a:pPr>
            <a:r>
              <a:rPr lang="en-US" sz="1800" b="1" i="0" u="none" strike="noStrike" cap="none">
                <a:solidFill>
                  <a:srgbClr val="B8A0C0"/>
                </a:solidFill>
                <a:latin typeface="Georgia"/>
                <a:ea typeface="Georgia"/>
                <a:cs typeface="Georgia"/>
                <a:sym typeface="Georgia"/>
              </a:rPr>
              <a:t>Cortisol</a:t>
            </a:r>
            <a:endParaRPr sz="1800" b="0" i="0" u="none" strike="noStrike" cap="none">
              <a:solidFill>
                <a:schemeClr val="dk1"/>
              </a:solidFill>
              <a:latin typeface="Calibri"/>
              <a:ea typeface="Calibri"/>
              <a:cs typeface="Calibri"/>
              <a:sym typeface="Calibri"/>
            </a:endParaRPr>
          </a:p>
        </p:txBody>
      </p:sp>
      <p:sp>
        <p:nvSpPr>
          <p:cNvPr id="131" name="Google Shape;131;p8"/>
          <p:cNvSpPr/>
          <p:nvPr/>
        </p:nvSpPr>
        <p:spPr>
          <a:xfrm>
            <a:off x="6281922" y="3426701"/>
            <a:ext cx="2469000" cy="9144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Rises throughout pregnancy — chronic stress elevation = risk</a:t>
            </a:r>
            <a:endParaRPr sz="1200" b="0" i="0" u="none" strike="noStrike" cap="none">
              <a:solidFill>
                <a:schemeClr val="dk1"/>
              </a:solidFill>
              <a:latin typeface="Calibri"/>
              <a:ea typeface="Calibri"/>
              <a:cs typeface="Calibri"/>
              <a:sym typeface="Calibri"/>
            </a:endParaRPr>
          </a:p>
        </p:txBody>
      </p:sp>
      <p:sp>
        <p:nvSpPr>
          <p:cNvPr id="132" name="Google Shape;132;p8"/>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9"/>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THE HORMONES OF PREGNANCY</a:t>
            </a:r>
            <a:endParaRPr sz="900" b="0" i="0" u="none" strike="noStrike" cap="none">
              <a:solidFill>
                <a:schemeClr val="dk1"/>
              </a:solidFill>
              <a:latin typeface="Calibri"/>
              <a:ea typeface="Calibri"/>
              <a:cs typeface="Calibri"/>
              <a:sym typeface="Calibri"/>
            </a:endParaRPr>
          </a:p>
        </p:txBody>
      </p:sp>
      <p:sp>
        <p:nvSpPr>
          <p:cNvPr id="141" name="Google Shape;141;p9"/>
          <p:cNvSpPr/>
          <p:nvPr/>
        </p:nvSpPr>
        <p:spPr>
          <a:xfrm>
            <a:off x="411480" y="54021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hCG — Human Chorionic Gonadotropin</a:t>
            </a:r>
            <a:endParaRPr sz="2000" b="0" i="0" u="none" strike="noStrike" cap="none">
              <a:solidFill>
                <a:schemeClr val="dk1"/>
              </a:solidFill>
              <a:latin typeface="Calibri"/>
              <a:ea typeface="Calibri"/>
              <a:cs typeface="Calibri"/>
              <a:sym typeface="Calibri"/>
            </a:endParaRPr>
          </a:p>
        </p:txBody>
      </p:sp>
      <p:sp>
        <p:nvSpPr>
          <p:cNvPr id="142" name="Google Shape;142;p9"/>
          <p:cNvSpPr/>
          <p:nvPr/>
        </p:nvSpPr>
        <p:spPr>
          <a:xfrm>
            <a:off x="411480" y="1115568"/>
            <a:ext cx="8321040" cy="34747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700"/>
              <a:buFont typeface="Georgia"/>
              <a:buNone/>
            </a:pPr>
            <a:r>
              <a:rPr lang="en-US" sz="1700" b="0" i="1" u="none" strike="noStrike" cap="none">
                <a:solidFill>
                  <a:srgbClr val="845995"/>
                </a:solidFill>
                <a:latin typeface="Georgia"/>
                <a:ea typeface="Georgia"/>
                <a:cs typeface="Georgia"/>
                <a:sym typeface="Georgia"/>
              </a:rPr>
              <a:t>The hormone that tells the body: pregnancy is happening.</a:t>
            </a:r>
            <a:endParaRPr sz="1700" b="0" i="0" u="none" strike="noStrike" cap="none">
              <a:solidFill>
                <a:schemeClr val="dk1"/>
              </a:solidFill>
              <a:latin typeface="Calibri"/>
              <a:ea typeface="Calibri"/>
              <a:cs typeface="Calibri"/>
              <a:sym typeface="Calibri"/>
            </a:endParaRPr>
          </a:p>
        </p:txBody>
      </p:sp>
      <p:sp>
        <p:nvSpPr>
          <p:cNvPr id="145" name="Google Shape;145;p9"/>
          <p:cNvSpPr/>
          <p:nvPr/>
        </p:nvSpPr>
        <p:spPr>
          <a:xfrm>
            <a:off x="549557" y="1964334"/>
            <a:ext cx="8046600" cy="19842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Produced by the placenta</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Doubles every 48–72 hours early on</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Peaks around week 10</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Triggers the nausea center</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Pauses ovulation for the pregnancy</a:t>
            </a:r>
            <a:endParaRPr sz="1500" b="0" i="0" u="none" strike="noStrike" cap="none">
              <a:solidFill>
                <a:schemeClr val="dk1"/>
              </a:solidFill>
              <a:latin typeface="Calibri"/>
              <a:ea typeface="Calibri"/>
              <a:cs typeface="Calibri"/>
              <a:sym typeface="Calibri"/>
            </a:endParaRPr>
          </a:p>
        </p:txBody>
      </p:sp>
      <p:sp>
        <p:nvSpPr>
          <p:cNvPr id="146" name="Google Shape;146;p9"/>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3"/>
        <p:cNvGrpSpPr/>
        <p:nvPr/>
      </p:nvGrpSpPr>
      <p:grpSpPr>
        <a:xfrm>
          <a:off x="0" y="0"/>
          <a:ext cx="0" cy="0"/>
          <a:chOff x="0" y="0"/>
          <a:chExt cx="0" cy="0"/>
        </a:xfrm>
      </p:grpSpPr>
      <p:sp>
        <p:nvSpPr>
          <p:cNvPr id="154" name="Google Shape;154;p10"/>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THE HORMONES OF PREGNANCY</a:t>
            </a:r>
            <a:endParaRPr sz="900" b="0" i="0" u="none" strike="noStrike" cap="none">
              <a:solidFill>
                <a:schemeClr val="dk1"/>
              </a:solidFill>
              <a:latin typeface="Calibri"/>
              <a:ea typeface="Calibri"/>
              <a:cs typeface="Calibri"/>
              <a:sym typeface="Calibri"/>
            </a:endParaRPr>
          </a:p>
        </p:txBody>
      </p:sp>
      <p:sp>
        <p:nvSpPr>
          <p:cNvPr id="155" name="Google Shape;155;p10"/>
          <p:cNvSpPr/>
          <p:nvPr/>
        </p:nvSpPr>
        <p:spPr>
          <a:xfrm>
            <a:off x="411455" y="495548"/>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Progesterone — "The Pregnancy Hormone"</a:t>
            </a:r>
            <a:endParaRPr sz="2000" b="0" i="0" u="none" strike="noStrike" cap="none">
              <a:solidFill>
                <a:schemeClr val="dk1"/>
              </a:solidFill>
              <a:latin typeface="Calibri"/>
              <a:ea typeface="Calibri"/>
              <a:cs typeface="Calibri"/>
              <a:sym typeface="Calibri"/>
            </a:endParaRPr>
          </a:p>
        </p:txBody>
      </p:sp>
      <p:sp>
        <p:nvSpPr>
          <p:cNvPr id="156" name="Google Shape;156;p10"/>
          <p:cNvSpPr/>
          <p:nvPr/>
        </p:nvSpPr>
        <p:spPr>
          <a:xfrm>
            <a:off x="411455" y="1154056"/>
            <a:ext cx="83211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700"/>
              <a:buFont typeface="Georgia"/>
              <a:buNone/>
            </a:pPr>
            <a:r>
              <a:rPr lang="en-US" sz="1700" b="0" i="1" u="none" strike="noStrike" cap="none">
                <a:solidFill>
                  <a:srgbClr val="845995"/>
                </a:solidFill>
                <a:latin typeface="Georgia"/>
                <a:ea typeface="Georgia"/>
                <a:cs typeface="Georgia"/>
                <a:sym typeface="Georgia"/>
              </a:rPr>
              <a:t>Without progesterone, the uterus cannot sustain the pregnancy.</a:t>
            </a:r>
            <a:endParaRPr sz="1700" b="0" i="0" u="none" strike="noStrike" cap="none">
              <a:solidFill>
                <a:schemeClr val="dk1"/>
              </a:solidFill>
              <a:latin typeface="Calibri"/>
              <a:ea typeface="Calibri"/>
              <a:cs typeface="Calibri"/>
              <a:sym typeface="Calibri"/>
            </a:endParaRPr>
          </a:p>
        </p:txBody>
      </p:sp>
      <p:sp>
        <p:nvSpPr>
          <p:cNvPr id="159" name="Google Shape;159;p10"/>
          <p:cNvSpPr/>
          <p:nvPr/>
        </p:nvSpPr>
        <p:spPr>
          <a:xfrm>
            <a:off x="566875" y="2009900"/>
            <a:ext cx="8046600" cy="20094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Maintains the uterine lining</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Suppresses contractions, protects pregnancy</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Relaxes smooth muscle everywhere</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Sedating — drives T1 fatigue</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Sudden postpartum drop → baby blues</a:t>
            </a:r>
            <a:endParaRPr sz="1500" b="0" i="0" u="none" strike="noStrike" cap="none">
              <a:solidFill>
                <a:schemeClr val="dk1"/>
              </a:solidFill>
              <a:latin typeface="Calibri"/>
              <a:ea typeface="Calibri"/>
              <a:cs typeface="Calibri"/>
              <a:sym typeface="Calibri"/>
            </a:endParaRPr>
          </a:p>
        </p:txBody>
      </p:sp>
      <p:sp>
        <p:nvSpPr>
          <p:cNvPr id="160" name="Google Shape;160;p10"/>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0"/>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7"/>
        <p:cNvGrpSpPr/>
        <p:nvPr/>
      </p:nvGrpSpPr>
      <p:grpSpPr>
        <a:xfrm>
          <a:off x="0" y="0"/>
          <a:ext cx="0" cy="0"/>
          <a:chOff x="0" y="0"/>
          <a:chExt cx="0" cy="0"/>
        </a:xfrm>
      </p:grpSpPr>
      <p:sp>
        <p:nvSpPr>
          <p:cNvPr id="168" name="Google Shape;168;p11"/>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THE HORMONES OF PREGNANCY</a:t>
            </a:r>
            <a:endParaRPr sz="900" b="0" i="0" u="none" strike="noStrike" cap="none">
              <a:solidFill>
                <a:schemeClr val="dk1"/>
              </a:solidFill>
              <a:latin typeface="Calibri"/>
              <a:ea typeface="Calibri"/>
              <a:cs typeface="Calibri"/>
              <a:sym typeface="Calibri"/>
            </a:endParaRPr>
          </a:p>
        </p:txBody>
      </p:sp>
      <p:sp>
        <p:nvSpPr>
          <p:cNvPr id="169" name="Google Shape;169;p11"/>
          <p:cNvSpPr/>
          <p:nvPr/>
        </p:nvSpPr>
        <p:spPr>
          <a:xfrm>
            <a:off x="411480" y="53911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Estrogen — Growth, Blood Flow &amp; Change</a:t>
            </a:r>
            <a:endParaRPr sz="2000" b="0" i="0" u="none" strike="noStrike" cap="none">
              <a:solidFill>
                <a:schemeClr val="dk1"/>
              </a:solidFill>
              <a:latin typeface="Calibri"/>
              <a:ea typeface="Calibri"/>
              <a:cs typeface="Calibri"/>
              <a:sym typeface="Calibri"/>
            </a:endParaRPr>
          </a:p>
        </p:txBody>
      </p:sp>
      <p:sp>
        <p:nvSpPr>
          <p:cNvPr id="170" name="Google Shape;170;p11"/>
          <p:cNvSpPr/>
          <p:nvPr/>
        </p:nvSpPr>
        <p:spPr>
          <a:xfrm>
            <a:off x="411480" y="1115568"/>
            <a:ext cx="8321040" cy="34747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700"/>
              <a:buFont typeface="Georgia"/>
              <a:buNone/>
            </a:pPr>
            <a:r>
              <a:rPr lang="en-US" sz="1700" b="0" i="1" u="none" strike="noStrike" cap="none">
                <a:solidFill>
                  <a:srgbClr val="845995"/>
                </a:solidFill>
                <a:latin typeface="Georgia"/>
                <a:ea typeface="Georgia"/>
                <a:cs typeface="Georgia"/>
                <a:sym typeface="Georgia"/>
              </a:rPr>
              <a:t>Estrogen drives visible physical transformation — from the glow to the stretch marks.</a:t>
            </a:r>
            <a:endParaRPr sz="1700" b="0" i="0" u="none" strike="noStrike" cap="none">
              <a:solidFill>
                <a:schemeClr val="dk1"/>
              </a:solidFill>
              <a:latin typeface="Calibri"/>
              <a:ea typeface="Calibri"/>
              <a:cs typeface="Calibri"/>
              <a:sym typeface="Calibri"/>
            </a:endParaRPr>
          </a:p>
        </p:txBody>
      </p:sp>
      <p:sp>
        <p:nvSpPr>
          <p:cNvPr id="173" name="Google Shape;173;p11"/>
          <p:cNvSpPr/>
          <p:nvPr/>
        </p:nvSpPr>
        <p:spPr>
          <a:xfrm>
            <a:off x="549557" y="2080672"/>
            <a:ext cx="8046600" cy="19233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Drives uterine growth</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Develops breast tissue for lactation</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Creates the "pregnancy glow"</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Also: nasal congestion, bleeding gums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Stretch marks, linea nigra, melasma</a:t>
            </a:r>
            <a:endParaRPr sz="1500" b="0" i="0" u="none" strike="noStrike" cap="none">
              <a:solidFill>
                <a:schemeClr val="dk1"/>
              </a:solidFill>
              <a:latin typeface="Calibri"/>
              <a:ea typeface="Calibri"/>
              <a:cs typeface="Calibri"/>
              <a:sym typeface="Calibri"/>
            </a:endParaRPr>
          </a:p>
        </p:txBody>
      </p:sp>
      <p:sp>
        <p:nvSpPr>
          <p:cNvPr id="174" name="Google Shape;174;p11"/>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sp>
        <p:nvSpPr>
          <p:cNvPr id="182" name="Google Shape;182;p12"/>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THE HORMONES OF PREGNANCY</a:t>
            </a:r>
            <a:endParaRPr sz="900" b="0" i="0" u="none" strike="noStrike" cap="none">
              <a:solidFill>
                <a:schemeClr val="dk1"/>
              </a:solidFill>
              <a:latin typeface="Calibri"/>
              <a:ea typeface="Calibri"/>
              <a:cs typeface="Calibri"/>
              <a:sym typeface="Calibri"/>
            </a:endParaRPr>
          </a:p>
        </p:txBody>
      </p:sp>
      <p:sp>
        <p:nvSpPr>
          <p:cNvPr id="183" name="Google Shape;183;p12"/>
          <p:cNvSpPr/>
          <p:nvPr/>
        </p:nvSpPr>
        <p:spPr>
          <a:xfrm>
            <a:off x="411480" y="45721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Relaxin — The Joint &amp; Ligament Relaxer</a:t>
            </a:r>
            <a:endParaRPr sz="2000" b="0" i="0" u="none" strike="noStrike" cap="none">
              <a:solidFill>
                <a:schemeClr val="dk1"/>
              </a:solidFill>
              <a:latin typeface="Calibri"/>
              <a:ea typeface="Calibri"/>
              <a:cs typeface="Calibri"/>
              <a:sym typeface="Calibri"/>
            </a:endParaRPr>
          </a:p>
        </p:txBody>
      </p:sp>
      <p:sp>
        <p:nvSpPr>
          <p:cNvPr id="184" name="Google Shape;184;p12"/>
          <p:cNvSpPr/>
          <p:nvPr/>
        </p:nvSpPr>
        <p:spPr>
          <a:xfrm>
            <a:off x="411480" y="962668"/>
            <a:ext cx="83211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700"/>
              <a:buFont typeface="Georgia"/>
              <a:buNone/>
            </a:pPr>
            <a:r>
              <a:rPr lang="en-US" sz="1700" b="0" i="1" u="none" strike="noStrike" cap="none">
                <a:solidFill>
                  <a:srgbClr val="845995"/>
                </a:solidFill>
                <a:latin typeface="Georgia"/>
                <a:ea typeface="Georgia"/>
                <a:cs typeface="Georgia"/>
                <a:sym typeface="Georgia"/>
              </a:rPr>
              <a:t>It loosens the pelvic ligaments for birth — and every other ligament along with them.</a:t>
            </a:r>
            <a:endParaRPr sz="1700" b="0" i="0" u="none" strike="noStrike" cap="none">
              <a:solidFill>
                <a:schemeClr val="dk1"/>
              </a:solidFill>
              <a:latin typeface="Calibri"/>
              <a:ea typeface="Calibri"/>
              <a:cs typeface="Calibri"/>
              <a:sym typeface="Calibri"/>
            </a:endParaRPr>
          </a:p>
        </p:txBody>
      </p:sp>
      <p:sp>
        <p:nvSpPr>
          <p:cNvPr id="187" name="Google Shape;187;p12"/>
          <p:cNvSpPr/>
          <p:nvPr/>
        </p:nvSpPr>
        <p:spPr>
          <a:xfrm>
            <a:off x="566900" y="1666724"/>
            <a:ext cx="8046600" cy="23973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Loosens pelvic ligaments for birth</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Loosens ALL ligaments — not just pelvic</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Back pain, SPD, round ligament pain</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Causes "pregnancy clumsiness"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Resolves after breastfeeding ends</a:t>
            </a:r>
            <a:endParaRPr sz="1500" b="0" i="0" u="none" strike="noStrike" cap="none">
              <a:solidFill>
                <a:schemeClr val="dk1"/>
              </a:solidFill>
              <a:latin typeface="Calibri"/>
              <a:ea typeface="Calibri"/>
              <a:cs typeface="Calibri"/>
              <a:sym typeface="Calibri"/>
            </a:endParaRPr>
          </a:p>
        </p:txBody>
      </p:sp>
      <p:sp>
        <p:nvSpPr>
          <p:cNvPr id="188" name="Google Shape;188;p12"/>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2"/>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sp>
        <p:nvSpPr>
          <p:cNvPr id="196" name="Google Shape;196;p13"/>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THE HORMONES OF PREGNANCY</a:t>
            </a:r>
            <a:endParaRPr sz="900" b="0" i="0" u="none" strike="noStrike" cap="none">
              <a:solidFill>
                <a:schemeClr val="dk1"/>
              </a:solidFill>
              <a:latin typeface="Calibri"/>
              <a:ea typeface="Calibri"/>
              <a:cs typeface="Calibri"/>
              <a:sym typeface="Calibri"/>
            </a:endParaRPr>
          </a:p>
        </p:txBody>
      </p:sp>
      <p:sp>
        <p:nvSpPr>
          <p:cNvPr id="197" name="Google Shape;197;p13"/>
          <p:cNvSpPr/>
          <p:nvPr/>
        </p:nvSpPr>
        <p:spPr>
          <a:xfrm>
            <a:off x="411455" y="468185"/>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Oxytocin — "The Love Hormone"</a:t>
            </a:r>
            <a:endParaRPr sz="2000" b="0" i="0" u="none" strike="noStrike" cap="none">
              <a:solidFill>
                <a:schemeClr val="dk1"/>
              </a:solidFill>
              <a:latin typeface="Calibri"/>
              <a:ea typeface="Calibri"/>
              <a:cs typeface="Calibri"/>
              <a:sym typeface="Calibri"/>
            </a:endParaRPr>
          </a:p>
        </p:txBody>
      </p:sp>
      <p:sp>
        <p:nvSpPr>
          <p:cNvPr id="198" name="Google Shape;198;p13"/>
          <p:cNvSpPr/>
          <p:nvPr/>
        </p:nvSpPr>
        <p:spPr>
          <a:xfrm>
            <a:off x="429680" y="932054"/>
            <a:ext cx="83211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700"/>
              <a:buFont typeface="Georgia"/>
              <a:buNone/>
            </a:pPr>
            <a:r>
              <a:rPr lang="en-US" sz="1700" b="0" i="1" u="none" strike="noStrike" cap="none">
                <a:solidFill>
                  <a:srgbClr val="845995"/>
                </a:solidFill>
                <a:latin typeface="Georgia"/>
                <a:ea typeface="Georgia"/>
                <a:cs typeface="Georgia"/>
                <a:sym typeface="Georgia"/>
              </a:rPr>
              <a:t>Your calm, warm, reassuring presence as a doula is not just emotional support — it is hormonal support.</a:t>
            </a:r>
            <a:endParaRPr sz="1700" b="0" i="0" u="none" strike="noStrike" cap="none">
              <a:solidFill>
                <a:schemeClr val="dk1"/>
              </a:solidFill>
              <a:latin typeface="Calibri"/>
              <a:ea typeface="Calibri"/>
              <a:cs typeface="Calibri"/>
              <a:sym typeface="Calibri"/>
            </a:endParaRPr>
          </a:p>
        </p:txBody>
      </p:sp>
      <p:sp>
        <p:nvSpPr>
          <p:cNvPr id="201" name="Google Shape;201;p13"/>
          <p:cNvSpPr/>
          <p:nvPr/>
        </p:nvSpPr>
        <p:spPr>
          <a:xfrm>
            <a:off x="566875" y="1819624"/>
            <a:ext cx="8046600" cy="18468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Builds gradually, peaks at labor</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Drives contractions (Pitocin is synthetic)</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Responds to touch, eye contact, safety</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Powers skin-to-skin bonding</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Triggers milk let-down reflex</a:t>
            </a:r>
            <a:endParaRPr sz="1500" b="0" i="0" u="none" strike="noStrike" cap="none">
              <a:solidFill>
                <a:schemeClr val="dk1"/>
              </a:solidFill>
              <a:latin typeface="Calibri"/>
              <a:ea typeface="Calibri"/>
              <a:cs typeface="Calibri"/>
              <a:sym typeface="Calibri"/>
            </a:endParaRPr>
          </a:p>
        </p:txBody>
      </p:sp>
      <p:sp>
        <p:nvSpPr>
          <p:cNvPr id="202" name="Google Shape;202;p13"/>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3"/>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9"/>
        <p:cNvGrpSpPr/>
        <p:nvPr/>
      </p:nvGrpSpPr>
      <p:grpSpPr>
        <a:xfrm>
          <a:off x="0" y="0"/>
          <a:ext cx="0" cy="0"/>
          <a:chOff x="0" y="0"/>
          <a:chExt cx="0" cy="0"/>
        </a:xfrm>
      </p:grpSpPr>
      <p:sp>
        <p:nvSpPr>
          <p:cNvPr id="210" name="Google Shape;210;p14"/>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THE HORMONES OF PREGNANCY</a:t>
            </a:r>
            <a:endParaRPr sz="900" b="0" i="0" u="none" strike="noStrike" cap="none">
              <a:solidFill>
                <a:schemeClr val="dk1"/>
              </a:solidFill>
              <a:latin typeface="Calibri"/>
              <a:ea typeface="Calibri"/>
              <a:cs typeface="Calibri"/>
              <a:sym typeface="Calibri"/>
            </a:endParaRPr>
          </a:p>
        </p:txBody>
      </p:sp>
      <p:sp>
        <p:nvSpPr>
          <p:cNvPr id="211" name="Google Shape;211;p14"/>
          <p:cNvSpPr/>
          <p:nvPr/>
        </p:nvSpPr>
        <p:spPr>
          <a:xfrm>
            <a:off x="411480" y="488085"/>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Cortisol — The Stress Hormone</a:t>
            </a:r>
            <a:endParaRPr sz="2000" b="0" i="0" u="none" strike="noStrike" cap="none">
              <a:solidFill>
                <a:schemeClr val="dk1"/>
              </a:solidFill>
              <a:latin typeface="Calibri"/>
              <a:ea typeface="Calibri"/>
              <a:cs typeface="Calibri"/>
              <a:sym typeface="Calibri"/>
            </a:endParaRPr>
          </a:p>
        </p:txBody>
      </p:sp>
      <p:sp>
        <p:nvSpPr>
          <p:cNvPr id="212" name="Google Shape;212;p14"/>
          <p:cNvSpPr/>
          <p:nvPr/>
        </p:nvSpPr>
        <p:spPr>
          <a:xfrm>
            <a:off x="429768" y="945268"/>
            <a:ext cx="83211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700"/>
              <a:buFont typeface="Georgia"/>
              <a:buNone/>
            </a:pPr>
            <a:r>
              <a:rPr lang="en-US" sz="1700" b="0" i="1" u="none" strike="noStrike" cap="none">
                <a:solidFill>
                  <a:srgbClr val="845995"/>
                </a:solidFill>
                <a:latin typeface="Georgia"/>
                <a:ea typeface="Georgia"/>
                <a:cs typeface="Georgia"/>
                <a:sym typeface="Georgia"/>
              </a:rPr>
              <a:t>Rising cortisol in pregnancy is normal. Chronic stress-driven elevation is where doulas make a difference.</a:t>
            </a:r>
            <a:endParaRPr sz="1700" b="0" i="0" u="none" strike="noStrike" cap="none">
              <a:solidFill>
                <a:schemeClr val="dk1"/>
              </a:solidFill>
              <a:latin typeface="Calibri"/>
              <a:ea typeface="Calibri"/>
              <a:cs typeface="Calibri"/>
              <a:sym typeface="Calibri"/>
            </a:endParaRPr>
          </a:p>
        </p:txBody>
      </p:sp>
      <p:sp>
        <p:nvSpPr>
          <p:cNvPr id="215" name="Google Shape;215;p14"/>
          <p:cNvSpPr/>
          <p:nvPr/>
        </p:nvSpPr>
        <p:spPr>
          <a:xfrm>
            <a:off x="566875" y="2131674"/>
            <a:ext cx="8046600" cy="22902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Rises throughout pregnancy — normal</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Adapts immune system to tolerate fetus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Supports fetal lung development</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Chronic elevation → preterm risk</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Doula presence measurably lowers it</a:t>
            </a:r>
            <a:endParaRPr sz="1500" b="0" i="0" u="none" strike="noStrike" cap="none">
              <a:solidFill>
                <a:schemeClr val="dk1"/>
              </a:solidFill>
              <a:latin typeface="Calibri"/>
              <a:ea typeface="Calibri"/>
              <a:cs typeface="Calibri"/>
              <a:sym typeface="Calibri"/>
            </a:endParaRPr>
          </a:p>
        </p:txBody>
      </p:sp>
      <p:sp>
        <p:nvSpPr>
          <p:cNvPr id="216" name="Google Shape;216;p14"/>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4"/>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3"/>
        <p:cNvGrpSpPr/>
        <p:nvPr/>
      </p:nvGrpSpPr>
      <p:grpSpPr>
        <a:xfrm>
          <a:off x="0" y="0"/>
          <a:ext cx="0" cy="0"/>
          <a:chOff x="0" y="0"/>
          <a:chExt cx="0" cy="0"/>
        </a:xfrm>
      </p:grpSpPr>
      <p:sp>
        <p:nvSpPr>
          <p:cNvPr id="224" name="Google Shape;224;p15"/>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ANATOMY &amp; PHYSIOLOGY  ·  HOW THE BODY REORGANIZES</a:t>
            </a:r>
            <a:endParaRPr sz="900" b="0" i="0" u="none" strike="noStrike" cap="none">
              <a:solidFill>
                <a:schemeClr val="dk1"/>
              </a:solidFill>
              <a:latin typeface="Calibri"/>
              <a:ea typeface="Calibri"/>
              <a:cs typeface="Calibri"/>
              <a:sym typeface="Calibri"/>
            </a:endParaRPr>
          </a:p>
        </p:txBody>
      </p:sp>
      <p:sp>
        <p:nvSpPr>
          <p:cNvPr id="225" name="Google Shape;225;p15"/>
          <p:cNvSpPr/>
          <p:nvPr/>
        </p:nvSpPr>
        <p:spPr>
          <a:xfrm>
            <a:off x="411480" y="518248"/>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Where Does Everything Go?</a:t>
            </a:r>
            <a:endParaRPr sz="2000" b="0" i="0" u="none" strike="noStrike" cap="none">
              <a:solidFill>
                <a:schemeClr val="dk1"/>
              </a:solidFill>
              <a:latin typeface="Calibri"/>
              <a:ea typeface="Calibri"/>
              <a:cs typeface="Calibri"/>
              <a:sym typeface="Calibri"/>
            </a:endParaRPr>
          </a:p>
        </p:txBody>
      </p:sp>
      <p:sp>
        <p:nvSpPr>
          <p:cNvPr id="226" name="Google Shape;226;p15"/>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5"/>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pic>
        <p:nvPicPr>
          <p:cNvPr id="229" name="Google Shape;229;p15" title="femReproInternal_enIL.jpg"/>
          <p:cNvPicPr preferRelativeResize="0"/>
          <p:nvPr/>
        </p:nvPicPr>
        <p:blipFill>
          <a:blip r:embed="rId3">
            <a:alphaModFix/>
          </a:blip>
          <a:stretch>
            <a:fillRect/>
          </a:stretch>
        </p:blipFill>
        <p:spPr>
          <a:xfrm>
            <a:off x="747875" y="1329089"/>
            <a:ext cx="4638302" cy="2604162"/>
          </a:xfrm>
          <a:prstGeom prst="rect">
            <a:avLst/>
          </a:prstGeom>
          <a:noFill/>
          <a:ln>
            <a:noFill/>
          </a:ln>
        </p:spPr>
      </p:pic>
      <p:pic>
        <p:nvPicPr>
          <p:cNvPr id="230" name="Google Shape;230;p15" title="Untitled design (8).png"/>
          <p:cNvPicPr preferRelativeResize="0"/>
          <p:nvPr/>
        </p:nvPicPr>
        <p:blipFill>
          <a:blip r:embed="rId4">
            <a:alphaModFix/>
          </a:blip>
          <a:stretch>
            <a:fillRect/>
          </a:stretch>
        </p:blipFill>
        <p:spPr>
          <a:xfrm>
            <a:off x="5181598" y="651261"/>
            <a:ext cx="3688074" cy="36880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5"/>
        <p:cNvGrpSpPr/>
        <p:nvPr/>
      </p:nvGrpSpPr>
      <p:grpSpPr>
        <a:xfrm>
          <a:off x="0" y="0"/>
          <a:ext cx="0" cy="0"/>
          <a:chOff x="0" y="0"/>
          <a:chExt cx="0" cy="0"/>
        </a:xfrm>
      </p:grpSpPr>
      <p:sp>
        <p:nvSpPr>
          <p:cNvPr id="236" name="Google Shape;236;p16"/>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ANATOMY &amp; PHYSIOLOGY  ·  UPPER BODY</a:t>
            </a:r>
            <a:endParaRPr sz="900" b="0" i="0" u="none" strike="noStrike" cap="none">
              <a:solidFill>
                <a:schemeClr val="dk1"/>
              </a:solidFill>
              <a:latin typeface="Calibri"/>
              <a:ea typeface="Calibri"/>
              <a:cs typeface="Calibri"/>
              <a:sym typeface="Calibri"/>
            </a:endParaRPr>
          </a:p>
        </p:txBody>
      </p:sp>
      <p:sp>
        <p:nvSpPr>
          <p:cNvPr id="237" name="Google Shape;237;p16"/>
          <p:cNvSpPr/>
          <p:nvPr/>
        </p:nvSpPr>
        <p:spPr>
          <a:xfrm>
            <a:off x="365705" y="51866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The Uterus — The Engine of It All</a:t>
            </a:r>
            <a:endParaRPr sz="2000" b="0" i="0" u="none" strike="noStrike" cap="none">
              <a:solidFill>
                <a:schemeClr val="dk1"/>
              </a:solidFill>
              <a:latin typeface="Calibri"/>
              <a:ea typeface="Calibri"/>
              <a:cs typeface="Calibri"/>
              <a:sym typeface="Calibri"/>
            </a:endParaRPr>
          </a:p>
        </p:txBody>
      </p:sp>
      <p:sp>
        <p:nvSpPr>
          <p:cNvPr id="238" name="Google Shape;238;p16"/>
          <p:cNvSpPr/>
          <p:nvPr/>
        </p:nvSpPr>
        <p:spPr>
          <a:xfrm>
            <a:off x="411480" y="1054418"/>
            <a:ext cx="83211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700"/>
              <a:buFont typeface="Georgia"/>
              <a:buNone/>
            </a:pPr>
            <a:r>
              <a:rPr lang="en-US" sz="1700" b="0" i="1" u="none" strike="noStrike" cap="none">
                <a:solidFill>
                  <a:srgbClr val="845995"/>
                </a:solidFill>
                <a:latin typeface="Georgia"/>
                <a:ea typeface="Georgia"/>
                <a:cs typeface="Georgia"/>
                <a:sym typeface="Georgia"/>
              </a:rPr>
              <a:t>From pear-sized to watermelon-sized. Everything else moves to make room.</a:t>
            </a:r>
            <a:endParaRPr sz="1700" b="0" i="0" u="none" strike="noStrike" cap="none">
              <a:solidFill>
                <a:schemeClr val="dk1"/>
              </a:solidFill>
              <a:latin typeface="Calibri"/>
              <a:ea typeface="Calibri"/>
              <a:cs typeface="Calibri"/>
              <a:sym typeface="Calibri"/>
            </a:endParaRPr>
          </a:p>
        </p:txBody>
      </p:sp>
      <p:sp>
        <p:nvSpPr>
          <p:cNvPr id="241" name="Google Shape;241;p16"/>
          <p:cNvSpPr/>
          <p:nvPr/>
        </p:nvSpPr>
        <p:spPr>
          <a:xfrm>
            <a:off x="566875" y="1926649"/>
            <a:ext cx="8046600" cy="19080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Pear-sized, 3 oz pre-pregnancy</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Watermelon-sized, ~2 lbs at term</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Pushes every organ upward and aside</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Drives most T3 symptoms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One of the body's strongest muscles</a:t>
            </a:r>
            <a:endParaRPr sz="1500" b="0" i="0" u="none" strike="noStrike" cap="none">
              <a:solidFill>
                <a:schemeClr val="dk1"/>
              </a:solidFill>
              <a:latin typeface="Calibri"/>
              <a:ea typeface="Calibri"/>
              <a:cs typeface="Calibri"/>
              <a:sym typeface="Calibri"/>
            </a:endParaRPr>
          </a:p>
        </p:txBody>
      </p:sp>
      <p:sp>
        <p:nvSpPr>
          <p:cNvPr id="242" name="Google Shape;242;p16"/>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6"/>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pic>
        <p:nvPicPr>
          <p:cNvPr id="245" name="Picture 244" descr="uterus_growth.png"/>
          <p:cNvPicPr>
            <a:picLocks noChangeAspect="1"/>
          </p:cNvPicPr>
          <p:nvPr/>
        </p:nvPicPr>
        <p:blipFill>
          <a:blip r:embed="rId3"/>
          <a:stretch>
            <a:fillRect/>
          </a:stretch>
        </p:blipFill>
        <p:spPr>
          <a:xfrm>
            <a:off x="2743200" y="4041648"/>
            <a:ext cx="3657600" cy="67116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9"/>
        <p:cNvGrpSpPr/>
        <p:nvPr/>
      </p:nvGrpSpPr>
      <p:grpSpPr>
        <a:xfrm>
          <a:off x="0" y="0"/>
          <a:ext cx="0" cy="0"/>
          <a:chOff x="0" y="0"/>
          <a:chExt cx="0" cy="0"/>
        </a:xfrm>
      </p:grpSpPr>
      <p:sp>
        <p:nvSpPr>
          <p:cNvPr id="250" name="Google Shape;250;p17"/>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ANATOMY &amp; PHYSIOLOGY  ·  UPPER BODY</a:t>
            </a:r>
            <a:endParaRPr sz="900" b="0" i="0" u="none" strike="noStrike" cap="none">
              <a:solidFill>
                <a:schemeClr val="dk1"/>
              </a:solidFill>
              <a:latin typeface="Calibri"/>
              <a:ea typeface="Calibri"/>
              <a:cs typeface="Calibri"/>
              <a:sym typeface="Calibri"/>
            </a:endParaRPr>
          </a:p>
        </p:txBody>
      </p:sp>
      <p:sp>
        <p:nvSpPr>
          <p:cNvPr id="251" name="Google Shape;251;p17"/>
          <p:cNvSpPr/>
          <p:nvPr/>
        </p:nvSpPr>
        <p:spPr>
          <a:xfrm>
            <a:off x="350747" y="539423"/>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Stomach, Intestines &amp; Diaphrag</a:t>
            </a:r>
            <a:r>
              <a:rPr lang="en-US" sz="2000" b="1">
                <a:solidFill>
                  <a:srgbClr val="5E376C"/>
                </a:solidFill>
                <a:latin typeface="Georgia"/>
                <a:ea typeface="Georgia"/>
                <a:cs typeface="Georgia"/>
                <a:sym typeface="Georgia"/>
              </a:rPr>
              <a:t>m</a:t>
            </a:r>
            <a:endParaRPr sz="2000" b="0" i="0" u="none" strike="noStrike" cap="none">
              <a:solidFill>
                <a:schemeClr val="dk1"/>
              </a:solidFill>
              <a:latin typeface="Calibri"/>
              <a:ea typeface="Calibri"/>
              <a:cs typeface="Calibri"/>
              <a:sym typeface="Calibri"/>
            </a:endParaRPr>
          </a:p>
        </p:txBody>
      </p:sp>
      <p:sp>
        <p:nvSpPr>
          <p:cNvPr id="252" name="Google Shape;252;p17"/>
          <p:cNvSpPr/>
          <p:nvPr/>
        </p:nvSpPr>
        <p:spPr>
          <a:xfrm>
            <a:off x="320050" y="1207001"/>
            <a:ext cx="8503800" cy="14814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7"/>
          <p:cNvSpPr/>
          <p:nvPr/>
        </p:nvSpPr>
        <p:spPr>
          <a:xfrm>
            <a:off x="320052" y="1207001"/>
            <a:ext cx="73200" cy="14814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7"/>
          <p:cNvSpPr/>
          <p:nvPr/>
        </p:nvSpPr>
        <p:spPr>
          <a:xfrm>
            <a:off x="502920" y="1316736"/>
            <a:ext cx="320040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500"/>
              <a:buFont typeface="Georgia"/>
              <a:buNone/>
            </a:pPr>
            <a:r>
              <a:rPr lang="en-US" sz="1500" b="1" i="0" u="none" strike="noStrike" cap="none">
                <a:solidFill>
                  <a:srgbClr val="5E376C"/>
                </a:solidFill>
                <a:latin typeface="Georgia"/>
                <a:ea typeface="Georgia"/>
                <a:cs typeface="Georgia"/>
                <a:sym typeface="Georgia"/>
              </a:rPr>
              <a:t>Stomach &amp; Intestines</a:t>
            </a:r>
            <a:endParaRPr sz="1500" b="0" i="0" u="none" strike="noStrike" cap="none">
              <a:solidFill>
                <a:schemeClr val="dk1"/>
              </a:solidFill>
              <a:latin typeface="Calibri"/>
              <a:ea typeface="Calibri"/>
              <a:cs typeface="Calibri"/>
              <a:sym typeface="Calibri"/>
            </a:endParaRPr>
          </a:p>
        </p:txBody>
      </p:sp>
      <p:sp>
        <p:nvSpPr>
          <p:cNvPr id="257" name="Google Shape;257;p17"/>
          <p:cNvSpPr/>
          <p:nvPr/>
        </p:nvSpPr>
        <p:spPr>
          <a:xfrm>
            <a:off x="502920" y="1664208"/>
            <a:ext cx="320040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050"/>
              <a:buFont typeface=" Arial"/>
              <a:buNone/>
            </a:pPr>
            <a:r>
              <a:rPr lang="en-US" sz="1050" b="0" i="1" u="none" strike="noStrike" cap="none">
                <a:solidFill>
                  <a:srgbClr val="6B6B6B"/>
                </a:solidFill>
                <a:latin typeface=" Arial"/>
                <a:ea typeface=" Arial"/>
                <a:cs typeface=" Arial"/>
                <a:sym typeface=" Arial"/>
              </a:rPr>
              <a:t>T2 onward, worst in T3</a:t>
            </a:r>
            <a:endParaRPr sz="1050" b="0" i="0" u="none" strike="noStrike" cap="none">
              <a:solidFill>
                <a:schemeClr val="dk1"/>
              </a:solidFill>
              <a:latin typeface="Calibri"/>
              <a:ea typeface="Calibri"/>
              <a:cs typeface="Calibri"/>
              <a:sym typeface="Calibri"/>
            </a:endParaRPr>
          </a:p>
        </p:txBody>
      </p:sp>
      <p:sp>
        <p:nvSpPr>
          <p:cNvPr id="258" name="Google Shape;258;p17"/>
          <p:cNvSpPr/>
          <p:nvPr/>
        </p:nvSpPr>
        <p:spPr>
          <a:xfrm>
            <a:off x="3858768" y="1371600"/>
            <a:ext cx="4754880" cy="1316736"/>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Clr>
                <a:srgbClr val="2D2D2D"/>
              </a:buClr>
              <a:buSzPts val="1300"/>
              <a:buFont typeface=" Arial"/>
              <a:buNone/>
            </a:pPr>
            <a:r>
              <a:rPr lang="en-US" sz="1300" b="0" i="0" u="none" strike="noStrike" cap="none">
                <a:solidFill>
                  <a:srgbClr val="2D2D2D"/>
                </a:solidFill>
                <a:latin typeface=" Arial"/>
                <a:ea typeface=" Arial"/>
                <a:cs typeface=" Arial"/>
                <a:sym typeface=" Arial"/>
              </a:rPr>
              <a:t>Pushed upward and compressed by the growing uterus. Progesterone slows gut motility. Result: heartburn, constipation, bloating, and slower digestion. Heartburn worsens after meals and when lying flat.</a:t>
            </a:r>
            <a:endParaRPr sz="1300" b="0" i="0" u="none" strike="noStrike" cap="none">
              <a:solidFill>
                <a:schemeClr val="dk1"/>
              </a:solidFill>
              <a:latin typeface="Calibri"/>
              <a:ea typeface="Calibri"/>
              <a:cs typeface="Calibri"/>
              <a:sym typeface="Calibri"/>
            </a:endParaRPr>
          </a:p>
        </p:txBody>
      </p:sp>
      <p:sp>
        <p:nvSpPr>
          <p:cNvPr id="259" name="Google Shape;259;p17"/>
          <p:cNvSpPr/>
          <p:nvPr/>
        </p:nvSpPr>
        <p:spPr>
          <a:xfrm>
            <a:off x="320050" y="3035801"/>
            <a:ext cx="8503800" cy="14814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7"/>
          <p:cNvSpPr/>
          <p:nvPr/>
        </p:nvSpPr>
        <p:spPr>
          <a:xfrm>
            <a:off x="319998" y="3035801"/>
            <a:ext cx="73200" cy="14814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7"/>
          <p:cNvSpPr/>
          <p:nvPr/>
        </p:nvSpPr>
        <p:spPr>
          <a:xfrm>
            <a:off x="502920" y="3145536"/>
            <a:ext cx="320040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500"/>
              <a:buFont typeface="Georgia"/>
              <a:buNone/>
            </a:pPr>
            <a:r>
              <a:rPr lang="en-US" sz="1500" b="1" i="0" u="none" strike="noStrike" cap="none">
                <a:solidFill>
                  <a:srgbClr val="845995"/>
                </a:solidFill>
                <a:latin typeface="Georgia"/>
                <a:ea typeface="Georgia"/>
                <a:cs typeface="Georgia"/>
                <a:sym typeface="Georgia"/>
              </a:rPr>
              <a:t>Diaphragm</a:t>
            </a:r>
            <a:endParaRPr sz="1500" b="0" i="0" u="none" strike="noStrike" cap="none">
              <a:solidFill>
                <a:schemeClr val="dk1"/>
              </a:solidFill>
              <a:latin typeface="Calibri"/>
              <a:ea typeface="Calibri"/>
              <a:cs typeface="Calibri"/>
              <a:sym typeface="Calibri"/>
            </a:endParaRPr>
          </a:p>
        </p:txBody>
      </p:sp>
      <p:sp>
        <p:nvSpPr>
          <p:cNvPr id="264" name="Google Shape;264;p17"/>
          <p:cNvSpPr/>
          <p:nvPr/>
        </p:nvSpPr>
        <p:spPr>
          <a:xfrm>
            <a:off x="502920" y="3493008"/>
            <a:ext cx="320040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050"/>
              <a:buFont typeface=" Arial"/>
              <a:buNone/>
            </a:pPr>
            <a:r>
              <a:rPr lang="en-US" sz="1050" b="0" i="1" u="none" strike="noStrike" cap="none">
                <a:solidFill>
                  <a:srgbClr val="6B6B6B"/>
                </a:solidFill>
                <a:latin typeface=" Arial"/>
                <a:ea typeface=" Arial"/>
                <a:cs typeface=" Arial"/>
                <a:sym typeface=" Arial"/>
              </a:rPr>
              <a:t>Third trimester</a:t>
            </a:r>
            <a:endParaRPr sz="1050" b="0" i="0" u="none" strike="noStrike" cap="none">
              <a:solidFill>
                <a:schemeClr val="dk1"/>
              </a:solidFill>
              <a:latin typeface="Calibri"/>
              <a:ea typeface="Calibri"/>
              <a:cs typeface="Calibri"/>
              <a:sym typeface="Calibri"/>
            </a:endParaRPr>
          </a:p>
        </p:txBody>
      </p:sp>
      <p:sp>
        <p:nvSpPr>
          <p:cNvPr id="265" name="Google Shape;265;p17"/>
          <p:cNvSpPr/>
          <p:nvPr/>
        </p:nvSpPr>
        <p:spPr>
          <a:xfrm>
            <a:off x="3858768" y="3200400"/>
            <a:ext cx="4754880" cy="1316736"/>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Clr>
                <a:srgbClr val="2D2D2D"/>
              </a:buClr>
              <a:buSzPts val="1300"/>
              <a:buFont typeface=" Arial"/>
              <a:buNone/>
            </a:pPr>
            <a:r>
              <a:rPr lang="en-US" sz="1300" b="0" i="0" u="none" strike="noStrike" cap="none">
                <a:solidFill>
                  <a:srgbClr val="2D2D2D"/>
                </a:solidFill>
                <a:latin typeface=" Arial"/>
                <a:ea typeface=" Arial"/>
                <a:cs typeface=" Arial"/>
                <a:sym typeface=" Arial"/>
              </a:rPr>
              <a:t>Pushed upward by about 4 cm in T3, reducing lung capacity. Causes shortness of breath — especially lying flat or climbing stairs. Most clients feel relief when the baby drops (lightening) in late T3.</a:t>
            </a:r>
            <a:endParaRPr sz="1300" b="0" i="0" u="none" strike="noStrike" cap="none">
              <a:solidFill>
                <a:schemeClr val="dk1"/>
              </a:solidFill>
              <a:latin typeface="Calibri"/>
              <a:ea typeface="Calibri"/>
              <a:cs typeface="Calibri"/>
              <a:sym typeface="Calibri"/>
            </a:endParaRPr>
          </a:p>
        </p:txBody>
      </p:sp>
      <p:sp>
        <p:nvSpPr>
          <p:cNvPr id="266" name="Google Shape;266;p17"/>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7"/>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3"/>
        <p:cNvGrpSpPr/>
        <p:nvPr/>
      </p:nvGrpSpPr>
      <p:grpSpPr>
        <a:xfrm>
          <a:off x="0" y="0"/>
          <a:ext cx="0" cy="0"/>
          <a:chOff x="0" y="0"/>
          <a:chExt cx="0" cy="0"/>
        </a:xfrm>
      </p:grpSpPr>
      <p:sp>
        <p:nvSpPr>
          <p:cNvPr id="274" name="Google Shape;274;p18"/>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ANATOMY &amp; PHYSIOLOGY  ·  LOWER BODY &amp; SYSTEMIC</a:t>
            </a:r>
            <a:endParaRPr sz="900" b="0" i="0" u="none" strike="noStrike" cap="none">
              <a:solidFill>
                <a:schemeClr val="dk1"/>
              </a:solidFill>
              <a:latin typeface="Calibri"/>
              <a:ea typeface="Calibri"/>
              <a:cs typeface="Calibri"/>
              <a:sym typeface="Calibri"/>
            </a:endParaRPr>
          </a:p>
        </p:txBody>
      </p:sp>
      <p:sp>
        <p:nvSpPr>
          <p:cNvPr id="275" name="Google Shape;275;p18"/>
          <p:cNvSpPr/>
          <p:nvPr/>
        </p:nvSpPr>
        <p:spPr>
          <a:xfrm>
            <a:off x="411480" y="457198"/>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Bladder, Kidneys &amp; Cardiovascular System</a:t>
            </a:r>
            <a:endParaRPr sz="2000" b="0" i="0" u="none" strike="noStrike" cap="none">
              <a:solidFill>
                <a:schemeClr val="dk1"/>
              </a:solidFill>
              <a:latin typeface="Calibri"/>
              <a:ea typeface="Calibri"/>
              <a:cs typeface="Calibri"/>
              <a:sym typeface="Calibri"/>
            </a:endParaRPr>
          </a:p>
        </p:txBody>
      </p:sp>
      <p:sp>
        <p:nvSpPr>
          <p:cNvPr id="276" name="Google Shape;276;p18"/>
          <p:cNvSpPr/>
          <p:nvPr/>
        </p:nvSpPr>
        <p:spPr>
          <a:xfrm>
            <a:off x="320050" y="1115574"/>
            <a:ext cx="8503800" cy="9819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8"/>
          <p:cNvSpPr/>
          <p:nvPr/>
        </p:nvSpPr>
        <p:spPr>
          <a:xfrm>
            <a:off x="320047" y="1115574"/>
            <a:ext cx="73200" cy="9819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8"/>
          <p:cNvSpPr/>
          <p:nvPr/>
        </p:nvSpPr>
        <p:spPr>
          <a:xfrm>
            <a:off x="502920" y="1207008"/>
            <a:ext cx="3200400" cy="2926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450"/>
              <a:buFont typeface="Georgia"/>
              <a:buNone/>
            </a:pPr>
            <a:r>
              <a:rPr lang="en-US" sz="1450" b="1" i="0" u="none" strike="noStrike" cap="none">
                <a:solidFill>
                  <a:srgbClr val="5E376C"/>
                </a:solidFill>
                <a:latin typeface="Georgia"/>
                <a:ea typeface="Georgia"/>
                <a:cs typeface="Georgia"/>
                <a:sym typeface="Georgia"/>
              </a:rPr>
              <a:t>Bladder</a:t>
            </a:r>
            <a:endParaRPr sz="1450" b="0" i="0" u="none" strike="noStrike" cap="none">
              <a:solidFill>
                <a:schemeClr val="dk1"/>
              </a:solidFill>
              <a:latin typeface="Calibri"/>
              <a:ea typeface="Calibri"/>
              <a:cs typeface="Calibri"/>
              <a:sym typeface="Calibri"/>
            </a:endParaRPr>
          </a:p>
        </p:txBody>
      </p:sp>
      <p:sp>
        <p:nvSpPr>
          <p:cNvPr id="281" name="Google Shape;281;p18"/>
          <p:cNvSpPr/>
          <p:nvPr/>
        </p:nvSpPr>
        <p:spPr>
          <a:xfrm>
            <a:off x="502920" y="1536192"/>
            <a:ext cx="320040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000"/>
              <a:buFont typeface=" Arial"/>
              <a:buNone/>
            </a:pPr>
            <a:r>
              <a:rPr lang="en-US" sz="1000" b="0" i="1" u="none" strike="noStrike" cap="none">
                <a:solidFill>
                  <a:srgbClr val="6B6B6B"/>
                </a:solidFill>
                <a:latin typeface=" Arial"/>
                <a:ea typeface=" Arial"/>
                <a:cs typeface=" Arial"/>
                <a:sym typeface=" Arial"/>
              </a:rPr>
              <a:t>T1 and T3</a:t>
            </a:r>
            <a:endParaRPr sz="1000" b="0" i="0" u="none" strike="noStrike" cap="none">
              <a:solidFill>
                <a:schemeClr val="dk1"/>
              </a:solidFill>
              <a:latin typeface="Calibri"/>
              <a:ea typeface="Calibri"/>
              <a:cs typeface="Calibri"/>
              <a:sym typeface="Calibri"/>
            </a:endParaRPr>
          </a:p>
        </p:txBody>
      </p:sp>
      <p:sp>
        <p:nvSpPr>
          <p:cNvPr id="282" name="Google Shape;282;p18"/>
          <p:cNvSpPr/>
          <p:nvPr/>
        </p:nvSpPr>
        <p:spPr>
          <a:xfrm>
            <a:off x="3840480" y="1243584"/>
            <a:ext cx="4773168" cy="932688"/>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50"/>
              <a:buFont typeface=" Arial"/>
              <a:buNone/>
            </a:pPr>
            <a:r>
              <a:rPr lang="en-US" sz="1250" b="0" i="0" u="none" strike="noStrike" cap="none">
                <a:solidFill>
                  <a:srgbClr val="2D2D2D"/>
                </a:solidFill>
                <a:latin typeface=" Arial"/>
                <a:ea typeface=" Arial"/>
                <a:cs typeface=" Arial"/>
                <a:sym typeface=" Arial"/>
              </a:rPr>
              <a:t>Compressed by hCG in T1 and by the baby's head in T3. Frequent urination is entirely structural. Clients who reduce fluids to cope risk dehydration and UTIs.</a:t>
            </a:r>
            <a:endParaRPr sz="1250" b="0" i="0" u="none" strike="noStrike" cap="none">
              <a:solidFill>
                <a:schemeClr val="dk1"/>
              </a:solidFill>
              <a:latin typeface="Calibri"/>
              <a:ea typeface="Calibri"/>
              <a:cs typeface="Calibri"/>
              <a:sym typeface="Calibri"/>
            </a:endParaRPr>
          </a:p>
        </p:txBody>
      </p:sp>
      <p:sp>
        <p:nvSpPr>
          <p:cNvPr id="283" name="Google Shape;283;p18"/>
          <p:cNvSpPr/>
          <p:nvPr/>
        </p:nvSpPr>
        <p:spPr>
          <a:xfrm>
            <a:off x="320050" y="2414023"/>
            <a:ext cx="8503800" cy="9327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8"/>
          <p:cNvSpPr/>
          <p:nvPr/>
        </p:nvSpPr>
        <p:spPr>
          <a:xfrm>
            <a:off x="320002" y="2414023"/>
            <a:ext cx="73200" cy="9327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8"/>
          <p:cNvSpPr/>
          <p:nvPr/>
        </p:nvSpPr>
        <p:spPr>
          <a:xfrm>
            <a:off x="502920" y="2505456"/>
            <a:ext cx="3200400" cy="2926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450"/>
              <a:buFont typeface="Georgia"/>
              <a:buNone/>
            </a:pPr>
            <a:r>
              <a:rPr lang="en-US" sz="1450" b="1" i="0" u="none" strike="noStrike" cap="none">
                <a:solidFill>
                  <a:srgbClr val="845995"/>
                </a:solidFill>
                <a:latin typeface="Georgia"/>
                <a:ea typeface="Georgia"/>
                <a:cs typeface="Georgia"/>
                <a:sym typeface="Georgia"/>
              </a:rPr>
              <a:t>Kidneys</a:t>
            </a:r>
            <a:endParaRPr sz="1450" b="0" i="0" u="none" strike="noStrike" cap="none">
              <a:solidFill>
                <a:schemeClr val="dk1"/>
              </a:solidFill>
              <a:latin typeface="Calibri"/>
              <a:ea typeface="Calibri"/>
              <a:cs typeface="Calibri"/>
              <a:sym typeface="Calibri"/>
            </a:endParaRPr>
          </a:p>
        </p:txBody>
      </p:sp>
      <p:sp>
        <p:nvSpPr>
          <p:cNvPr id="288" name="Google Shape;288;p18"/>
          <p:cNvSpPr/>
          <p:nvPr/>
        </p:nvSpPr>
        <p:spPr>
          <a:xfrm>
            <a:off x="502920" y="2834640"/>
            <a:ext cx="320040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000"/>
              <a:buFont typeface=" Arial"/>
              <a:buNone/>
            </a:pPr>
            <a:r>
              <a:rPr lang="en-US" sz="1000" b="0" i="1" u="none" strike="noStrike" cap="none">
                <a:solidFill>
                  <a:srgbClr val="6B6B6B"/>
                </a:solidFill>
                <a:latin typeface=" Arial"/>
                <a:ea typeface=" Arial"/>
                <a:cs typeface=" Arial"/>
                <a:sym typeface=" Arial"/>
              </a:rPr>
              <a:t>Throughout pregnancy</a:t>
            </a:r>
            <a:endParaRPr sz="1000" b="0" i="0" u="none" strike="noStrike" cap="none">
              <a:solidFill>
                <a:schemeClr val="dk1"/>
              </a:solidFill>
              <a:latin typeface="Calibri"/>
              <a:ea typeface="Calibri"/>
              <a:cs typeface="Calibri"/>
              <a:sym typeface="Calibri"/>
            </a:endParaRPr>
          </a:p>
        </p:txBody>
      </p:sp>
      <p:sp>
        <p:nvSpPr>
          <p:cNvPr id="289" name="Google Shape;289;p18"/>
          <p:cNvSpPr/>
          <p:nvPr/>
        </p:nvSpPr>
        <p:spPr>
          <a:xfrm>
            <a:off x="3840480" y="2542032"/>
            <a:ext cx="4773168" cy="932688"/>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50"/>
              <a:buFont typeface=" Arial"/>
              <a:buNone/>
            </a:pPr>
            <a:r>
              <a:rPr lang="en-US" sz="1250" b="0" i="0" u="none" strike="noStrike" cap="none">
                <a:solidFill>
                  <a:srgbClr val="2D2D2D"/>
                </a:solidFill>
                <a:latin typeface=" Arial"/>
                <a:ea typeface=" Arial"/>
                <a:cs typeface=" Arial"/>
                <a:sym typeface=" Arial"/>
              </a:rPr>
              <a:t>Filtration rate increases 60–80% to handle expanded blood volume. Mild glucose in urine (glycosuria) is normal — the kidneys are simply filtering more than usual.</a:t>
            </a:r>
            <a:endParaRPr sz="1250" b="0" i="0" u="none" strike="noStrike" cap="none">
              <a:solidFill>
                <a:schemeClr val="dk1"/>
              </a:solidFill>
              <a:latin typeface="Calibri"/>
              <a:ea typeface="Calibri"/>
              <a:cs typeface="Calibri"/>
              <a:sym typeface="Calibri"/>
            </a:endParaRPr>
          </a:p>
        </p:txBody>
      </p:sp>
      <p:sp>
        <p:nvSpPr>
          <p:cNvPr id="290" name="Google Shape;290;p18"/>
          <p:cNvSpPr/>
          <p:nvPr/>
        </p:nvSpPr>
        <p:spPr>
          <a:xfrm>
            <a:off x="320050" y="3712473"/>
            <a:ext cx="8503800" cy="9819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8"/>
          <p:cNvSpPr/>
          <p:nvPr/>
        </p:nvSpPr>
        <p:spPr>
          <a:xfrm>
            <a:off x="319995" y="3712473"/>
            <a:ext cx="73200" cy="9819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8"/>
          <p:cNvSpPr/>
          <p:nvPr/>
        </p:nvSpPr>
        <p:spPr>
          <a:xfrm>
            <a:off x="502920" y="3803904"/>
            <a:ext cx="3200400" cy="2926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450"/>
              <a:buFont typeface="Georgia"/>
              <a:buNone/>
            </a:pPr>
            <a:r>
              <a:rPr lang="en-US" sz="1450" b="1" i="0" u="none" strike="noStrike" cap="none">
                <a:solidFill>
                  <a:srgbClr val="5E376C"/>
                </a:solidFill>
                <a:latin typeface="Georgia"/>
                <a:ea typeface="Georgia"/>
                <a:cs typeface="Georgia"/>
                <a:sym typeface="Georgia"/>
              </a:rPr>
              <a:t>Heart &amp; Circulation</a:t>
            </a:r>
            <a:endParaRPr sz="1450" b="0" i="0" u="none" strike="noStrike" cap="none">
              <a:solidFill>
                <a:schemeClr val="dk1"/>
              </a:solidFill>
              <a:latin typeface="Calibri"/>
              <a:ea typeface="Calibri"/>
              <a:cs typeface="Calibri"/>
              <a:sym typeface="Calibri"/>
            </a:endParaRPr>
          </a:p>
        </p:txBody>
      </p:sp>
      <p:sp>
        <p:nvSpPr>
          <p:cNvPr id="294" name="Google Shape;294;p18"/>
          <p:cNvSpPr/>
          <p:nvPr/>
        </p:nvSpPr>
        <p:spPr>
          <a:xfrm>
            <a:off x="502920" y="4133088"/>
            <a:ext cx="320040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000"/>
              <a:buFont typeface=" Arial"/>
              <a:buNone/>
            </a:pPr>
            <a:r>
              <a:rPr lang="en-US" sz="1000" b="0" i="1" u="none" strike="noStrike" cap="none">
                <a:solidFill>
                  <a:srgbClr val="6B6B6B"/>
                </a:solidFill>
                <a:latin typeface=" Arial"/>
                <a:ea typeface=" Arial"/>
                <a:cs typeface=" Arial"/>
                <a:sym typeface=" Arial"/>
              </a:rPr>
              <a:t>T1 through birth</a:t>
            </a:r>
            <a:endParaRPr sz="1000" b="0" i="0" u="none" strike="noStrike" cap="none">
              <a:solidFill>
                <a:schemeClr val="dk1"/>
              </a:solidFill>
              <a:latin typeface="Calibri"/>
              <a:ea typeface="Calibri"/>
              <a:cs typeface="Calibri"/>
              <a:sym typeface="Calibri"/>
            </a:endParaRPr>
          </a:p>
        </p:txBody>
      </p:sp>
      <p:sp>
        <p:nvSpPr>
          <p:cNvPr id="295" name="Google Shape;295;p18"/>
          <p:cNvSpPr/>
          <p:nvPr/>
        </p:nvSpPr>
        <p:spPr>
          <a:xfrm>
            <a:off x="3840480" y="3840480"/>
            <a:ext cx="4773168" cy="932688"/>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250"/>
              <a:buFont typeface=" Arial"/>
              <a:buNone/>
            </a:pPr>
            <a:r>
              <a:rPr lang="en-US" sz="1250" b="0" i="0" u="none" strike="noStrike" cap="none">
                <a:solidFill>
                  <a:srgbClr val="2D2D2D"/>
                </a:solidFill>
                <a:latin typeface=" Arial"/>
                <a:ea typeface=" Arial"/>
                <a:cs typeface=" Arial"/>
                <a:sym typeface=" Arial"/>
              </a:rPr>
              <a:t>Blood volume increases 40–50%. Heart rate rises 10–20 bpm. Cardiac output increases 30–50%. This explains fatigue, dizziness on standing, and the swelling that comes from fluid redistribution.</a:t>
            </a:r>
            <a:endParaRPr sz="1250" b="0" i="0" u="none" strike="noStrike" cap="none">
              <a:solidFill>
                <a:schemeClr val="dk1"/>
              </a:solidFill>
              <a:latin typeface="Calibri"/>
              <a:ea typeface="Calibri"/>
              <a:cs typeface="Calibri"/>
              <a:sym typeface="Calibri"/>
            </a:endParaRPr>
          </a:p>
        </p:txBody>
      </p:sp>
      <p:sp>
        <p:nvSpPr>
          <p:cNvPr id="296" name="Google Shape;296;p18"/>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8"/>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0" name="Google Shape;630;p36"/>
          <p:cNvSpPr/>
          <p:nvPr/>
        </p:nvSpPr>
        <p:spPr>
          <a:xfrm>
            <a:off x="0" y="0"/>
            <a:ext cx="9144000" cy="51435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6"/>
          <p:cNvSpPr/>
          <p:nvPr/>
        </p:nvSpPr>
        <p:spPr>
          <a:xfrm>
            <a:off x="0" y="5070348"/>
            <a:ext cx="9144000" cy="73152"/>
          </a:xfrm>
          <a:prstGeom prst="rect">
            <a:avLst/>
          </a:prstGeom>
          <a:solidFill>
            <a:srgbClr val="D4BADD"/>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6"/>
          <p:cNvSpPr/>
          <p:nvPr/>
        </p:nvSpPr>
        <p:spPr>
          <a:xfrm>
            <a:off x="0" y="1234440"/>
            <a:ext cx="9144000" cy="8229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6200"/>
              <a:buFont typeface="Georgia"/>
              <a:buNone/>
            </a:pPr>
            <a:r>
              <a:rPr lang="en-US" sz="6200" b="1" i="0" u="none" strike="noStrike" cap="none">
                <a:solidFill>
                  <a:srgbClr val="FFFFFF"/>
                </a:solidFill>
                <a:latin typeface="Georgia"/>
                <a:ea typeface="Georgia"/>
                <a:cs typeface="Georgia"/>
                <a:sym typeface="Georgia"/>
              </a:rPr>
              <a:t>BREAK</a:t>
            </a:r>
            <a:endParaRPr sz="6200" b="0" i="0" u="none" strike="noStrike" cap="none">
              <a:solidFill>
                <a:schemeClr val="dk1"/>
              </a:solidFill>
              <a:latin typeface="Calibri"/>
              <a:ea typeface="Calibri"/>
              <a:cs typeface="Calibri"/>
              <a:sym typeface="Calibri"/>
            </a:endParaRPr>
          </a:p>
        </p:txBody>
      </p:sp>
      <p:sp>
        <p:nvSpPr>
          <p:cNvPr id="633" name="Google Shape;633;p36"/>
          <p:cNvSpPr/>
          <p:nvPr/>
        </p:nvSpPr>
        <p:spPr>
          <a:xfrm>
            <a:off x="0" y="2212848"/>
            <a:ext cx="9144000" cy="47548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4BADD"/>
              </a:buClr>
              <a:buSzPts val="2400"/>
              <a:buFont typeface="Georgia"/>
              <a:buNone/>
            </a:pPr>
            <a:r>
              <a:rPr lang="en-US" sz="2400" b="0" i="1" u="none" strike="noStrike" cap="none">
                <a:solidFill>
                  <a:srgbClr val="D4BADD"/>
                </a:solidFill>
                <a:latin typeface="Georgia"/>
                <a:ea typeface="Georgia"/>
                <a:cs typeface="Georgia"/>
                <a:sym typeface="Georgia"/>
              </a:rPr>
              <a:t>6:20 PM — 6:30 PM · 10 minutes</a:t>
            </a:r>
            <a:endParaRPr sz="2400" b="0" i="0" u="none" strike="noStrike" cap="none">
              <a:solidFill>
                <a:schemeClr val="dk1"/>
              </a:solidFill>
              <a:latin typeface="Calibri"/>
              <a:ea typeface="Calibri"/>
              <a:cs typeface="Calibri"/>
              <a:sym typeface="Calibri"/>
            </a:endParaRPr>
          </a:p>
        </p:txBody>
      </p:sp>
      <p:sp>
        <p:nvSpPr>
          <p:cNvPr id="634" name="Google Shape;634;p36"/>
          <p:cNvSpPr/>
          <p:nvPr/>
        </p:nvSpPr>
        <p:spPr>
          <a:xfrm>
            <a:off x="1371600" y="2926080"/>
            <a:ext cx="6400800" cy="77724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D4BADD"/>
              </a:buClr>
              <a:buSzPts val="1400"/>
              <a:buFont typeface=" Arial"/>
              <a:buNone/>
            </a:pPr>
            <a:r>
              <a:rPr lang="en-US" sz="1400" b="0" i="0" u="none" strike="noStrike" cap="none">
                <a:solidFill>
                  <a:srgbClr val="D4BADD"/>
                </a:solidFill>
                <a:latin typeface=" Arial"/>
                <a:ea typeface=" Arial"/>
                <a:cs typeface=" Arial"/>
                <a:sym typeface=" Arial"/>
              </a:rPr>
              <a:t>Step away, stretch, hydrate, reset.</a:t>
            </a:r>
            <a:endParaRPr sz="1400" b="0" i="0" u="none" strike="noStrike" cap="none">
              <a:solidFill>
                <a:schemeClr val="dk1"/>
              </a:solidFill>
              <a:latin typeface="Calibri"/>
              <a:ea typeface="Calibri"/>
              <a:cs typeface="Calibri"/>
              <a:sym typeface="Calibri"/>
            </a:endParaRPr>
          </a:p>
          <a:p>
            <a:pPr marL="0" marR="0" lvl="0" indent="0" algn="ctr" rtl="0">
              <a:lnSpc>
                <a:spcPct val="140000"/>
              </a:lnSpc>
              <a:spcBef>
                <a:spcPts val="0"/>
              </a:spcBef>
              <a:spcAft>
                <a:spcPts val="0"/>
              </a:spcAft>
              <a:buClr>
                <a:srgbClr val="D4BADD"/>
              </a:buClr>
              <a:buSzPts val="1400"/>
              <a:buFont typeface=" Arial"/>
              <a:buNone/>
            </a:pPr>
            <a:r>
              <a:rPr lang="en-US" sz="1400" b="0" i="0" u="none" strike="noStrike" cap="none">
                <a:solidFill>
                  <a:srgbClr val="D4BADD"/>
                </a:solidFill>
                <a:latin typeface=" Arial"/>
                <a:ea typeface=" Arial"/>
                <a:cs typeface=" Arial"/>
                <a:sym typeface=" Arial"/>
              </a:rPr>
              <a:t>Back at 6:30 PM — trimesters &amp; discomforts up next.</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3"/>
        <p:cNvGrpSpPr/>
        <p:nvPr/>
      </p:nvGrpSpPr>
      <p:grpSpPr>
        <a:xfrm>
          <a:off x="0" y="0"/>
          <a:ext cx="0" cy="0"/>
          <a:chOff x="0" y="0"/>
          <a:chExt cx="0" cy="0"/>
        </a:xfrm>
      </p:grpSpPr>
      <p:sp>
        <p:nvSpPr>
          <p:cNvPr id="304" name="Google Shape;304;p19"/>
          <p:cNvSpPr/>
          <p:nvPr/>
        </p:nvSpPr>
        <p:spPr>
          <a:xfrm>
            <a:off x="0" y="0"/>
            <a:ext cx="9144000" cy="9144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411480" y="73152"/>
            <a:ext cx="832104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900"/>
              <a:buFont typeface=" Arial"/>
              <a:buNone/>
            </a:pPr>
            <a:r>
              <a:rPr lang="en-US" sz="900" b="0" i="0" u="none" strike="noStrike" cap="none">
                <a:solidFill>
                  <a:srgbClr val="D4BADD"/>
                </a:solidFill>
                <a:latin typeface=" Arial"/>
                <a:ea typeface=" Arial"/>
                <a:cs typeface=" Arial"/>
                <a:sym typeface=" Arial"/>
              </a:rPr>
              <a:t>FIRST TRIMESTER  </a:t>
            </a:r>
            <a:endParaRPr sz="900" b="0" i="0" u="none" strike="noStrike" cap="none">
              <a:solidFill>
                <a:schemeClr val="dk1"/>
              </a:solidFill>
              <a:latin typeface="Calibri"/>
              <a:ea typeface="Calibri"/>
              <a:cs typeface="Calibri"/>
              <a:sym typeface="Calibri"/>
            </a:endParaRPr>
          </a:p>
        </p:txBody>
      </p:sp>
      <p:sp>
        <p:nvSpPr>
          <p:cNvPr id="306" name="Google Shape;306;p19"/>
          <p:cNvSpPr/>
          <p:nvPr/>
        </p:nvSpPr>
        <p:spPr>
          <a:xfrm>
            <a:off x="411480" y="310896"/>
            <a:ext cx="8321040" cy="53035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200"/>
              <a:buFont typeface="Georgia"/>
              <a:buNone/>
            </a:pPr>
            <a:r>
              <a:rPr lang="en-US" sz="2200" b="1" i="0" u="none" strike="noStrike" cap="none">
                <a:solidFill>
                  <a:srgbClr val="FFFFFF"/>
                </a:solidFill>
                <a:latin typeface="Georgia"/>
                <a:ea typeface="Georgia"/>
                <a:cs typeface="Georgia"/>
                <a:sym typeface="Georgia"/>
              </a:rPr>
              <a:t>The Foundation — Critical Development</a:t>
            </a:r>
            <a:endParaRPr sz="2200" b="0" i="0" u="none" strike="noStrike" cap="none">
              <a:solidFill>
                <a:schemeClr val="dk1"/>
              </a:solidFill>
              <a:latin typeface="Calibri"/>
              <a:ea typeface="Calibri"/>
              <a:cs typeface="Calibri"/>
              <a:sym typeface="Calibri"/>
            </a:endParaRPr>
          </a:p>
        </p:txBody>
      </p:sp>
      <p:sp>
        <p:nvSpPr>
          <p:cNvPr id="309" name="Google Shape;309;p19"/>
          <p:cNvSpPr/>
          <p:nvPr/>
        </p:nvSpPr>
        <p:spPr>
          <a:xfrm>
            <a:off x="429713" y="1336948"/>
            <a:ext cx="8046600" cy="21201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Day 28: neural tube closes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Weeks 5–8: all major organs form</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 8: now a fetus — fingers form</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 10: placenta takes over</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 13: 3 inches, facial features</a:t>
            </a:r>
            <a:endParaRPr sz="1500" b="0" i="0" u="none" strike="noStrike" cap="none">
              <a:solidFill>
                <a:schemeClr val="dk1"/>
              </a:solidFill>
              <a:latin typeface="Calibri"/>
              <a:ea typeface="Calibri"/>
              <a:cs typeface="Calibri"/>
              <a:sym typeface="Calibri"/>
            </a:endParaRPr>
          </a:p>
        </p:txBody>
      </p:sp>
      <p:sp>
        <p:nvSpPr>
          <p:cNvPr id="310" name="Google Shape;310;p19"/>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pic>
        <p:nvPicPr>
          <p:cNvPr id="313" name="Google Shape;313;p19" title="Gemini_Generated_Image_c5t6coc5t6coc5t6.png"/>
          <p:cNvPicPr preferRelativeResize="0"/>
          <p:nvPr/>
        </p:nvPicPr>
        <p:blipFill rotWithShape="1">
          <a:blip r:embed="rId3">
            <a:alphaModFix/>
          </a:blip>
          <a:srcRect t="17469" b="10759"/>
          <a:stretch/>
        </p:blipFill>
        <p:spPr>
          <a:xfrm>
            <a:off x="1920225" y="3457113"/>
            <a:ext cx="5029223" cy="1247649"/>
          </a:xfrm>
          <a:prstGeom prst="rect">
            <a:avLst/>
          </a:prstGeom>
          <a:noFill/>
          <a:ln>
            <a:noFill/>
          </a:ln>
        </p:spPr>
      </p:pic>
      <p:pic>
        <p:nvPicPr>
          <p:cNvPr id="314" name="Picture 313" descr="fetus_t1.png"/>
          <p:cNvPicPr>
            <a:picLocks noChangeAspect="1"/>
          </p:cNvPicPr>
          <p:nvPr/>
        </p:nvPicPr>
        <p:blipFill>
          <a:blip r:embed="rId4"/>
          <a:stretch>
            <a:fillRect/>
          </a:stretch>
        </p:blipFill>
        <p:spPr>
          <a:xfrm>
            <a:off x="1371600" y="3520440"/>
            <a:ext cx="6400800" cy="11062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20"/>
          <p:cNvSpPr/>
          <p:nvPr/>
        </p:nvSpPr>
        <p:spPr>
          <a:xfrm>
            <a:off x="0" y="0"/>
            <a:ext cx="9144000" cy="9144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0"/>
          <p:cNvSpPr/>
          <p:nvPr/>
        </p:nvSpPr>
        <p:spPr>
          <a:xfrm>
            <a:off x="411480" y="73152"/>
            <a:ext cx="832104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900"/>
              <a:buFont typeface=" Arial"/>
              <a:buNone/>
            </a:pPr>
            <a:r>
              <a:rPr lang="en-US" sz="900" b="0" i="0" u="none" strike="noStrike" cap="none">
                <a:solidFill>
                  <a:srgbClr val="D4BADD"/>
                </a:solidFill>
                <a:latin typeface=" Arial"/>
                <a:ea typeface=" Arial"/>
                <a:cs typeface=" Arial"/>
                <a:sym typeface=" Arial"/>
              </a:rPr>
              <a:t>FIRST TRIMESTER </a:t>
            </a:r>
            <a:endParaRPr sz="900" b="0" i="0" u="none" strike="noStrike" cap="none">
              <a:solidFill>
                <a:schemeClr val="dk1"/>
              </a:solidFill>
              <a:latin typeface="Calibri"/>
              <a:ea typeface="Calibri"/>
              <a:cs typeface="Calibri"/>
              <a:sym typeface="Calibri"/>
            </a:endParaRPr>
          </a:p>
        </p:txBody>
      </p:sp>
      <p:sp>
        <p:nvSpPr>
          <p:cNvPr id="321" name="Google Shape;321;p20"/>
          <p:cNvSpPr/>
          <p:nvPr/>
        </p:nvSpPr>
        <p:spPr>
          <a:xfrm>
            <a:off x="411480" y="310896"/>
            <a:ext cx="8321040" cy="53035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200"/>
              <a:buFont typeface="Georgia"/>
              <a:buNone/>
            </a:pPr>
            <a:r>
              <a:rPr lang="en-US" sz="2200" b="1" i="0" u="none" strike="noStrike" cap="none">
                <a:solidFill>
                  <a:srgbClr val="FFFFFF"/>
                </a:solidFill>
                <a:latin typeface="Georgia"/>
                <a:ea typeface="Georgia"/>
                <a:cs typeface="Georgia"/>
                <a:sym typeface="Georgia"/>
              </a:rPr>
              <a:t>Often the Hardest — With No Visible Bump</a:t>
            </a:r>
            <a:endParaRPr sz="2200" b="0" i="0" u="none" strike="noStrike" cap="none">
              <a:solidFill>
                <a:schemeClr val="dk1"/>
              </a:solidFill>
              <a:latin typeface="Calibri"/>
              <a:ea typeface="Calibri"/>
              <a:cs typeface="Calibri"/>
              <a:sym typeface="Calibri"/>
            </a:endParaRPr>
          </a:p>
        </p:txBody>
      </p:sp>
      <p:sp>
        <p:nvSpPr>
          <p:cNvPr id="324" name="Google Shape;324;p20"/>
          <p:cNvSpPr/>
          <p:nvPr/>
        </p:nvSpPr>
        <p:spPr>
          <a:xfrm>
            <a:off x="566875" y="1657123"/>
            <a:ext cx="8046600" cy="26247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Nausea (70–80%) — not just morning</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Extreme fatigue — building a placenta</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Heightened smell, food aversions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Pregnancy feels surreal — no bump yet</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Highest miscarriage risk — anxiety work</a:t>
            </a:r>
            <a:endParaRPr sz="1500" b="0" i="0" u="none" strike="noStrike" cap="none">
              <a:solidFill>
                <a:schemeClr val="dk1"/>
              </a:solidFill>
              <a:latin typeface="Calibri"/>
              <a:ea typeface="Calibri"/>
              <a:cs typeface="Calibri"/>
              <a:sym typeface="Calibri"/>
            </a:endParaRPr>
          </a:p>
        </p:txBody>
      </p:sp>
      <p:sp>
        <p:nvSpPr>
          <p:cNvPr id="325" name="Google Shape;325;p20"/>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0"/>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2"/>
        <p:cNvGrpSpPr/>
        <p:nvPr/>
      </p:nvGrpSpPr>
      <p:grpSpPr>
        <a:xfrm>
          <a:off x="0" y="0"/>
          <a:ext cx="0" cy="0"/>
          <a:chOff x="0" y="0"/>
          <a:chExt cx="0" cy="0"/>
        </a:xfrm>
      </p:grpSpPr>
      <p:sp>
        <p:nvSpPr>
          <p:cNvPr id="333" name="Google Shape;333;p21"/>
          <p:cNvSpPr/>
          <p:nvPr/>
        </p:nvSpPr>
        <p:spPr>
          <a:xfrm>
            <a:off x="0" y="0"/>
            <a:ext cx="9144000" cy="9144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1"/>
          <p:cNvSpPr/>
          <p:nvPr/>
        </p:nvSpPr>
        <p:spPr>
          <a:xfrm>
            <a:off x="411480" y="73152"/>
            <a:ext cx="832104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900"/>
              <a:buFont typeface=" Arial"/>
              <a:buNone/>
            </a:pPr>
            <a:r>
              <a:rPr lang="en-US" sz="900" b="0" i="0" u="none" strike="noStrike" cap="none">
                <a:solidFill>
                  <a:srgbClr val="D4BADD"/>
                </a:solidFill>
                <a:latin typeface=" Arial"/>
                <a:ea typeface=" Arial"/>
                <a:cs typeface=" Arial"/>
                <a:sym typeface=" Arial"/>
              </a:rPr>
              <a:t>SECOND TRIMESTER </a:t>
            </a:r>
            <a:endParaRPr sz="900" b="0" i="0" u="none" strike="noStrike" cap="none">
              <a:solidFill>
                <a:schemeClr val="dk1"/>
              </a:solidFill>
              <a:latin typeface="Calibri"/>
              <a:ea typeface="Calibri"/>
              <a:cs typeface="Calibri"/>
              <a:sym typeface="Calibri"/>
            </a:endParaRPr>
          </a:p>
        </p:txBody>
      </p:sp>
      <p:sp>
        <p:nvSpPr>
          <p:cNvPr id="335" name="Google Shape;335;p21"/>
          <p:cNvSpPr/>
          <p:nvPr/>
        </p:nvSpPr>
        <p:spPr>
          <a:xfrm>
            <a:off x="411480" y="310896"/>
            <a:ext cx="8321040" cy="53035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200"/>
              <a:buFont typeface="Georgia"/>
              <a:buNone/>
            </a:pPr>
            <a:r>
              <a:rPr lang="en-US" sz="2200" b="1" i="0" u="none" strike="noStrike" cap="none">
                <a:solidFill>
                  <a:srgbClr val="FFFFFF"/>
                </a:solidFill>
                <a:latin typeface="Georgia"/>
                <a:ea typeface="Georgia"/>
                <a:cs typeface="Georgia"/>
                <a:sym typeface="Georgia"/>
              </a:rPr>
              <a:t>The Growth Surge — Senses &amp; Viability</a:t>
            </a:r>
            <a:endParaRPr sz="2200" b="0" i="0" u="none" strike="noStrike" cap="none">
              <a:solidFill>
                <a:schemeClr val="dk1"/>
              </a:solidFill>
              <a:latin typeface="Calibri"/>
              <a:ea typeface="Calibri"/>
              <a:cs typeface="Calibri"/>
              <a:sym typeface="Calibri"/>
            </a:endParaRPr>
          </a:p>
        </p:txBody>
      </p:sp>
      <p:sp>
        <p:nvSpPr>
          <p:cNvPr id="338" name="Google Shape;338;p21"/>
          <p:cNvSpPr/>
          <p:nvPr/>
        </p:nvSpPr>
        <p:spPr>
          <a:xfrm>
            <a:off x="566875" y="1441098"/>
            <a:ext cx="8046600" cy="22884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 16: fingerprints form</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Weeks 18–22: quickening — first kicks felt</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 20: swallows, tastes, hears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 24: viability threshold</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 27: eyes beginning to open</a:t>
            </a:r>
            <a:endParaRPr sz="1500" b="0" i="0" u="none" strike="noStrike" cap="none">
              <a:solidFill>
                <a:schemeClr val="dk1"/>
              </a:solidFill>
              <a:latin typeface="Calibri"/>
              <a:ea typeface="Calibri"/>
              <a:cs typeface="Calibri"/>
              <a:sym typeface="Calibri"/>
            </a:endParaRPr>
          </a:p>
        </p:txBody>
      </p:sp>
      <p:sp>
        <p:nvSpPr>
          <p:cNvPr id="339" name="Google Shape;339;p21"/>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1"/>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pic>
        <p:nvPicPr>
          <p:cNvPr id="342" name="Picture 341" descr="fetus_t2.png"/>
          <p:cNvPicPr>
            <a:picLocks noChangeAspect="1"/>
          </p:cNvPicPr>
          <p:nvPr/>
        </p:nvPicPr>
        <p:blipFill>
          <a:blip r:embed="rId3"/>
          <a:stretch>
            <a:fillRect/>
          </a:stretch>
        </p:blipFill>
        <p:spPr>
          <a:xfrm>
            <a:off x="2286000" y="3913632"/>
            <a:ext cx="4572000" cy="79018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6"/>
        <p:cNvGrpSpPr/>
        <p:nvPr/>
      </p:nvGrpSpPr>
      <p:grpSpPr>
        <a:xfrm>
          <a:off x="0" y="0"/>
          <a:ext cx="0" cy="0"/>
          <a:chOff x="0" y="0"/>
          <a:chExt cx="0" cy="0"/>
        </a:xfrm>
      </p:grpSpPr>
      <p:sp>
        <p:nvSpPr>
          <p:cNvPr id="347" name="Google Shape;347;p22"/>
          <p:cNvSpPr/>
          <p:nvPr/>
        </p:nvSpPr>
        <p:spPr>
          <a:xfrm>
            <a:off x="0" y="0"/>
            <a:ext cx="9144000" cy="9144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2"/>
          <p:cNvSpPr/>
          <p:nvPr/>
        </p:nvSpPr>
        <p:spPr>
          <a:xfrm>
            <a:off x="411480" y="73152"/>
            <a:ext cx="832104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900"/>
              <a:buFont typeface=" Arial"/>
              <a:buNone/>
            </a:pPr>
            <a:r>
              <a:rPr lang="en-US" sz="900" b="0" i="0" u="none" strike="noStrike" cap="none">
                <a:solidFill>
                  <a:srgbClr val="D4BADD"/>
                </a:solidFill>
                <a:latin typeface=" Arial"/>
                <a:ea typeface=" Arial"/>
                <a:cs typeface=" Arial"/>
                <a:sym typeface=" Arial"/>
              </a:rPr>
              <a:t>SECOND TRIMESTER  </a:t>
            </a:r>
            <a:endParaRPr sz="900" b="0" i="0" u="none" strike="noStrike" cap="none">
              <a:solidFill>
                <a:schemeClr val="dk1"/>
              </a:solidFill>
              <a:latin typeface="Calibri"/>
              <a:ea typeface="Calibri"/>
              <a:cs typeface="Calibri"/>
              <a:sym typeface="Calibri"/>
            </a:endParaRPr>
          </a:p>
        </p:txBody>
      </p:sp>
      <p:sp>
        <p:nvSpPr>
          <p:cNvPr id="349" name="Google Shape;349;p22"/>
          <p:cNvSpPr/>
          <p:nvPr/>
        </p:nvSpPr>
        <p:spPr>
          <a:xfrm>
            <a:off x="411480" y="310896"/>
            <a:ext cx="8321040" cy="53035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200"/>
              <a:buFont typeface="Georgia"/>
              <a:buNone/>
            </a:pPr>
            <a:r>
              <a:rPr lang="en-US" sz="2200" b="1" i="0" u="none" strike="noStrike" cap="none">
                <a:solidFill>
                  <a:srgbClr val="FFFFFF"/>
                </a:solidFill>
                <a:latin typeface="Georgia"/>
                <a:ea typeface="Georgia"/>
                <a:cs typeface="Georgia"/>
                <a:sym typeface="Georgia"/>
              </a:rPr>
              <a:t>The Honeymoon Period — Energy Returns</a:t>
            </a:r>
            <a:endParaRPr sz="2200" b="0" i="0" u="none" strike="noStrike" cap="none">
              <a:solidFill>
                <a:schemeClr val="dk1"/>
              </a:solidFill>
              <a:latin typeface="Calibri"/>
              <a:ea typeface="Calibri"/>
              <a:cs typeface="Calibri"/>
              <a:sym typeface="Calibri"/>
            </a:endParaRPr>
          </a:p>
        </p:txBody>
      </p:sp>
      <p:sp>
        <p:nvSpPr>
          <p:cNvPr id="352" name="Google Shape;352;p22"/>
          <p:cNvSpPr/>
          <p:nvPr/>
        </p:nvSpPr>
        <p:spPr>
          <a:xfrm>
            <a:off x="566875" y="1491423"/>
            <a:ext cx="8046600" cy="23343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Nausea fades, energy returns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Baby bump becomes visible</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Round ligament pain (sharp belly)</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Skin changes: glow, stretch marks, melasma</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Prime relationship-building time</a:t>
            </a:r>
            <a:endParaRPr sz="1500" b="0" i="0" u="none" strike="noStrike" cap="none">
              <a:solidFill>
                <a:schemeClr val="dk1"/>
              </a:solidFill>
              <a:latin typeface="Calibri"/>
              <a:ea typeface="Calibri"/>
              <a:cs typeface="Calibri"/>
              <a:sym typeface="Calibri"/>
            </a:endParaRPr>
          </a:p>
        </p:txBody>
      </p:sp>
      <p:sp>
        <p:nvSpPr>
          <p:cNvPr id="353" name="Google Shape;353;p22"/>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2"/>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
        <p:nvSpPr>
          <p:cNvPr id="356" name="Rectangle 355"/>
          <p:cNvSpPr/>
          <p:nvPr/>
        </p:nvSpPr>
        <p:spPr>
          <a:xfrm>
            <a:off x="411480" y="4008681"/>
            <a:ext cx="54864" cy="59436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TextBox 356"/>
          <p:cNvSpPr txBox="1"/>
          <p:nvPr/>
        </p:nvSpPr>
        <p:spPr>
          <a:xfrm>
            <a:off x="566928" y="4008681"/>
            <a:ext cx="8046720" cy="594360"/>
          </a:xfrm>
          <a:prstGeom prst="rect">
            <a:avLst/>
          </a:prstGeom>
          <a:noFill/>
        </p:spPr>
        <p:txBody>
          <a:bodyPr wrap="square">
            <a:spAutoFit/>
          </a:bodyPr>
          <a:lstStyle/>
          <a:p>
            <a:r>
              <a:rPr sz="1600" i="1">
                <a:solidFill>
                  <a:srgbClr val="5E376C"/>
                </a:solidFill>
                <a:latin typeface="Georgia"/>
              </a:rPr>
              <a:t>Prime prenatal relationship-building time.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0"/>
        <p:cNvGrpSpPr/>
        <p:nvPr/>
      </p:nvGrpSpPr>
      <p:grpSpPr>
        <a:xfrm>
          <a:off x="0" y="0"/>
          <a:ext cx="0" cy="0"/>
          <a:chOff x="0" y="0"/>
          <a:chExt cx="0" cy="0"/>
        </a:xfrm>
      </p:grpSpPr>
      <p:sp>
        <p:nvSpPr>
          <p:cNvPr id="361" name="Google Shape;361;p23"/>
          <p:cNvSpPr/>
          <p:nvPr/>
        </p:nvSpPr>
        <p:spPr>
          <a:xfrm>
            <a:off x="0" y="0"/>
            <a:ext cx="9144000" cy="9144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3"/>
          <p:cNvSpPr/>
          <p:nvPr/>
        </p:nvSpPr>
        <p:spPr>
          <a:xfrm>
            <a:off x="411480" y="73152"/>
            <a:ext cx="832104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900"/>
              <a:buFont typeface=" Arial"/>
              <a:buNone/>
            </a:pPr>
            <a:r>
              <a:rPr lang="en-US" sz="900" b="0" i="0" u="none" strike="noStrike" cap="none">
                <a:solidFill>
                  <a:srgbClr val="D4BADD"/>
                </a:solidFill>
                <a:latin typeface=" Arial"/>
                <a:ea typeface=" Arial"/>
                <a:cs typeface=" Arial"/>
                <a:sym typeface=" Arial"/>
              </a:rPr>
              <a:t>THIRD TRIMESTER  </a:t>
            </a:r>
            <a:endParaRPr sz="900" b="0" i="0" u="none" strike="noStrike" cap="none">
              <a:solidFill>
                <a:schemeClr val="dk1"/>
              </a:solidFill>
              <a:latin typeface="Calibri"/>
              <a:ea typeface="Calibri"/>
              <a:cs typeface="Calibri"/>
              <a:sym typeface="Calibri"/>
            </a:endParaRPr>
          </a:p>
        </p:txBody>
      </p:sp>
      <p:sp>
        <p:nvSpPr>
          <p:cNvPr id="363" name="Google Shape;363;p23"/>
          <p:cNvSpPr/>
          <p:nvPr/>
        </p:nvSpPr>
        <p:spPr>
          <a:xfrm>
            <a:off x="411480" y="310896"/>
            <a:ext cx="8321040" cy="53035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200"/>
              <a:buFont typeface="Georgia"/>
              <a:buNone/>
            </a:pPr>
            <a:r>
              <a:rPr lang="en-US" sz="2200" b="1" i="0" u="none" strike="noStrike" cap="none">
                <a:solidFill>
                  <a:srgbClr val="FFFFFF"/>
                </a:solidFill>
                <a:latin typeface="Georgia"/>
                <a:ea typeface="Georgia"/>
                <a:cs typeface="Georgia"/>
                <a:sym typeface="Georgia"/>
              </a:rPr>
              <a:t>The Final Preparations — Fat, Lungs &amp; Position</a:t>
            </a:r>
            <a:endParaRPr sz="2200" b="0" i="0" u="none" strike="noStrike" cap="none">
              <a:solidFill>
                <a:schemeClr val="dk1"/>
              </a:solidFill>
              <a:latin typeface="Calibri"/>
              <a:ea typeface="Calibri"/>
              <a:cs typeface="Calibri"/>
              <a:sym typeface="Calibri"/>
            </a:endParaRPr>
          </a:p>
        </p:txBody>
      </p:sp>
      <p:sp>
        <p:nvSpPr>
          <p:cNvPr id="366" name="Google Shape;366;p23"/>
          <p:cNvSpPr/>
          <p:nvPr/>
        </p:nvSpPr>
        <p:spPr>
          <a:xfrm>
            <a:off x="566875" y="1763797"/>
            <a:ext cx="8046600" cy="20283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Weeks 28–32: rapid weight gain</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Weeks 32–36: surfactant produced</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 37: "early term" — brain still growing</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Weeks 39–40: developmentally optimal</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Full term: 19–21 in, 6–9 lbs</a:t>
            </a:r>
            <a:endParaRPr sz="1500" b="0" i="0" u="none" strike="noStrike" cap="none">
              <a:solidFill>
                <a:schemeClr val="dk1"/>
              </a:solidFill>
              <a:latin typeface="Calibri"/>
              <a:ea typeface="Calibri"/>
              <a:cs typeface="Calibri"/>
              <a:sym typeface="Calibri"/>
            </a:endParaRPr>
          </a:p>
        </p:txBody>
      </p:sp>
      <p:sp>
        <p:nvSpPr>
          <p:cNvPr id="367" name="Google Shape;367;p23"/>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3"/>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pic>
        <p:nvPicPr>
          <p:cNvPr id="370" name="Picture 369" descr="fetus_t3.png"/>
          <p:cNvPicPr>
            <a:picLocks noChangeAspect="1"/>
          </p:cNvPicPr>
          <p:nvPr/>
        </p:nvPicPr>
        <p:blipFill>
          <a:blip r:embed="rId3"/>
          <a:stretch>
            <a:fillRect/>
          </a:stretch>
        </p:blipFill>
        <p:spPr>
          <a:xfrm>
            <a:off x="2057400" y="3822191"/>
            <a:ext cx="5029200" cy="869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4"/>
        <p:cNvGrpSpPr/>
        <p:nvPr/>
      </p:nvGrpSpPr>
      <p:grpSpPr>
        <a:xfrm>
          <a:off x="0" y="0"/>
          <a:ext cx="0" cy="0"/>
          <a:chOff x="0" y="0"/>
          <a:chExt cx="0" cy="0"/>
        </a:xfrm>
      </p:grpSpPr>
      <p:sp>
        <p:nvSpPr>
          <p:cNvPr id="375" name="Google Shape;375;p24"/>
          <p:cNvSpPr/>
          <p:nvPr/>
        </p:nvSpPr>
        <p:spPr>
          <a:xfrm>
            <a:off x="0" y="0"/>
            <a:ext cx="9144000" cy="9144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4"/>
          <p:cNvSpPr/>
          <p:nvPr/>
        </p:nvSpPr>
        <p:spPr>
          <a:xfrm>
            <a:off x="411480" y="73152"/>
            <a:ext cx="832104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900"/>
              <a:buFont typeface=" Arial"/>
              <a:buNone/>
            </a:pPr>
            <a:r>
              <a:rPr lang="en-US" sz="900" b="0" i="0" u="none" strike="noStrike" cap="none">
                <a:solidFill>
                  <a:srgbClr val="D4BADD"/>
                </a:solidFill>
                <a:latin typeface=" Arial"/>
                <a:ea typeface=" Arial"/>
                <a:cs typeface=" Arial"/>
                <a:sym typeface=" Arial"/>
              </a:rPr>
              <a:t>THIRD TRIMESTER  ·  Weeks 28–40+  ·  FOR THE PREGNANT PERSON</a:t>
            </a:r>
            <a:endParaRPr sz="900" b="0" i="0" u="none" strike="noStrike" cap="none">
              <a:solidFill>
                <a:schemeClr val="dk1"/>
              </a:solidFill>
              <a:latin typeface="Calibri"/>
              <a:ea typeface="Calibri"/>
              <a:cs typeface="Calibri"/>
              <a:sym typeface="Calibri"/>
            </a:endParaRPr>
          </a:p>
        </p:txBody>
      </p:sp>
      <p:sp>
        <p:nvSpPr>
          <p:cNvPr id="377" name="Google Shape;377;p24"/>
          <p:cNvSpPr/>
          <p:nvPr/>
        </p:nvSpPr>
        <p:spPr>
          <a:xfrm>
            <a:off x="411480" y="310896"/>
            <a:ext cx="8321040" cy="53035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200"/>
              <a:buFont typeface="Georgia"/>
              <a:buNone/>
            </a:pPr>
            <a:r>
              <a:rPr lang="en-US" sz="2200" b="1" i="0" u="none" strike="noStrike" cap="none">
                <a:solidFill>
                  <a:srgbClr val="FFFFFF"/>
                </a:solidFill>
                <a:latin typeface="Georgia"/>
                <a:ea typeface="Georgia"/>
                <a:cs typeface="Georgia"/>
                <a:sym typeface="Georgia"/>
              </a:rPr>
              <a:t>The Home Stretch — Intensity &amp; Anticipation</a:t>
            </a:r>
            <a:endParaRPr sz="2200" b="0" i="0" u="none" strike="noStrike" cap="none">
              <a:solidFill>
                <a:schemeClr val="dk1"/>
              </a:solidFill>
              <a:latin typeface="Calibri"/>
              <a:ea typeface="Calibri"/>
              <a:cs typeface="Calibri"/>
              <a:sym typeface="Calibri"/>
            </a:endParaRPr>
          </a:p>
        </p:txBody>
      </p:sp>
      <p:sp>
        <p:nvSpPr>
          <p:cNvPr id="380" name="Google Shape;380;p24"/>
          <p:cNvSpPr/>
          <p:nvPr/>
        </p:nvSpPr>
        <p:spPr>
          <a:xfrm>
            <a:off x="566875" y="1745935"/>
            <a:ext cx="8046600" cy="21201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Discomfort, poor sleep, breathlessness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Heartburn intensifies</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Pelvic pressure, "lightning crotch"</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Swelling: sudden severe = red flag</a:t>
            </a:r>
            <a:endParaRPr sz="15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500"/>
              <a:buFont typeface=" Arial"/>
              <a:buChar char="–"/>
            </a:pPr>
            <a:r>
              <a:rPr lang="en-US" sz="2000" b="0" i="0" u="none" strike="noStrike" cap="none">
                <a:solidFill>
                  <a:srgbClr val="2D2D2D"/>
                </a:solidFill>
                <a:latin typeface=" Arial"/>
                <a:ea typeface=" Arial"/>
                <a:cs typeface=" Arial"/>
                <a:sym typeface=" Arial"/>
              </a:rPr>
              <a:t>Nesting + emotional intensity</a:t>
            </a:r>
            <a:endParaRPr sz="1500" b="0" i="0" u="none" strike="noStrike" cap="none">
              <a:solidFill>
                <a:schemeClr val="dk1"/>
              </a:solidFill>
              <a:latin typeface="Calibri"/>
              <a:ea typeface="Calibri"/>
              <a:cs typeface="Calibri"/>
              <a:sym typeface="Calibri"/>
            </a:endParaRPr>
          </a:p>
        </p:txBody>
      </p:sp>
      <p:sp>
        <p:nvSpPr>
          <p:cNvPr id="381" name="Google Shape;381;p24"/>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4"/>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
        <p:nvSpPr>
          <p:cNvPr id="384" name="Rectangle 383"/>
          <p:cNvSpPr/>
          <p:nvPr/>
        </p:nvSpPr>
        <p:spPr>
          <a:xfrm>
            <a:off x="411480" y="4048994"/>
            <a:ext cx="54864" cy="59436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TextBox 384"/>
          <p:cNvSpPr txBox="1"/>
          <p:nvPr/>
        </p:nvSpPr>
        <p:spPr>
          <a:xfrm>
            <a:off x="566928" y="4048994"/>
            <a:ext cx="8046720" cy="594360"/>
          </a:xfrm>
          <a:prstGeom prst="rect">
            <a:avLst/>
          </a:prstGeom>
          <a:noFill/>
        </p:spPr>
        <p:txBody>
          <a:bodyPr wrap="square">
            <a:spAutoFit/>
          </a:bodyPr>
          <a:lstStyle/>
          <a:p>
            <a:r>
              <a:rPr sz="1600" i="1">
                <a:solidFill>
                  <a:srgbClr val="5E376C"/>
                </a:solidFill>
                <a:latin typeface="Georgia"/>
              </a:rPr>
              <a:t>Anticipation, fear, excitement, impatience — all at once.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8"/>
        <p:cNvGrpSpPr/>
        <p:nvPr/>
      </p:nvGrpSpPr>
      <p:grpSpPr>
        <a:xfrm>
          <a:off x="0" y="0"/>
          <a:ext cx="0" cy="0"/>
          <a:chOff x="0" y="0"/>
          <a:chExt cx="0" cy="0"/>
        </a:xfrm>
      </p:grpSpPr>
      <p:sp>
        <p:nvSpPr>
          <p:cNvPr id="389" name="Google Shape;389;p25"/>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COMMON PREGNANCY DISCOMFORTS</a:t>
            </a:r>
            <a:endParaRPr sz="900" b="0" i="0" u="none" strike="noStrike" cap="none">
              <a:solidFill>
                <a:schemeClr val="dk1"/>
              </a:solidFill>
              <a:latin typeface="Calibri"/>
              <a:ea typeface="Calibri"/>
              <a:cs typeface="Calibri"/>
              <a:sym typeface="Calibri"/>
            </a:endParaRPr>
          </a:p>
        </p:txBody>
      </p:sp>
      <p:sp>
        <p:nvSpPr>
          <p:cNvPr id="390" name="Google Shape;390;p25"/>
          <p:cNvSpPr/>
          <p:nvPr/>
        </p:nvSpPr>
        <p:spPr>
          <a:xfrm>
            <a:off x="411480" y="47281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400"/>
              <a:buFont typeface="Georgia"/>
              <a:buNone/>
            </a:pPr>
            <a:r>
              <a:rPr lang="en-US" sz="2400" b="1" i="0" u="none" strike="noStrike" cap="none">
                <a:solidFill>
                  <a:srgbClr val="5E376C"/>
                </a:solidFill>
                <a:latin typeface="Georgia"/>
                <a:ea typeface="Georgia"/>
                <a:cs typeface="Georgia"/>
                <a:sym typeface="Georgia"/>
              </a:rPr>
              <a:t>Nausea &amp; Vomiting</a:t>
            </a:r>
            <a:endParaRPr sz="2400" b="0" i="0" u="none" strike="noStrike" cap="none">
              <a:solidFill>
                <a:schemeClr val="dk1"/>
              </a:solidFill>
              <a:latin typeface="Calibri"/>
              <a:ea typeface="Calibri"/>
              <a:cs typeface="Calibri"/>
              <a:sym typeface="Calibri"/>
            </a:endParaRPr>
          </a:p>
        </p:txBody>
      </p:sp>
      <p:sp>
        <p:nvSpPr>
          <p:cNvPr id="391" name="Google Shape;391;p25"/>
          <p:cNvSpPr/>
          <p:nvPr/>
        </p:nvSpPr>
        <p:spPr>
          <a:xfrm>
            <a:off x="411480" y="871048"/>
            <a:ext cx="83211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350"/>
              <a:buFont typeface=" Arial"/>
              <a:buNone/>
            </a:pPr>
            <a:r>
              <a:rPr lang="en-US" sz="1350" b="0" i="1" u="none" strike="noStrike" cap="none">
                <a:solidFill>
                  <a:srgbClr val="6B6B6B"/>
                </a:solidFill>
                <a:latin typeface=" Arial"/>
                <a:ea typeface=" Arial"/>
                <a:cs typeface=" Arial"/>
                <a:sym typeface=" Arial"/>
              </a:rPr>
              <a:t>Affects 70–80% of pregnant people. Can happen any time of day.</a:t>
            </a:r>
            <a:endParaRPr sz="1350" b="0" i="0" u="none" strike="noStrike" cap="none">
              <a:solidFill>
                <a:schemeClr val="dk1"/>
              </a:solidFill>
              <a:latin typeface="Calibri"/>
              <a:ea typeface="Calibri"/>
              <a:cs typeface="Calibri"/>
              <a:sym typeface="Calibri"/>
            </a:endParaRPr>
          </a:p>
        </p:txBody>
      </p:sp>
      <p:sp>
        <p:nvSpPr>
          <p:cNvPr id="392" name="Google Shape;392;p25"/>
          <p:cNvSpPr/>
          <p:nvPr/>
        </p:nvSpPr>
        <p:spPr>
          <a:xfrm>
            <a:off x="320040" y="1309960"/>
            <a:ext cx="4297800" cy="3310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5"/>
          <p:cNvSpPr/>
          <p:nvPr/>
        </p:nvSpPr>
        <p:spPr>
          <a:xfrm>
            <a:off x="320040" y="1309960"/>
            <a:ext cx="73200" cy="33102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5"/>
          <p:cNvSpPr/>
          <p:nvPr/>
        </p:nvSpPr>
        <p:spPr>
          <a:xfrm>
            <a:off x="512064" y="1401400"/>
            <a:ext cx="3931800" cy="255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200"/>
              <a:buFont typeface=" Arial"/>
              <a:buNone/>
            </a:pPr>
            <a:r>
              <a:rPr lang="en-US" sz="1200" b="1" i="0" u="none" strike="noStrike" cap="none">
                <a:solidFill>
                  <a:srgbClr val="5E376C"/>
                </a:solidFill>
                <a:latin typeface=" Arial"/>
                <a:ea typeface=" Arial"/>
                <a:cs typeface=" Arial"/>
                <a:sym typeface=" Arial"/>
              </a:rPr>
              <a:t>What you can offer:</a:t>
            </a:r>
            <a:endParaRPr sz="1200" b="0" i="0" u="none" strike="noStrike" cap="none">
              <a:solidFill>
                <a:schemeClr val="dk1"/>
              </a:solidFill>
              <a:latin typeface="Calibri"/>
              <a:ea typeface="Calibri"/>
              <a:cs typeface="Calibri"/>
              <a:sym typeface="Calibri"/>
            </a:endParaRPr>
          </a:p>
        </p:txBody>
      </p:sp>
      <p:sp>
        <p:nvSpPr>
          <p:cNvPr id="395" name="Google Shape;395;p25"/>
          <p:cNvSpPr/>
          <p:nvPr/>
        </p:nvSpPr>
        <p:spPr>
          <a:xfrm>
            <a:off x="512064" y="1694008"/>
            <a:ext cx="3950100" cy="28347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Small, frequent meals</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Ginger — tea, candies, or fresh</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Vitamin B6 (with provider OK)</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Sea-Bands (acupressure)</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Avoid known triggers</a:t>
            </a:r>
            <a:endParaRPr sz="1250" b="0" i="0" u="none" strike="noStrike" cap="none">
              <a:solidFill>
                <a:schemeClr val="dk1"/>
              </a:solidFill>
              <a:latin typeface="Calibri"/>
              <a:ea typeface="Calibri"/>
              <a:cs typeface="Calibri"/>
              <a:sym typeface="Calibri"/>
            </a:endParaRPr>
          </a:p>
        </p:txBody>
      </p:sp>
      <p:sp>
        <p:nvSpPr>
          <p:cNvPr id="396" name="Google Shape;396;p25"/>
          <p:cNvSpPr/>
          <p:nvPr/>
        </p:nvSpPr>
        <p:spPr>
          <a:xfrm>
            <a:off x="4800600" y="1309960"/>
            <a:ext cx="4023300" cy="1481400"/>
          </a:xfrm>
          <a:prstGeom prst="rect">
            <a:avLst/>
          </a:prstGeom>
          <a:solidFill>
            <a:srgbClr val="FFFBEB"/>
          </a:solidFill>
          <a:ln w="12700" cap="flat" cmpd="sng">
            <a:solidFill>
              <a:srgbClr val="D97706"/>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5"/>
          <p:cNvSpPr/>
          <p:nvPr/>
        </p:nvSpPr>
        <p:spPr>
          <a:xfrm>
            <a:off x="4800600" y="1309960"/>
            <a:ext cx="73200" cy="1481400"/>
          </a:xfrm>
          <a:prstGeom prst="rect">
            <a:avLst/>
          </a:prstGeom>
          <a:solidFill>
            <a:srgbClr val="D97706"/>
          </a:solidFill>
          <a:ln w="12700" cap="flat" cmpd="sng">
            <a:solidFill>
              <a:srgbClr val="D977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5"/>
          <p:cNvSpPr/>
          <p:nvPr/>
        </p:nvSpPr>
        <p:spPr>
          <a:xfrm>
            <a:off x="4974336" y="1401400"/>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97706"/>
              </a:buClr>
              <a:buSzPts val="1100"/>
              <a:buFont typeface=" Arial"/>
              <a:buNone/>
            </a:pPr>
            <a:r>
              <a:rPr lang="en-US" sz="1100" b="1" i="0" u="none" strike="noStrike" cap="none">
                <a:solidFill>
                  <a:srgbClr val="D97706"/>
                </a:solidFill>
                <a:latin typeface=" Arial"/>
                <a:ea typeface=" Arial"/>
                <a:cs typeface=" Arial"/>
                <a:sym typeface=" Arial"/>
              </a:rPr>
              <a:t>When to refer to provider:</a:t>
            </a:r>
            <a:endParaRPr sz="1100" b="0" i="0" u="none" strike="noStrike" cap="none">
              <a:solidFill>
                <a:schemeClr val="dk1"/>
              </a:solidFill>
              <a:latin typeface="Calibri"/>
              <a:ea typeface="Calibri"/>
              <a:cs typeface="Calibri"/>
              <a:sym typeface="Calibri"/>
            </a:endParaRPr>
          </a:p>
        </p:txBody>
      </p:sp>
      <p:sp>
        <p:nvSpPr>
          <p:cNvPr id="399" name="Google Shape;399;p25"/>
          <p:cNvSpPr/>
          <p:nvPr/>
        </p:nvSpPr>
        <p:spPr>
          <a:xfrm>
            <a:off x="4974336" y="1675720"/>
            <a:ext cx="3657600" cy="1024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150"/>
              <a:buFont typeface=" Arial"/>
              <a:buNone/>
            </a:pPr>
            <a:r>
              <a:rPr lang="en-US" sz="1150" b="0" i="0" u="none" strike="noStrike" cap="none">
                <a:solidFill>
                  <a:srgbClr val="2D2D2D"/>
                </a:solidFill>
                <a:latin typeface=" Arial"/>
                <a:ea typeface=" Arial"/>
                <a:cs typeface=" Arial"/>
                <a:sym typeface=" Arial"/>
              </a:rPr>
              <a:t>Inability to keep fluids down for 24 hours, weight loss, or vomiting more than 3–4 times per day may indicate hyperemesis gravidarum — refer to provider.</a:t>
            </a:r>
            <a:endParaRPr sz="1150" b="0" i="0" u="none" strike="noStrike" cap="none">
              <a:solidFill>
                <a:schemeClr val="dk1"/>
              </a:solidFill>
              <a:latin typeface="Calibri"/>
              <a:ea typeface="Calibri"/>
              <a:cs typeface="Calibri"/>
              <a:sym typeface="Calibri"/>
            </a:endParaRPr>
          </a:p>
        </p:txBody>
      </p:sp>
      <p:sp>
        <p:nvSpPr>
          <p:cNvPr id="400" name="Google Shape;400;p25"/>
          <p:cNvSpPr/>
          <p:nvPr/>
        </p:nvSpPr>
        <p:spPr>
          <a:xfrm>
            <a:off x="4800600" y="2910160"/>
            <a:ext cx="4023300" cy="17100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5"/>
          <p:cNvSpPr/>
          <p:nvPr/>
        </p:nvSpPr>
        <p:spPr>
          <a:xfrm>
            <a:off x="4800600" y="2910160"/>
            <a:ext cx="73200" cy="17100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5"/>
          <p:cNvSpPr/>
          <p:nvPr/>
        </p:nvSpPr>
        <p:spPr>
          <a:xfrm>
            <a:off x="4974336" y="3001600"/>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100"/>
              <a:buFont typeface=" Arial"/>
              <a:buNone/>
            </a:pPr>
            <a:r>
              <a:rPr lang="en-US" sz="1100" b="1" i="0" u="none" strike="noStrike" cap="none">
                <a:solidFill>
                  <a:srgbClr val="DB2777"/>
                </a:solidFill>
                <a:latin typeface=" Arial"/>
                <a:ea typeface=" Arial"/>
                <a:cs typeface=" Arial"/>
                <a:sym typeface=" Arial"/>
              </a:rPr>
              <a:t>Doula script:</a:t>
            </a:r>
            <a:endParaRPr sz="1100" b="0" i="0" u="none" strike="noStrike" cap="none">
              <a:solidFill>
                <a:schemeClr val="dk1"/>
              </a:solidFill>
              <a:latin typeface="Calibri"/>
              <a:ea typeface="Calibri"/>
              <a:cs typeface="Calibri"/>
              <a:sym typeface="Calibri"/>
            </a:endParaRPr>
          </a:p>
        </p:txBody>
      </p:sp>
      <p:sp>
        <p:nvSpPr>
          <p:cNvPr id="403" name="Google Shape;403;p25"/>
          <p:cNvSpPr/>
          <p:nvPr/>
        </p:nvSpPr>
        <p:spPr>
          <a:xfrm>
            <a:off x="4974336" y="3275920"/>
            <a:ext cx="3657600" cy="12618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3D1040"/>
              </a:buClr>
              <a:buSzPts val="1150"/>
              <a:buFont typeface="Georgia"/>
              <a:buNone/>
            </a:pPr>
            <a:r>
              <a:rPr lang="en-US" sz="1150" b="0" i="1" u="none" strike="noStrike" cap="none">
                <a:solidFill>
                  <a:srgbClr val="3D1040"/>
                </a:solidFill>
                <a:latin typeface="Georgia"/>
                <a:ea typeface="Georgia"/>
                <a:cs typeface="Georgia"/>
                <a:sym typeface="Georgia"/>
              </a:rPr>
              <a:t>"Morning sickness is miserable and I'm sorry you're dealing with it. Try eating small amounts frequently — even crackers or toast. Protein helps. And ginger really works for some people."</a:t>
            </a:r>
            <a:endParaRPr sz="1150" b="0" i="0" u="none" strike="noStrike" cap="none">
              <a:solidFill>
                <a:schemeClr val="dk1"/>
              </a:solidFill>
              <a:latin typeface="Calibri"/>
              <a:ea typeface="Calibri"/>
              <a:cs typeface="Calibri"/>
              <a:sym typeface="Calibri"/>
            </a:endParaRPr>
          </a:p>
        </p:txBody>
      </p:sp>
      <p:sp>
        <p:nvSpPr>
          <p:cNvPr id="404" name="Google Shape;404;p25"/>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5"/>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1"/>
        <p:cNvGrpSpPr/>
        <p:nvPr/>
      </p:nvGrpSpPr>
      <p:grpSpPr>
        <a:xfrm>
          <a:off x="0" y="0"/>
          <a:ext cx="0" cy="0"/>
          <a:chOff x="0" y="0"/>
          <a:chExt cx="0" cy="0"/>
        </a:xfrm>
      </p:grpSpPr>
      <p:sp>
        <p:nvSpPr>
          <p:cNvPr id="412" name="Google Shape;412;p26"/>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COMMON PREGNANCY DISCOMFORTS</a:t>
            </a:r>
            <a:endParaRPr sz="900" b="0" i="0" u="none" strike="noStrike" cap="none">
              <a:solidFill>
                <a:schemeClr val="dk1"/>
              </a:solidFill>
              <a:latin typeface="Calibri"/>
              <a:ea typeface="Calibri"/>
              <a:cs typeface="Calibri"/>
              <a:sym typeface="Calibri"/>
            </a:endParaRPr>
          </a:p>
        </p:txBody>
      </p:sp>
      <p:sp>
        <p:nvSpPr>
          <p:cNvPr id="413" name="Google Shape;413;p26"/>
          <p:cNvSpPr/>
          <p:nvPr/>
        </p:nvSpPr>
        <p:spPr>
          <a:xfrm>
            <a:off x="411480" y="365760"/>
            <a:ext cx="8321040" cy="6583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400"/>
              <a:buFont typeface="Georgia"/>
              <a:buNone/>
            </a:pPr>
            <a:r>
              <a:rPr lang="en-US" sz="2400" b="1" i="0" u="none" strike="noStrike" cap="none">
                <a:solidFill>
                  <a:srgbClr val="5E376C"/>
                </a:solidFill>
                <a:latin typeface="Georgia"/>
                <a:ea typeface="Georgia"/>
                <a:cs typeface="Georgia"/>
                <a:sym typeface="Georgia"/>
              </a:rPr>
              <a:t>Heartburn &amp; Indigestion</a:t>
            </a:r>
            <a:endParaRPr sz="2400" b="0" i="0" u="none" strike="noStrike" cap="none">
              <a:solidFill>
                <a:schemeClr val="dk1"/>
              </a:solidFill>
              <a:latin typeface="Calibri"/>
              <a:ea typeface="Calibri"/>
              <a:cs typeface="Calibri"/>
              <a:sym typeface="Calibri"/>
            </a:endParaRPr>
          </a:p>
        </p:txBody>
      </p:sp>
      <p:sp>
        <p:nvSpPr>
          <p:cNvPr id="414" name="Google Shape;414;p26"/>
          <p:cNvSpPr/>
          <p:nvPr/>
        </p:nvSpPr>
        <p:spPr>
          <a:xfrm>
            <a:off x="411480" y="840473"/>
            <a:ext cx="83211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350"/>
              <a:buFont typeface=" Arial"/>
              <a:buNone/>
            </a:pPr>
            <a:r>
              <a:rPr lang="en-US" sz="1350" b="0" i="1" u="none" strike="noStrike" cap="none">
                <a:solidFill>
                  <a:srgbClr val="6B6B6B"/>
                </a:solidFill>
                <a:latin typeface=" Arial"/>
                <a:ea typeface=" Arial"/>
                <a:cs typeface=" Arial"/>
                <a:sym typeface=" Arial"/>
              </a:rPr>
              <a:t>Up to 80% of pregnant people experience this — especially in the third trimester.</a:t>
            </a:r>
            <a:endParaRPr sz="1350" b="0" i="0" u="none" strike="noStrike" cap="none">
              <a:solidFill>
                <a:schemeClr val="dk1"/>
              </a:solidFill>
              <a:latin typeface="Calibri"/>
              <a:ea typeface="Calibri"/>
              <a:cs typeface="Calibri"/>
              <a:sym typeface="Calibri"/>
            </a:endParaRPr>
          </a:p>
        </p:txBody>
      </p:sp>
      <p:sp>
        <p:nvSpPr>
          <p:cNvPr id="415" name="Google Shape;415;p26"/>
          <p:cNvSpPr/>
          <p:nvPr/>
        </p:nvSpPr>
        <p:spPr>
          <a:xfrm>
            <a:off x="320040" y="1279385"/>
            <a:ext cx="4297800" cy="3310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6"/>
          <p:cNvSpPr/>
          <p:nvPr/>
        </p:nvSpPr>
        <p:spPr>
          <a:xfrm>
            <a:off x="320040" y="1279385"/>
            <a:ext cx="73200" cy="33102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6"/>
          <p:cNvSpPr/>
          <p:nvPr/>
        </p:nvSpPr>
        <p:spPr>
          <a:xfrm>
            <a:off x="512064" y="1370825"/>
            <a:ext cx="3931800" cy="255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200"/>
              <a:buFont typeface=" Arial"/>
              <a:buNone/>
            </a:pPr>
            <a:r>
              <a:rPr lang="en-US" sz="1200" b="1" i="0" u="none" strike="noStrike" cap="none">
                <a:solidFill>
                  <a:srgbClr val="845995"/>
                </a:solidFill>
                <a:latin typeface=" Arial"/>
                <a:ea typeface=" Arial"/>
                <a:cs typeface=" Arial"/>
                <a:sym typeface=" Arial"/>
              </a:rPr>
              <a:t>What you can offer:</a:t>
            </a:r>
            <a:endParaRPr sz="1200" b="0" i="0" u="none" strike="noStrike" cap="none">
              <a:solidFill>
                <a:schemeClr val="dk1"/>
              </a:solidFill>
              <a:latin typeface="Calibri"/>
              <a:ea typeface="Calibri"/>
              <a:cs typeface="Calibri"/>
              <a:sym typeface="Calibri"/>
            </a:endParaRPr>
          </a:p>
        </p:txBody>
      </p:sp>
      <p:sp>
        <p:nvSpPr>
          <p:cNvPr id="418" name="Google Shape;418;p26"/>
          <p:cNvSpPr/>
          <p:nvPr/>
        </p:nvSpPr>
        <p:spPr>
          <a:xfrm>
            <a:off x="512064" y="1663433"/>
            <a:ext cx="3950100" cy="28347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Small, frequent meals</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Avoid spicy, acidic, fatty foods</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Don't lie down 2–3 hrs after eating</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Sleep with head elevated</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Chew gum to neutralize acid</a:t>
            </a:r>
            <a:endParaRPr sz="1250" b="0" i="0" u="none" strike="noStrike" cap="none">
              <a:solidFill>
                <a:schemeClr val="dk1"/>
              </a:solidFill>
              <a:latin typeface="Calibri"/>
              <a:ea typeface="Calibri"/>
              <a:cs typeface="Calibri"/>
              <a:sym typeface="Calibri"/>
            </a:endParaRPr>
          </a:p>
        </p:txBody>
      </p:sp>
      <p:sp>
        <p:nvSpPr>
          <p:cNvPr id="419" name="Google Shape;419;p26"/>
          <p:cNvSpPr/>
          <p:nvPr/>
        </p:nvSpPr>
        <p:spPr>
          <a:xfrm>
            <a:off x="4800600" y="1279385"/>
            <a:ext cx="4023300" cy="1481400"/>
          </a:xfrm>
          <a:prstGeom prst="rect">
            <a:avLst/>
          </a:prstGeom>
          <a:solidFill>
            <a:srgbClr val="FFFBEB"/>
          </a:solidFill>
          <a:ln w="12700" cap="flat" cmpd="sng">
            <a:solidFill>
              <a:srgbClr val="D97706"/>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6"/>
          <p:cNvSpPr/>
          <p:nvPr/>
        </p:nvSpPr>
        <p:spPr>
          <a:xfrm>
            <a:off x="4800600" y="1279385"/>
            <a:ext cx="73200" cy="1481400"/>
          </a:xfrm>
          <a:prstGeom prst="rect">
            <a:avLst/>
          </a:prstGeom>
          <a:solidFill>
            <a:srgbClr val="D97706"/>
          </a:solidFill>
          <a:ln w="12700" cap="flat" cmpd="sng">
            <a:solidFill>
              <a:srgbClr val="D977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6"/>
          <p:cNvSpPr/>
          <p:nvPr/>
        </p:nvSpPr>
        <p:spPr>
          <a:xfrm>
            <a:off x="4974336" y="1370825"/>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97706"/>
              </a:buClr>
              <a:buSzPts val="1100"/>
              <a:buFont typeface=" Arial"/>
              <a:buNone/>
            </a:pPr>
            <a:r>
              <a:rPr lang="en-US" sz="1100" b="1" i="0" u="none" strike="noStrike" cap="none">
                <a:solidFill>
                  <a:srgbClr val="D97706"/>
                </a:solidFill>
                <a:latin typeface=" Arial"/>
                <a:ea typeface=" Arial"/>
                <a:cs typeface=" Arial"/>
                <a:sym typeface=" Arial"/>
              </a:rPr>
              <a:t>When to refer to provider:</a:t>
            </a:r>
            <a:endParaRPr sz="1100" b="0" i="0" u="none" strike="noStrike" cap="none">
              <a:solidFill>
                <a:schemeClr val="dk1"/>
              </a:solidFill>
              <a:latin typeface="Calibri"/>
              <a:ea typeface="Calibri"/>
              <a:cs typeface="Calibri"/>
              <a:sym typeface="Calibri"/>
            </a:endParaRPr>
          </a:p>
        </p:txBody>
      </p:sp>
      <p:sp>
        <p:nvSpPr>
          <p:cNvPr id="422" name="Google Shape;422;p26"/>
          <p:cNvSpPr/>
          <p:nvPr/>
        </p:nvSpPr>
        <p:spPr>
          <a:xfrm>
            <a:off x="4974336" y="1645145"/>
            <a:ext cx="3657600" cy="1024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150"/>
              <a:buFont typeface=" Arial"/>
              <a:buNone/>
            </a:pPr>
            <a:r>
              <a:rPr lang="en-US" sz="1150" b="0" i="0" u="none" strike="noStrike" cap="none">
                <a:solidFill>
                  <a:srgbClr val="2D2D2D"/>
                </a:solidFill>
                <a:latin typeface=" Arial"/>
                <a:ea typeface=" Arial"/>
                <a:cs typeface=" Arial"/>
                <a:sym typeface=" Arial"/>
              </a:rPr>
              <a:t>If severe or not responding to dietary changes, the provider can recommend safe antacids for use during pregnancy.</a:t>
            </a:r>
            <a:endParaRPr sz="1150" b="0" i="0" u="none" strike="noStrike" cap="none">
              <a:solidFill>
                <a:schemeClr val="dk1"/>
              </a:solidFill>
              <a:latin typeface="Calibri"/>
              <a:ea typeface="Calibri"/>
              <a:cs typeface="Calibri"/>
              <a:sym typeface="Calibri"/>
            </a:endParaRPr>
          </a:p>
        </p:txBody>
      </p:sp>
      <p:sp>
        <p:nvSpPr>
          <p:cNvPr id="423" name="Google Shape;423;p26"/>
          <p:cNvSpPr/>
          <p:nvPr/>
        </p:nvSpPr>
        <p:spPr>
          <a:xfrm>
            <a:off x="4800600" y="2879585"/>
            <a:ext cx="4023300" cy="17100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6"/>
          <p:cNvSpPr/>
          <p:nvPr/>
        </p:nvSpPr>
        <p:spPr>
          <a:xfrm>
            <a:off x="4800600" y="2879585"/>
            <a:ext cx="73200" cy="17100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6"/>
          <p:cNvSpPr/>
          <p:nvPr/>
        </p:nvSpPr>
        <p:spPr>
          <a:xfrm>
            <a:off x="4974336" y="2971025"/>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100"/>
              <a:buFont typeface=" Arial"/>
              <a:buNone/>
            </a:pPr>
            <a:r>
              <a:rPr lang="en-US" sz="1100" b="1" i="0" u="none" strike="noStrike" cap="none">
                <a:solidFill>
                  <a:srgbClr val="DB2777"/>
                </a:solidFill>
                <a:latin typeface=" Arial"/>
                <a:ea typeface=" Arial"/>
                <a:cs typeface=" Arial"/>
                <a:sym typeface=" Arial"/>
              </a:rPr>
              <a:t>Doula script:</a:t>
            </a:r>
            <a:endParaRPr sz="1100" b="0" i="0" u="none" strike="noStrike" cap="none">
              <a:solidFill>
                <a:schemeClr val="dk1"/>
              </a:solidFill>
              <a:latin typeface="Calibri"/>
              <a:ea typeface="Calibri"/>
              <a:cs typeface="Calibri"/>
              <a:sym typeface="Calibri"/>
            </a:endParaRPr>
          </a:p>
        </p:txBody>
      </p:sp>
      <p:sp>
        <p:nvSpPr>
          <p:cNvPr id="426" name="Google Shape;426;p26"/>
          <p:cNvSpPr/>
          <p:nvPr/>
        </p:nvSpPr>
        <p:spPr>
          <a:xfrm>
            <a:off x="4974336" y="3245345"/>
            <a:ext cx="3657600" cy="12618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3D1040"/>
              </a:buClr>
              <a:buSzPts val="1150"/>
              <a:buFont typeface="Georgia"/>
              <a:buNone/>
            </a:pPr>
            <a:r>
              <a:rPr lang="en-US" sz="1150" b="0" i="1" u="none" strike="noStrike" cap="none">
                <a:solidFill>
                  <a:srgbClr val="3D1040"/>
                </a:solidFill>
                <a:latin typeface="Georgia"/>
                <a:ea typeface="Georgia"/>
                <a:cs typeface="Georgia"/>
                <a:sym typeface="Georgia"/>
              </a:rPr>
              <a:t>"Heartburn is so common in pregnancy because hormones relax the valve at the top of your stomach and the baby is pushing everything upward. Small meals and sleeping propped up really help."</a:t>
            </a:r>
            <a:endParaRPr sz="1150" b="0" i="0" u="none" strike="noStrike" cap="none">
              <a:solidFill>
                <a:schemeClr val="dk1"/>
              </a:solidFill>
              <a:latin typeface="Calibri"/>
              <a:ea typeface="Calibri"/>
              <a:cs typeface="Calibri"/>
              <a:sym typeface="Calibri"/>
            </a:endParaRPr>
          </a:p>
        </p:txBody>
      </p:sp>
      <p:sp>
        <p:nvSpPr>
          <p:cNvPr id="427" name="Google Shape;427;p26"/>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6"/>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4"/>
        <p:cNvGrpSpPr/>
        <p:nvPr/>
      </p:nvGrpSpPr>
      <p:grpSpPr>
        <a:xfrm>
          <a:off x="0" y="0"/>
          <a:ext cx="0" cy="0"/>
          <a:chOff x="0" y="0"/>
          <a:chExt cx="0" cy="0"/>
        </a:xfrm>
      </p:grpSpPr>
      <p:sp>
        <p:nvSpPr>
          <p:cNvPr id="435" name="Google Shape;435;p27"/>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COMMON PREGNANCY DISCOMFORTS</a:t>
            </a:r>
            <a:endParaRPr sz="900" b="0" i="0" u="none" strike="noStrike" cap="none">
              <a:solidFill>
                <a:schemeClr val="dk1"/>
              </a:solidFill>
              <a:latin typeface="Calibri"/>
              <a:ea typeface="Calibri"/>
              <a:cs typeface="Calibri"/>
              <a:sym typeface="Calibri"/>
            </a:endParaRPr>
          </a:p>
        </p:txBody>
      </p:sp>
      <p:sp>
        <p:nvSpPr>
          <p:cNvPr id="436" name="Google Shape;436;p27"/>
          <p:cNvSpPr/>
          <p:nvPr/>
        </p:nvSpPr>
        <p:spPr>
          <a:xfrm>
            <a:off x="411480" y="36576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400"/>
              <a:buFont typeface="Georgia"/>
              <a:buNone/>
            </a:pPr>
            <a:r>
              <a:rPr lang="en-US" sz="2400" b="1" i="0" u="none" strike="noStrike" cap="none">
                <a:solidFill>
                  <a:srgbClr val="5E376C"/>
                </a:solidFill>
                <a:latin typeface="Georgia"/>
                <a:ea typeface="Georgia"/>
                <a:cs typeface="Georgia"/>
                <a:sym typeface="Georgia"/>
              </a:rPr>
              <a:t>Swelling (Edema)</a:t>
            </a:r>
            <a:endParaRPr sz="2400" b="0" i="0" u="none" strike="noStrike" cap="none">
              <a:solidFill>
                <a:schemeClr val="dk1"/>
              </a:solidFill>
              <a:latin typeface="Calibri"/>
              <a:ea typeface="Calibri"/>
              <a:cs typeface="Calibri"/>
              <a:sym typeface="Calibri"/>
            </a:endParaRPr>
          </a:p>
        </p:txBody>
      </p:sp>
      <p:sp>
        <p:nvSpPr>
          <p:cNvPr id="437" name="Google Shape;437;p27"/>
          <p:cNvSpPr/>
          <p:nvPr/>
        </p:nvSpPr>
        <p:spPr>
          <a:xfrm>
            <a:off x="411505" y="855773"/>
            <a:ext cx="83211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350"/>
              <a:buFont typeface=" Arial"/>
              <a:buNone/>
            </a:pPr>
            <a:r>
              <a:rPr lang="en-US" sz="1350" b="0" i="1" u="none" strike="noStrike" cap="none">
                <a:solidFill>
                  <a:srgbClr val="6B6B6B"/>
                </a:solidFill>
                <a:latin typeface=" Arial"/>
                <a:ea typeface=" Arial"/>
                <a:cs typeface=" Arial"/>
                <a:sym typeface=" Arial"/>
              </a:rPr>
              <a:t>Normal in the feet, ankles, and hands — especially in the third trimester. Blood volume has increased 40–50%.</a:t>
            </a:r>
            <a:endParaRPr sz="1350" b="0" i="0" u="none" strike="noStrike" cap="none">
              <a:solidFill>
                <a:schemeClr val="dk1"/>
              </a:solidFill>
              <a:latin typeface="Calibri"/>
              <a:ea typeface="Calibri"/>
              <a:cs typeface="Calibri"/>
              <a:sym typeface="Calibri"/>
            </a:endParaRPr>
          </a:p>
        </p:txBody>
      </p:sp>
      <p:sp>
        <p:nvSpPr>
          <p:cNvPr id="438" name="Google Shape;438;p27"/>
          <p:cNvSpPr/>
          <p:nvPr/>
        </p:nvSpPr>
        <p:spPr>
          <a:xfrm>
            <a:off x="320065" y="1294685"/>
            <a:ext cx="4297800" cy="3310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7"/>
          <p:cNvSpPr/>
          <p:nvPr/>
        </p:nvSpPr>
        <p:spPr>
          <a:xfrm>
            <a:off x="320065" y="1294685"/>
            <a:ext cx="73200" cy="33102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7"/>
          <p:cNvSpPr/>
          <p:nvPr/>
        </p:nvSpPr>
        <p:spPr>
          <a:xfrm>
            <a:off x="512089" y="1386125"/>
            <a:ext cx="3931800" cy="255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200"/>
              <a:buFont typeface=" Arial"/>
              <a:buNone/>
            </a:pPr>
            <a:r>
              <a:rPr lang="en-US" sz="1200" b="1" i="0" u="none" strike="noStrike" cap="none">
                <a:solidFill>
                  <a:srgbClr val="5E376C"/>
                </a:solidFill>
                <a:latin typeface=" Arial"/>
                <a:ea typeface=" Arial"/>
                <a:cs typeface=" Arial"/>
                <a:sym typeface=" Arial"/>
              </a:rPr>
              <a:t>What you can offer:</a:t>
            </a:r>
            <a:endParaRPr sz="1200" b="0" i="0" u="none" strike="noStrike" cap="none">
              <a:solidFill>
                <a:schemeClr val="dk1"/>
              </a:solidFill>
              <a:latin typeface="Calibri"/>
              <a:ea typeface="Calibri"/>
              <a:cs typeface="Calibri"/>
              <a:sym typeface="Calibri"/>
            </a:endParaRPr>
          </a:p>
        </p:txBody>
      </p:sp>
      <p:sp>
        <p:nvSpPr>
          <p:cNvPr id="441" name="Google Shape;441;p27"/>
          <p:cNvSpPr/>
          <p:nvPr/>
        </p:nvSpPr>
        <p:spPr>
          <a:xfrm>
            <a:off x="512089" y="1678733"/>
            <a:ext cx="3950100" cy="28347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Elevate feet when resting</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Avoid prolonged standing</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Stay hydrated — reduces swelling</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Reduce sodium intake</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Compression stockings if needed</a:t>
            </a:r>
            <a:endParaRPr sz="1250" b="0" i="0" u="none" strike="noStrike" cap="none">
              <a:solidFill>
                <a:schemeClr val="dk1"/>
              </a:solidFill>
              <a:latin typeface="Calibri"/>
              <a:ea typeface="Calibri"/>
              <a:cs typeface="Calibri"/>
              <a:sym typeface="Calibri"/>
            </a:endParaRPr>
          </a:p>
        </p:txBody>
      </p:sp>
      <p:sp>
        <p:nvSpPr>
          <p:cNvPr id="442" name="Google Shape;442;p27"/>
          <p:cNvSpPr/>
          <p:nvPr/>
        </p:nvSpPr>
        <p:spPr>
          <a:xfrm>
            <a:off x="4800625" y="1294685"/>
            <a:ext cx="4023300" cy="1481400"/>
          </a:xfrm>
          <a:prstGeom prst="rect">
            <a:avLst/>
          </a:prstGeom>
          <a:solidFill>
            <a:srgbClr val="FFFBEB"/>
          </a:solidFill>
          <a:ln w="12700" cap="flat" cmpd="sng">
            <a:solidFill>
              <a:srgbClr val="D97706"/>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7"/>
          <p:cNvSpPr/>
          <p:nvPr/>
        </p:nvSpPr>
        <p:spPr>
          <a:xfrm>
            <a:off x="4800625" y="1294685"/>
            <a:ext cx="73200" cy="1481400"/>
          </a:xfrm>
          <a:prstGeom prst="rect">
            <a:avLst/>
          </a:prstGeom>
          <a:solidFill>
            <a:srgbClr val="D97706"/>
          </a:solidFill>
          <a:ln w="12700" cap="flat" cmpd="sng">
            <a:solidFill>
              <a:srgbClr val="D977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7"/>
          <p:cNvSpPr/>
          <p:nvPr/>
        </p:nvSpPr>
        <p:spPr>
          <a:xfrm>
            <a:off x="4974361" y="1386125"/>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97706"/>
              </a:buClr>
              <a:buSzPts val="1100"/>
              <a:buFont typeface=" Arial"/>
              <a:buNone/>
            </a:pPr>
            <a:r>
              <a:rPr lang="en-US" sz="1100" b="1" i="0" u="none" strike="noStrike" cap="none">
                <a:solidFill>
                  <a:srgbClr val="D97706"/>
                </a:solidFill>
                <a:latin typeface=" Arial"/>
                <a:ea typeface=" Arial"/>
                <a:cs typeface=" Arial"/>
                <a:sym typeface=" Arial"/>
              </a:rPr>
              <a:t>When to refer to provider:</a:t>
            </a:r>
            <a:endParaRPr sz="1100" b="0" i="0" u="none" strike="noStrike" cap="none">
              <a:solidFill>
                <a:schemeClr val="dk1"/>
              </a:solidFill>
              <a:latin typeface="Calibri"/>
              <a:ea typeface="Calibri"/>
              <a:cs typeface="Calibri"/>
              <a:sym typeface="Calibri"/>
            </a:endParaRPr>
          </a:p>
        </p:txBody>
      </p:sp>
      <p:sp>
        <p:nvSpPr>
          <p:cNvPr id="445" name="Google Shape;445;p27"/>
          <p:cNvSpPr/>
          <p:nvPr/>
        </p:nvSpPr>
        <p:spPr>
          <a:xfrm>
            <a:off x="4974361" y="1660445"/>
            <a:ext cx="3657600" cy="1024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150"/>
              <a:buFont typeface=" Arial"/>
              <a:buNone/>
            </a:pPr>
            <a:r>
              <a:rPr lang="en-US" sz="1150" b="0" i="0" u="none" strike="noStrike" cap="none">
                <a:solidFill>
                  <a:srgbClr val="2D2D2D"/>
                </a:solidFill>
                <a:latin typeface=" Arial"/>
                <a:ea typeface=" Arial"/>
                <a:cs typeface=" Arial"/>
                <a:sym typeface=" Arial"/>
              </a:rPr>
              <a:t>Sudden, severe swelling in the face, hands, or around the eyes — especially with headache or vision changes — requires immediate evaluation. One leg significantly more swollen than the other may indicate a blood clot.</a:t>
            </a:r>
            <a:endParaRPr sz="1150" b="0" i="0" u="none" strike="noStrike" cap="none">
              <a:solidFill>
                <a:schemeClr val="dk1"/>
              </a:solidFill>
              <a:latin typeface="Calibri"/>
              <a:ea typeface="Calibri"/>
              <a:cs typeface="Calibri"/>
              <a:sym typeface="Calibri"/>
            </a:endParaRPr>
          </a:p>
        </p:txBody>
      </p:sp>
      <p:sp>
        <p:nvSpPr>
          <p:cNvPr id="446" name="Google Shape;446;p27"/>
          <p:cNvSpPr/>
          <p:nvPr/>
        </p:nvSpPr>
        <p:spPr>
          <a:xfrm>
            <a:off x="4800625" y="2894885"/>
            <a:ext cx="4023300" cy="17100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7"/>
          <p:cNvSpPr/>
          <p:nvPr/>
        </p:nvSpPr>
        <p:spPr>
          <a:xfrm>
            <a:off x="4800625" y="2894885"/>
            <a:ext cx="73200" cy="17100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7"/>
          <p:cNvSpPr/>
          <p:nvPr/>
        </p:nvSpPr>
        <p:spPr>
          <a:xfrm>
            <a:off x="4974361" y="2986325"/>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100"/>
              <a:buFont typeface=" Arial"/>
              <a:buNone/>
            </a:pPr>
            <a:r>
              <a:rPr lang="en-US" sz="1100" b="1" i="0" u="none" strike="noStrike" cap="none">
                <a:solidFill>
                  <a:srgbClr val="DB2777"/>
                </a:solidFill>
                <a:latin typeface=" Arial"/>
                <a:ea typeface=" Arial"/>
                <a:cs typeface=" Arial"/>
                <a:sym typeface=" Arial"/>
              </a:rPr>
              <a:t>Doula script:</a:t>
            </a:r>
            <a:endParaRPr sz="1100" b="0" i="0" u="none" strike="noStrike" cap="none">
              <a:solidFill>
                <a:schemeClr val="dk1"/>
              </a:solidFill>
              <a:latin typeface="Calibri"/>
              <a:ea typeface="Calibri"/>
              <a:cs typeface="Calibri"/>
              <a:sym typeface="Calibri"/>
            </a:endParaRPr>
          </a:p>
        </p:txBody>
      </p:sp>
      <p:sp>
        <p:nvSpPr>
          <p:cNvPr id="449" name="Google Shape;449;p27"/>
          <p:cNvSpPr/>
          <p:nvPr/>
        </p:nvSpPr>
        <p:spPr>
          <a:xfrm>
            <a:off x="4974361" y="3260645"/>
            <a:ext cx="3657600" cy="12618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3D1040"/>
              </a:buClr>
              <a:buSzPts val="1150"/>
              <a:buFont typeface="Georgia"/>
              <a:buNone/>
            </a:pPr>
            <a:r>
              <a:rPr lang="en-US" sz="1150" b="0" i="1" u="none" strike="noStrike" cap="none">
                <a:solidFill>
                  <a:srgbClr val="3D1040"/>
                </a:solidFill>
                <a:latin typeface="Georgia"/>
                <a:ea typeface="Georgia"/>
                <a:cs typeface="Georgia"/>
                <a:sym typeface="Georgia"/>
              </a:rPr>
              <a:t>"Swelling in your feet and ankles is really common, especially in the heat or at the end of the day. Elevating your feet helps. Drinking water actually helps reduce it, even though that seems backward."</a:t>
            </a:r>
            <a:endParaRPr sz="1150" b="0" i="0" u="none" strike="noStrike" cap="none">
              <a:solidFill>
                <a:schemeClr val="dk1"/>
              </a:solidFill>
              <a:latin typeface="Calibri"/>
              <a:ea typeface="Calibri"/>
              <a:cs typeface="Calibri"/>
              <a:sym typeface="Calibri"/>
            </a:endParaRPr>
          </a:p>
        </p:txBody>
      </p:sp>
      <p:sp>
        <p:nvSpPr>
          <p:cNvPr id="450" name="Google Shape;450;p27"/>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7"/>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7"/>
        <p:cNvGrpSpPr/>
        <p:nvPr/>
      </p:nvGrpSpPr>
      <p:grpSpPr>
        <a:xfrm>
          <a:off x="0" y="0"/>
          <a:ext cx="0" cy="0"/>
          <a:chOff x="0" y="0"/>
          <a:chExt cx="0" cy="0"/>
        </a:xfrm>
      </p:grpSpPr>
      <p:sp>
        <p:nvSpPr>
          <p:cNvPr id="458" name="Google Shape;458;p28"/>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COMMON PREGNANCY DISCOMFORTS</a:t>
            </a:r>
            <a:endParaRPr sz="900" b="0" i="0" u="none" strike="noStrike" cap="none">
              <a:solidFill>
                <a:schemeClr val="dk1"/>
              </a:solidFill>
              <a:latin typeface="Calibri"/>
              <a:ea typeface="Calibri"/>
              <a:cs typeface="Calibri"/>
              <a:sym typeface="Calibri"/>
            </a:endParaRPr>
          </a:p>
        </p:txBody>
      </p:sp>
      <p:sp>
        <p:nvSpPr>
          <p:cNvPr id="459" name="Google Shape;459;p28"/>
          <p:cNvSpPr/>
          <p:nvPr/>
        </p:nvSpPr>
        <p:spPr>
          <a:xfrm>
            <a:off x="411480" y="365760"/>
            <a:ext cx="8321040" cy="6583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400"/>
              <a:buFont typeface="Georgia"/>
              <a:buNone/>
            </a:pPr>
            <a:r>
              <a:rPr lang="en-US" sz="2400" b="1" i="0" u="none" strike="noStrike" cap="none">
                <a:solidFill>
                  <a:srgbClr val="5E376C"/>
                </a:solidFill>
                <a:latin typeface="Georgia"/>
                <a:ea typeface="Georgia"/>
                <a:cs typeface="Georgia"/>
                <a:sym typeface="Georgia"/>
              </a:rPr>
              <a:t>Back &amp; Pelvic Pain</a:t>
            </a:r>
            <a:endParaRPr sz="2400" b="0" i="0" u="none" strike="noStrike" cap="none">
              <a:solidFill>
                <a:schemeClr val="dk1"/>
              </a:solidFill>
              <a:latin typeface="Calibri"/>
              <a:ea typeface="Calibri"/>
              <a:cs typeface="Calibri"/>
              <a:sym typeface="Calibri"/>
            </a:endParaRPr>
          </a:p>
        </p:txBody>
      </p:sp>
      <p:sp>
        <p:nvSpPr>
          <p:cNvPr id="460" name="Google Shape;460;p28"/>
          <p:cNvSpPr/>
          <p:nvPr/>
        </p:nvSpPr>
        <p:spPr>
          <a:xfrm>
            <a:off x="411480" y="855798"/>
            <a:ext cx="83211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350"/>
              <a:buFont typeface=" Arial"/>
              <a:buNone/>
            </a:pPr>
            <a:r>
              <a:rPr lang="en-US" sz="1350" b="0" i="1" u="none" strike="noStrike" cap="none">
                <a:solidFill>
                  <a:srgbClr val="6B6B6B"/>
                </a:solidFill>
                <a:latin typeface=" Arial"/>
                <a:ea typeface=" Arial"/>
                <a:cs typeface=" Arial"/>
                <a:sym typeface=" Arial"/>
              </a:rPr>
              <a:t>Caused by shifted center of gravity, relaxin loosening ligaments, and a growing uterus.</a:t>
            </a:r>
            <a:endParaRPr sz="1350" b="0" i="0" u="none" strike="noStrike" cap="none">
              <a:solidFill>
                <a:schemeClr val="dk1"/>
              </a:solidFill>
              <a:latin typeface="Calibri"/>
              <a:ea typeface="Calibri"/>
              <a:cs typeface="Calibri"/>
              <a:sym typeface="Calibri"/>
            </a:endParaRPr>
          </a:p>
        </p:txBody>
      </p:sp>
      <p:sp>
        <p:nvSpPr>
          <p:cNvPr id="461" name="Google Shape;461;p28"/>
          <p:cNvSpPr/>
          <p:nvPr/>
        </p:nvSpPr>
        <p:spPr>
          <a:xfrm>
            <a:off x="320040" y="1294710"/>
            <a:ext cx="4297800" cy="3310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8"/>
          <p:cNvSpPr/>
          <p:nvPr/>
        </p:nvSpPr>
        <p:spPr>
          <a:xfrm>
            <a:off x="320040" y="1294710"/>
            <a:ext cx="73200" cy="33102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8"/>
          <p:cNvSpPr/>
          <p:nvPr/>
        </p:nvSpPr>
        <p:spPr>
          <a:xfrm>
            <a:off x="512064" y="1386150"/>
            <a:ext cx="3931800" cy="255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200"/>
              <a:buFont typeface=" Arial"/>
              <a:buNone/>
            </a:pPr>
            <a:r>
              <a:rPr lang="en-US" sz="1200" b="1" i="0" u="none" strike="noStrike" cap="none">
                <a:solidFill>
                  <a:srgbClr val="845995"/>
                </a:solidFill>
                <a:latin typeface=" Arial"/>
                <a:ea typeface=" Arial"/>
                <a:cs typeface=" Arial"/>
                <a:sym typeface=" Arial"/>
              </a:rPr>
              <a:t>What you can offer:</a:t>
            </a:r>
            <a:endParaRPr sz="1200" b="0" i="0" u="none" strike="noStrike" cap="none">
              <a:solidFill>
                <a:schemeClr val="dk1"/>
              </a:solidFill>
              <a:latin typeface="Calibri"/>
              <a:ea typeface="Calibri"/>
              <a:cs typeface="Calibri"/>
              <a:sym typeface="Calibri"/>
            </a:endParaRPr>
          </a:p>
        </p:txBody>
      </p:sp>
      <p:sp>
        <p:nvSpPr>
          <p:cNvPr id="464" name="Google Shape;464;p28"/>
          <p:cNvSpPr/>
          <p:nvPr/>
        </p:nvSpPr>
        <p:spPr>
          <a:xfrm>
            <a:off x="512064" y="1678758"/>
            <a:ext cx="3950100" cy="28347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Posture: shoulders back, pelvis tucked</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Supportive shoes — avoid heels</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Prenatal yoga, gentle stretching</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Heat for muscle pain (not belly)</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Side-lying with pillow between knees</a:t>
            </a:r>
            <a:endParaRPr sz="1250" b="0" i="0" u="none" strike="noStrike" cap="none">
              <a:solidFill>
                <a:schemeClr val="dk1"/>
              </a:solidFill>
              <a:latin typeface="Calibri"/>
              <a:ea typeface="Calibri"/>
              <a:cs typeface="Calibri"/>
              <a:sym typeface="Calibri"/>
            </a:endParaRPr>
          </a:p>
        </p:txBody>
      </p:sp>
      <p:sp>
        <p:nvSpPr>
          <p:cNvPr id="465" name="Google Shape;465;p28"/>
          <p:cNvSpPr/>
          <p:nvPr/>
        </p:nvSpPr>
        <p:spPr>
          <a:xfrm>
            <a:off x="4800600" y="1294710"/>
            <a:ext cx="4023300" cy="1481400"/>
          </a:xfrm>
          <a:prstGeom prst="rect">
            <a:avLst/>
          </a:prstGeom>
          <a:solidFill>
            <a:srgbClr val="FFFBEB"/>
          </a:solidFill>
          <a:ln w="12700" cap="flat" cmpd="sng">
            <a:solidFill>
              <a:srgbClr val="D97706"/>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8"/>
          <p:cNvSpPr/>
          <p:nvPr/>
        </p:nvSpPr>
        <p:spPr>
          <a:xfrm>
            <a:off x="4800600" y="1294710"/>
            <a:ext cx="73200" cy="1481400"/>
          </a:xfrm>
          <a:prstGeom prst="rect">
            <a:avLst/>
          </a:prstGeom>
          <a:solidFill>
            <a:srgbClr val="D97706"/>
          </a:solidFill>
          <a:ln w="12700" cap="flat" cmpd="sng">
            <a:solidFill>
              <a:srgbClr val="D977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8"/>
          <p:cNvSpPr/>
          <p:nvPr/>
        </p:nvSpPr>
        <p:spPr>
          <a:xfrm>
            <a:off x="4974336" y="1386150"/>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97706"/>
              </a:buClr>
              <a:buSzPts val="1100"/>
              <a:buFont typeface=" Arial"/>
              <a:buNone/>
            </a:pPr>
            <a:r>
              <a:rPr lang="en-US" sz="1100" b="1" i="0" u="none" strike="noStrike" cap="none">
                <a:solidFill>
                  <a:srgbClr val="D97706"/>
                </a:solidFill>
                <a:latin typeface=" Arial"/>
                <a:ea typeface=" Arial"/>
                <a:cs typeface=" Arial"/>
                <a:sym typeface=" Arial"/>
              </a:rPr>
              <a:t>When to refer to provider:</a:t>
            </a:r>
            <a:endParaRPr sz="1100" b="0" i="0" u="none" strike="noStrike" cap="none">
              <a:solidFill>
                <a:schemeClr val="dk1"/>
              </a:solidFill>
              <a:latin typeface="Calibri"/>
              <a:ea typeface="Calibri"/>
              <a:cs typeface="Calibri"/>
              <a:sym typeface="Calibri"/>
            </a:endParaRPr>
          </a:p>
        </p:txBody>
      </p:sp>
      <p:sp>
        <p:nvSpPr>
          <p:cNvPr id="468" name="Google Shape;468;p28"/>
          <p:cNvSpPr/>
          <p:nvPr/>
        </p:nvSpPr>
        <p:spPr>
          <a:xfrm>
            <a:off x="4974336" y="1660470"/>
            <a:ext cx="3657600" cy="1024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150"/>
              <a:buFont typeface=" Arial"/>
              <a:buNone/>
            </a:pPr>
            <a:r>
              <a:rPr lang="en-US" sz="1150" b="0" i="0" u="none" strike="noStrike" cap="none">
                <a:solidFill>
                  <a:srgbClr val="2D2D2D"/>
                </a:solidFill>
                <a:latin typeface=" Arial"/>
                <a:ea typeface=" Arial"/>
                <a:cs typeface=" Arial"/>
                <a:sym typeface=" Arial"/>
              </a:rPr>
              <a:t>Severe, persistent pain or symphysis pubis dysfunction (SPD) may benefit from a referral to a prenatal physical therapist.</a:t>
            </a:r>
            <a:endParaRPr sz="1150" b="0" i="0" u="none" strike="noStrike" cap="none">
              <a:solidFill>
                <a:schemeClr val="dk1"/>
              </a:solidFill>
              <a:latin typeface="Calibri"/>
              <a:ea typeface="Calibri"/>
              <a:cs typeface="Calibri"/>
              <a:sym typeface="Calibri"/>
            </a:endParaRPr>
          </a:p>
        </p:txBody>
      </p:sp>
      <p:sp>
        <p:nvSpPr>
          <p:cNvPr id="469" name="Google Shape;469;p28"/>
          <p:cNvSpPr/>
          <p:nvPr/>
        </p:nvSpPr>
        <p:spPr>
          <a:xfrm>
            <a:off x="4800600" y="2894910"/>
            <a:ext cx="4023300" cy="17100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8"/>
          <p:cNvSpPr/>
          <p:nvPr/>
        </p:nvSpPr>
        <p:spPr>
          <a:xfrm>
            <a:off x="4800600" y="2894910"/>
            <a:ext cx="73200" cy="17100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8"/>
          <p:cNvSpPr/>
          <p:nvPr/>
        </p:nvSpPr>
        <p:spPr>
          <a:xfrm>
            <a:off x="4974336" y="2986350"/>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100"/>
              <a:buFont typeface=" Arial"/>
              <a:buNone/>
            </a:pPr>
            <a:r>
              <a:rPr lang="en-US" sz="1100" b="1" i="0" u="none" strike="noStrike" cap="none">
                <a:solidFill>
                  <a:srgbClr val="DB2777"/>
                </a:solidFill>
                <a:latin typeface=" Arial"/>
                <a:ea typeface=" Arial"/>
                <a:cs typeface=" Arial"/>
                <a:sym typeface=" Arial"/>
              </a:rPr>
              <a:t>Doula script:</a:t>
            </a:r>
            <a:endParaRPr sz="1100" b="0" i="0" u="none" strike="noStrike" cap="none">
              <a:solidFill>
                <a:schemeClr val="dk1"/>
              </a:solidFill>
              <a:latin typeface="Calibri"/>
              <a:ea typeface="Calibri"/>
              <a:cs typeface="Calibri"/>
              <a:sym typeface="Calibri"/>
            </a:endParaRPr>
          </a:p>
        </p:txBody>
      </p:sp>
      <p:sp>
        <p:nvSpPr>
          <p:cNvPr id="472" name="Google Shape;472;p28"/>
          <p:cNvSpPr/>
          <p:nvPr/>
        </p:nvSpPr>
        <p:spPr>
          <a:xfrm>
            <a:off x="4974336" y="3260670"/>
            <a:ext cx="3657600" cy="12618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3D1040"/>
              </a:buClr>
              <a:buSzPts val="1150"/>
              <a:buFont typeface="Georgia"/>
              <a:buNone/>
            </a:pPr>
            <a:r>
              <a:rPr lang="en-US" sz="1150" b="0" i="1" u="none" strike="noStrike" cap="none">
                <a:solidFill>
                  <a:srgbClr val="3D1040"/>
                </a:solidFill>
                <a:latin typeface="Georgia"/>
                <a:ea typeface="Georgia"/>
                <a:cs typeface="Georgia"/>
                <a:sym typeface="Georgia"/>
              </a:rPr>
              <a:t>"Your body is doing a lot of shifting and adjusting. Back pain is really common. Stretching helps, heat helps, and changing positions often helps. If it gets bad, prenatal PTs do amazing work."</a:t>
            </a:r>
            <a:endParaRPr sz="1150" b="0" i="0" u="none" strike="noStrike" cap="none">
              <a:solidFill>
                <a:schemeClr val="dk1"/>
              </a:solidFill>
              <a:latin typeface="Calibri"/>
              <a:ea typeface="Calibri"/>
              <a:cs typeface="Calibri"/>
              <a:sym typeface="Calibri"/>
            </a:endParaRPr>
          </a:p>
        </p:txBody>
      </p:sp>
      <p:sp>
        <p:nvSpPr>
          <p:cNvPr id="473" name="Google Shape;473;p28"/>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8"/>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0"/>
        <p:cNvGrpSpPr/>
        <p:nvPr/>
      </p:nvGrpSpPr>
      <p:grpSpPr>
        <a:xfrm>
          <a:off x="0" y="0"/>
          <a:ext cx="0" cy="0"/>
          <a:chOff x="0" y="0"/>
          <a:chExt cx="0" cy="0"/>
        </a:xfrm>
      </p:grpSpPr>
      <p:sp>
        <p:nvSpPr>
          <p:cNvPr id="481" name="Google Shape;481;p29"/>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COMMON PREGNANCY DISCOMFORTS</a:t>
            </a:r>
            <a:endParaRPr sz="900" b="0" i="0" u="none" strike="noStrike" cap="none">
              <a:solidFill>
                <a:schemeClr val="dk1"/>
              </a:solidFill>
              <a:latin typeface="Calibri"/>
              <a:ea typeface="Calibri"/>
              <a:cs typeface="Calibri"/>
              <a:sym typeface="Calibri"/>
            </a:endParaRPr>
          </a:p>
        </p:txBody>
      </p:sp>
      <p:sp>
        <p:nvSpPr>
          <p:cNvPr id="482" name="Google Shape;482;p29"/>
          <p:cNvSpPr/>
          <p:nvPr/>
        </p:nvSpPr>
        <p:spPr>
          <a:xfrm>
            <a:off x="411480" y="365760"/>
            <a:ext cx="8321040" cy="6583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400"/>
              <a:buFont typeface="Georgia"/>
              <a:buNone/>
            </a:pPr>
            <a:r>
              <a:rPr lang="en-US" sz="2400" b="1" i="0" u="none" strike="noStrike" cap="none">
                <a:solidFill>
                  <a:srgbClr val="5E376C"/>
                </a:solidFill>
                <a:latin typeface="Georgia"/>
                <a:ea typeface="Georgia"/>
                <a:cs typeface="Georgia"/>
                <a:sym typeface="Georgia"/>
              </a:rPr>
              <a:t>Fatigue</a:t>
            </a:r>
            <a:endParaRPr sz="2400" b="0" i="0" u="none" strike="noStrike" cap="none">
              <a:solidFill>
                <a:schemeClr val="dk1"/>
              </a:solidFill>
              <a:latin typeface="Calibri"/>
              <a:ea typeface="Calibri"/>
              <a:cs typeface="Calibri"/>
              <a:sym typeface="Calibri"/>
            </a:endParaRPr>
          </a:p>
        </p:txBody>
      </p:sp>
      <p:sp>
        <p:nvSpPr>
          <p:cNvPr id="483" name="Google Shape;483;p29"/>
          <p:cNvSpPr/>
          <p:nvPr/>
        </p:nvSpPr>
        <p:spPr>
          <a:xfrm>
            <a:off x="411505" y="833098"/>
            <a:ext cx="83211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350"/>
              <a:buFont typeface=" Arial"/>
              <a:buNone/>
            </a:pPr>
            <a:r>
              <a:rPr lang="en-US" sz="1350" b="0" i="1" u="none" strike="noStrike" cap="none">
                <a:solidFill>
                  <a:srgbClr val="6B6B6B"/>
                </a:solidFill>
                <a:latin typeface=" Arial"/>
                <a:ea typeface=" Arial"/>
                <a:cs typeface=" Arial"/>
                <a:sym typeface=" Arial"/>
              </a:rPr>
              <a:t>Real, intense, and often underestimated — especially in T1 and again in T3.</a:t>
            </a:r>
            <a:endParaRPr sz="1350" b="0" i="0" u="none" strike="noStrike" cap="none">
              <a:solidFill>
                <a:schemeClr val="dk1"/>
              </a:solidFill>
              <a:latin typeface="Calibri"/>
              <a:ea typeface="Calibri"/>
              <a:cs typeface="Calibri"/>
              <a:sym typeface="Calibri"/>
            </a:endParaRPr>
          </a:p>
        </p:txBody>
      </p:sp>
      <p:sp>
        <p:nvSpPr>
          <p:cNvPr id="484" name="Google Shape;484;p29"/>
          <p:cNvSpPr/>
          <p:nvPr/>
        </p:nvSpPr>
        <p:spPr>
          <a:xfrm>
            <a:off x="320065" y="1272010"/>
            <a:ext cx="4297800" cy="3310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9"/>
          <p:cNvSpPr/>
          <p:nvPr/>
        </p:nvSpPr>
        <p:spPr>
          <a:xfrm>
            <a:off x="320065" y="1272010"/>
            <a:ext cx="73200" cy="33102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9"/>
          <p:cNvSpPr/>
          <p:nvPr/>
        </p:nvSpPr>
        <p:spPr>
          <a:xfrm>
            <a:off x="512089" y="1363450"/>
            <a:ext cx="3931800" cy="255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200"/>
              <a:buFont typeface=" Arial"/>
              <a:buNone/>
            </a:pPr>
            <a:r>
              <a:rPr lang="en-US" sz="1200" b="1" i="0" u="none" strike="noStrike" cap="none">
                <a:solidFill>
                  <a:srgbClr val="5E376C"/>
                </a:solidFill>
                <a:latin typeface=" Arial"/>
                <a:ea typeface=" Arial"/>
                <a:cs typeface=" Arial"/>
                <a:sym typeface=" Arial"/>
              </a:rPr>
              <a:t>What you can offer:</a:t>
            </a:r>
            <a:endParaRPr sz="1200" b="0" i="0" u="none" strike="noStrike" cap="none">
              <a:solidFill>
                <a:schemeClr val="dk1"/>
              </a:solidFill>
              <a:latin typeface="Calibri"/>
              <a:ea typeface="Calibri"/>
              <a:cs typeface="Calibri"/>
              <a:sym typeface="Calibri"/>
            </a:endParaRPr>
          </a:p>
        </p:txBody>
      </p:sp>
      <p:sp>
        <p:nvSpPr>
          <p:cNvPr id="487" name="Google Shape;487;p29"/>
          <p:cNvSpPr/>
          <p:nvPr/>
        </p:nvSpPr>
        <p:spPr>
          <a:xfrm>
            <a:off x="512089" y="1656058"/>
            <a:ext cx="3950100" cy="28347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Permission to rest — not laziness</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Short naps (20–30 minutes)</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Protein + complex carbs for energy</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Hydration — dehydration worsens fatigue</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Gentle movement (walking) helps</a:t>
            </a:r>
            <a:endParaRPr sz="1250" b="0" i="0" u="none" strike="noStrike" cap="none">
              <a:solidFill>
                <a:schemeClr val="dk1"/>
              </a:solidFill>
              <a:latin typeface="Calibri"/>
              <a:ea typeface="Calibri"/>
              <a:cs typeface="Calibri"/>
              <a:sym typeface="Calibri"/>
            </a:endParaRPr>
          </a:p>
        </p:txBody>
      </p:sp>
      <p:sp>
        <p:nvSpPr>
          <p:cNvPr id="488" name="Google Shape;488;p29"/>
          <p:cNvSpPr/>
          <p:nvPr/>
        </p:nvSpPr>
        <p:spPr>
          <a:xfrm>
            <a:off x="4800625" y="1272010"/>
            <a:ext cx="4023300" cy="1481400"/>
          </a:xfrm>
          <a:prstGeom prst="rect">
            <a:avLst/>
          </a:prstGeom>
          <a:solidFill>
            <a:srgbClr val="FFFBEB"/>
          </a:solidFill>
          <a:ln w="12700" cap="flat" cmpd="sng">
            <a:solidFill>
              <a:srgbClr val="D97706"/>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9"/>
          <p:cNvSpPr/>
          <p:nvPr/>
        </p:nvSpPr>
        <p:spPr>
          <a:xfrm>
            <a:off x="4800625" y="1272010"/>
            <a:ext cx="73200" cy="1481400"/>
          </a:xfrm>
          <a:prstGeom prst="rect">
            <a:avLst/>
          </a:prstGeom>
          <a:solidFill>
            <a:srgbClr val="D97706"/>
          </a:solidFill>
          <a:ln w="12700" cap="flat" cmpd="sng">
            <a:solidFill>
              <a:srgbClr val="D977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9"/>
          <p:cNvSpPr/>
          <p:nvPr/>
        </p:nvSpPr>
        <p:spPr>
          <a:xfrm>
            <a:off x="4974361" y="1363450"/>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97706"/>
              </a:buClr>
              <a:buSzPts val="1100"/>
              <a:buFont typeface=" Arial"/>
              <a:buNone/>
            </a:pPr>
            <a:r>
              <a:rPr lang="en-US" sz="1100" b="1" i="0" u="none" strike="noStrike" cap="none">
                <a:solidFill>
                  <a:srgbClr val="D97706"/>
                </a:solidFill>
                <a:latin typeface=" Arial"/>
                <a:ea typeface=" Arial"/>
                <a:cs typeface=" Arial"/>
                <a:sym typeface=" Arial"/>
              </a:rPr>
              <a:t>When to refer to provider:</a:t>
            </a:r>
            <a:endParaRPr sz="1100" b="0" i="0" u="none" strike="noStrike" cap="none">
              <a:solidFill>
                <a:schemeClr val="dk1"/>
              </a:solidFill>
              <a:latin typeface="Calibri"/>
              <a:ea typeface="Calibri"/>
              <a:cs typeface="Calibri"/>
              <a:sym typeface="Calibri"/>
            </a:endParaRPr>
          </a:p>
        </p:txBody>
      </p:sp>
      <p:sp>
        <p:nvSpPr>
          <p:cNvPr id="491" name="Google Shape;491;p29"/>
          <p:cNvSpPr/>
          <p:nvPr/>
        </p:nvSpPr>
        <p:spPr>
          <a:xfrm>
            <a:off x="4974361" y="1637770"/>
            <a:ext cx="3657600" cy="1024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150"/>
              <a:buFont typeface=" Arial"/>
              <a:buNone/>
            </a:pPr>
            <a:r>
              <a:rPr lang="en-US" sz="1150" b="0" i="0" u="none" strike="noStrike" cap="none">
                <a:solidFill>
                  <a:srgbClr val="2D2D2D"/>
                </a:solidFill>
                <a:latin typeface=" Arial"/>
                <a:ea typeface=" Arial"/>
                <a:cs typeface=" Arial"/>
                <a:sym typeface=" Arial"/>
              </a:rPr>
              <a:t>Extreme, debilitating fatigue beyond what is typical may indicate anemia — encourage provider to check iron levels.</a:t>
            </a:r>
            <a:endParaRPr sz="1150" b="0" i="0" u="none" strike="noStrike" cap="none">
              <a:solidFill>
                <a:schemeClr val="dk1"/>
              </a:solidFill>
              <a:latin typeface="Calibri"/>
              <a:ea typeface="Calibri"/>
              <a:cs typeface="Calibri"/>
              <a:sym typeface="Calibri"/>
            </a:endParaRPr>
          </a:p>
        </p:txBody>
      </p:sp>
      <p:sp>
        <p:nvSpPr>
          <p:cNvPr id="492" name="Google Shape;492;p29"/>
          <p:cNvSpPr/>
          <p:nvPr/>
        </p:nvSpPr>
        <p:spPr>
          <a:xfrm>
            <a:off x="4800625" y="2872210"/>
            <a:ext cx="4023300" cy="17100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9"/>
          <p:cNvSpPr/>
          <p:nvPr/>
        </p:nvSpPr>
        <p:spPr>
          <a:xfrm>
            <a:off x="4800625" y="2872210"/>
            <a:ext cx="73200" cy="17100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9"/>
          <p:cNvSpPr/>
          <p:nvPr/>
        </p:nvSpPr>
        <p:spPr>
          <a:xfrm>
            <a:off x="4974361" y="2963650"/>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100"/>
              <a:buFont typeface=" Arial"/>
              <a:buNone/>
            </a:pPr>
            <a:r>
              <a:rPr lang="en-US" sz="1100" b="1" i="0" u="none" strike="noStrike" cap="none">
                <a:solidFill>
                  <a:srgbClr val="DB2777"/>
                </a:solidFill>
                <a:latin typeface=" Arial"/>
                <a:ea typeface=" Arial"/>
                <a:cs typeface=" Arial"/>
                <a:sym typeface=" Arial"/>
              </a:rPr>
              <a:t>Doula script:</a:t>
            </a:r>
            <a:endParaRPr sz="1100" b="0" i="0" u="none" strike="noStrike" cap="none">
              <a:solidFill>
                <a:schemeClr val="dk1"/>
              </a:solidFill>
              <a:latin typeface="Calibri"/>
              <a:ea typeface="Calibri"/>
              <a:cs typeface="Calibri"/>
              <a:sym typeface="Calibri"/>
            </a:endParaRPr>
          </a:p>
        </p:txBody>
      </p:sp>
      <p:sp>
        <p:nvSpPr>
          <p:cNvPr id="495" name="Google Shape;495;p29"/>
          <p:cNvSpPr/>
          <p:nvPr/>
        </p:nvSpPr>
        <p:spPr>
          <a:xfrm>
            <a:off x="4974361" y="3237970"/>
            <a:ext cx="3657600" cy="12618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3D1040"/>
              </a:buClr>
              <a:buSzPts val="1150"/>
              <a:buFont typeface="Georgia"/>
              <a:buNone/>
            </a:pPr>
            <a:r>
              <a:rPr lang="en-US" sz="1150" b="0" i="1" u="none" strike="noStrike" cap="none">
                <a:solidFill>
                  <a:srgbClr val="3D1040"/>
                </a:solidFill>
                <a:latin typeface="Georgia"/>
                <a:ea typeface="Georgia"/>
                <a:cs typeface="Georgia"/>
                <a:sym typeface="Georgia"/>
              </a:rPr>
              <a:t>"Your body is working so hard right now — harder than it would running a marathon. Of course you're tired. Rest when you can. This isn't laziness. This is your body doing exactly what it needs to do."</a:t>
            </a:r>
            <a:endParaRPr sz="1150" b="0" i="0" u="none" strike="noStrike" cap="none">
              <a:solidFill>
                <a:schemeClr val="dk1"/>
              </a:solidFill>
              <a:latin typeface="Calibri"/>
              <a:ea typeface="Calibri"/>
              <a:cs typeface="Calibri"/>
              <a:sym typeface="Calibri"/>
            </a:endParaRPr>
          </a:p>
        </p:txBody>
      </p:sp>
      <p:sp>
        <p:nvSpPr>
          <p:cNvPr id="496" name="Google Shape;496;p29"/>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9"/>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3"/>
        <p:cNvGrpSpPr/>
        <p:nvPr/>
      </p:nvGrpSpPr>
      <p:grpSpPr>
        <a:xfrm>
          <a:off x="0" y="0"/>
          <a:ext cx="0" cy="0"/>
          <a:chOff x="0" y="0"/>
          <a:chExt cx="0" cy="0"/>
        </a:xfrm>
      </p:grpSpPr>
      <p:sp>
        <p:nvSpPr>
          <p:cNvPr id="504" name="Google Shape;504;p30"/>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COMMON PREGNANCY DISCOMFORTS</a:t>
            </a:r>
            <a:endParaRPr sz="900" b="0" i="0" u="none" strike="noStrike" cap="none">
              <a:solidFill>
                <a:schemeClr val="dk1"/>
              </a:solidFill>
              <a:latin typeface="Calibri"/>
              <a:ea typeface="Calibri"/>
              <a:cs typeface="Calibri"/>
              <a:sym typeface="Calibri"/>
            </a:endParaRPr>
          </a:p>
        </p:txBody>
      </p:sp>
      <p:sp>
        <p:nvSpPr>
          <p:cNvPr id="505" name="Google Shape;505;p30"/>
          <p:cNvSpPr/>
          <p:nvPr/>
        </p:nvSpPr>
        <p:spPr>
          <a:xfrm>
            <a:off x="411480" y="365760"/>
            <a:ext cx="8321040" cy="6583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400"/>
              <a:buFont typeface="Georgia"/>
              <a:buNone/>
            </a:pPr>
            <a:r>
              <a:rPr lang="en-US" sz="2400" b="1" i="0" u="none" strike="noStrike" cap="none">
                <a:solidFill>
                  <a:srgbClr val="5E376C"/>
                </a:solidFill>
                <a:latin typeface="Georgia"/>
                <a:ea typeface="Georgia"/>
                <a:cs typeface="Georgia"/>
                <a:sym typeface="Georgia"/>
              </a:rPr>
              <a:t>Braxton Hicks Contractions</a:t>
            </a:r>
            <a:endParaRPr sz="2400" b="0" i="0" u="none" strike="noStrike" cap="none">
              <a:solidFill>
                <a:schemeClr val="dk1"/>
              </a:solidFill>
              <a:latin typeface="Calibri"/>
              <a:ea typeface="Calibri"/>
              <a:cs typeface="Calibri"/>
              <a:sym typeface="Calibri"/>
            </a:endParaRPr>
          </a:p>
        </p:txBody>
      </p:sp>
      <p:sp>
        <p:nvSpPr>
          <p:cNvPr id="506" name="Google Shape;506;p30"/>
          <p:cNvSpPr/>
          <p:nvPr/>
        </p:nvSpPr>
        <p:spPr>
          <a:xfrm>
            <a:off x="411480" y="886348"/>
            <a:ext cx="83211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350"/>
              <a:buFont typeface=" Arial"/>
              <a:buNone/>
            </a:pPr>
            <a:r>
              <a:rPr lang="en-US" sz="1350" b="0" i="1" u="none" strike="noStrike" cap="none">
                <a:solidFill>
                  <a:srgbClr val="6B6B6B"/>
                </a:solidFill>
                <a:latin typeface=" Arial"/>
                <a:ea typeface=" Arial"/>
                <a:cs typeface=" Arial"/>
                <a:sym typeface=" Arial"/>
              </a:rPr>
              <a:t>Practice contractions — irregular, usually painless, and stop with position change or hydration.</a:t>
            </a:r>
            <a:endParaRPr sz="1350" b="0" i="0" u="none" strike="noStrike" cap="none">
              <a:solidFill>
                <a:schemeClr val="dk1"/>
              </a:solidFill>
              <a:latin typeface="Calibri"/>
              <a:ea typeface="Calibri"/>
              <a:cs typeface="Calibri"/>
              <a:sym typeface="Calibri"/>
            </a:endParaRPr>
          </a:p>
        </p:txBody>
      </p:sp>
      <p:sp>
        <p:nvSpPr>
          <p:cNvPr id="507" name="Google Shape;507;p30"/>
          <p:cNvSpPr/>
          <p:nvPr/>
        </p:nvSpPr>
        <p:spPr>
          <a:xfrm>
            <a:off x="320040" y="1325260"/>
            <a:ext cx="4297800" cy="3310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0"/>
          <p:cNvSpPr/>
          <p:nvPr/>
        </p:nvSpPr>
        <p:spPr>
          <a:xfrm>
            <a:off x="320040" y="1325260"/>
            <a:ext cx="73200" cy="33102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0"/>
          <p:cNvSpPr/>
          <p:nvPr/>
        </p:nvSpPr>
        <p:spPr>
          <a:xfrm>
            <a:off x="512064" y="1416700"/>
            <a:ext cx="3931800" cy="255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200"/>
              <a:buFont typeface=" Arial"/>
              <a:buNone/>
            </a:pPr>
            <a:r>
              <a:rPr lang="en-US" sz="1200" b="1" i="0" u="none" strike="noStrike" cap="none">
                <a:solidFill>
                  <a:srgbClr val="845995"/>
                </a:solidFill>
                <a:latin typeface=" Arial"/>
                <a:ea typeface=" Arial"/>
                <a:cs typeface=" Arial"/>
                <a:sym typeface=" Arial"/>
              </a:rPr>
              <a:t>What you can offer:</a:t>
            </a:r>
            <a:endParaRPr sz="1200" b="0" i="0" u="none" strike="noStrike" cap="none">
              <a:solidFill>
                <a:schemeClr val="dk1"/>
              </a:solidFill>
              <a:latin typeface="Calibri"/>
              <a:ea typeface="Calibri"/>
              <a:cs typeface="Calibri"/>
              <a:sym typeface="Calibri"/>
            </a:endParaRPr>
          </a:p>
        </p:txBody>
      </p:sp>
      <p:sp>
        <p:nvSpPr>
          <p:cNvPr id="510" name="Google Shape;510;p30"/>
          <p:cNvSpPr/>
          <p:nvPr/>
        </p:nvSpPr>
        <p:spPr>
          <a:xfrm>
            <a:off x="512064" y="1709308"/>
            <a:ext cx="3950100" cy="28347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Hydration first — common trigger</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Position change often stops them</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Rest if frequent</a:t>
            </a:r>
            <a:endParaRPr sz="12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250"/>
              <a:buFont typeface=" Arial"/>
              <a:buChar char="–"/>
            </a:pPr>
            <a:r>
              <a:rPr lang="en-US" sz="1250" b="0" i="0" u="none" strike="noStrike" cap="none">
                <a:solidFill>
                  <a:srgbClr val="2D2D2D"/>
                </a:solidFill>
                <a:latin typeface=" Arial"/>
                <a:ea typeface=" Arial"/>
                <a:cs typeface=" Arial"/>
                <a:sym typeface=" Arial"/>
              </a:rPr>
              <a:t>Reassurance: uterus practicing, not labor</a:t>
            </a:r>
            <a:endParaRPr sz="1250" b="0" i="0" u="none" strike="noStrike" cap="none">
              <a:solidFill>
                <a:schemeClr val="dk1"/>
              </a:solidFill>
              <a:latin typeface="Calibri"/>
              <a:ea typeface="Calibri"/>
              <a:cs typeface="Calibri"/>
              <a:sym typeface="Calibri"/>
            </a:endParaRPr>
          </a:p>
        </p:txBody>
      </p:sp>
      <p:sp>
        <p:nvSpPr>
          <p:cNvPr id="511" name="Google Shape;511;p30"/>
          <p:cNvSpPr/>
          <p:nvPr/>
        </p:nvSpPr>
        <p:spPr>
          <a:xfrm>
            <a:off x="4800600" y="1325260"/>
            <a:ext cx="4023300" cy="1481400"/>
          </a:xfrm>
          <a:prstGeom prst="rect">
            <a:avLst/>
          </a:prstGeom>
          <a:solidFill>
            <a:srgbClr val="FFFBEB"/>
          </a:solidFill>
          <a:ln w="12700" cap="flat" cmpd="sng">
            <a:solidFill>
              <a:srgbClr val="D97706"/>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0"/>
          <p:cNvSpPr/>
          <p:nvPr/>
        </p:nvSpPr>
        <p:spPr>
          <a:xfrm>
            <a:off x="4800600" y="1325260"/>
            <a:ext cx="73200" cy="1481400"/>
          </a:xfrm>
          <a:prstGeom prst="rect">
            <a:avLst/>
          </a:prstGeom>
          <a:solidFill>
            <a:srgbClr val="D97706"/>
          </a:solidFill>
          <a:ln w="12700" cap="flat" cmpd="sng">
            <a:solidFill>
              <a:srgbClr val="D977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0"/>
          <p:cNvSpPr/>
          <p:nvPr/>
        </p:nvSpPr>
        <p:spPr>
          <a:xfrm>
            <a:off x="4974336" y="1416700"/>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97706"/>
              </a:buClr>
              <a:buSzPts val="1100"/>
              <a:buFont typeface=" Arial"/>
              <a:buNone/>
            </a:pPr>
            <a:r>
              <a:rPr lang="en-US" sz="1100" b="1" i="0" u="none" strike="noStrike" cap="none">
                <a:solidFill>
                  <a:srgbClr val="D97706"/>
                </a:solidFill>
                <a:latin typeface=" Arial"/>
                <a:ea typeface=" Arial"/>
                <a:cs typeface=" Arial"/>
                <a:sym typeface=" Arial"/>
              </a:rPr>
              <a:t>When to refer to provider:</a:t>
            </a:r>
            <a:endParaRPr sz="1100" b="0" i="0" u="none" strike="noStrike" cap="none">
              <a:solidFill>
                <a:schemeClr val="dk1"/>
              </a:solidFill>
              <a:latin typeface="Calibri"/>
              <a:ea typeface="Calibri"/>
              <a:cs typeface="Calibri"/>
              <a:sym typeface="Calibri"/>
            </a:endParaRPr>
          </a:p>
        </p:txBody>
      </p:sp>
      <p:sp>
        <p:nvSpPr>
          <p:cNvPr id="514" name="Google Shape;514;p30"/>
          <p:cNvSpPr/>
          <p:nvPr/>
        </p:nvSpPr>
        <p:spPr>
          <a:xfrm>
            <a:off x="4974336" y="1691020"/>
            <a:ext cx="3657600" cy="10242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2D2D2D"/>
              </a:buClr>
              <a:buSzPts val="1150"/>
              <a:buFont typeface=" Arial"/>
              <a:buNone/>
            </a:pPr>
            <a:r>
              <a:rPr lang="en-US" sz="1150" b="0" i="0" u="none" strike="noStrike" cap="none">
                <a:solidFill>
                  <a:srgbClr val="2D2D2D"/>
                </a:solidFill>
                <a:latin typeface=" Arial"/>
                <a:ea typeface=" Arial"/>
                <a:cs typeface=" Arial"/>
                <a:sym typeface=" Arial"/>
              </a:rPr>
              <a:t>If contractions become regular (every 5–10 minutes), are accompanied by pain, bleeding, or pelvic pressure before 37 weeks — call the provider. When in doubt, get it checked out.</a:t>
            </a:r>
            <a:endParaRPr sz="1150" b="0" i="0" u="none" strike="noStrike" cap="none">
              <a:solidFill>
                <a:schemeClr val="dk1"/>
              </a:solidFill>
              <a:latin typeface="Calibri"/>
              <a:ea typeface="Calibri"/>
              <a:cs typeface="Calibri"/>
              <a:sym typeface="Calibri"/>
            </a:endParaRPr>
          </a:p>
        </p:txBody>
      </p:sp>
      <p:sp>
        <p:nvSpPr>
          <p:cNvPr id="515" name="Google Shape;515;p30"/>
          <p:cNvSpPr/>
          <p:nvPr/>
        </p:nvSpPr>
        <p:spPr>
          <a:xfrm>
            <a:off x="4800600" y="2925460"/>
            <a:ext cx="4023300" cy="17100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0"/>
          <p:cNvSpPr/>
          <p:nvPr/>
        </p:nvSpPr>
        <p:spPr>
          <a:xfrm>
            <a:off x="4800600" y="2925460"/>
            <a:ext cx="73200" cy="17100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0"/>
          <p:cNvSpPr/>
          <p:nvPr/>
        </p:nvSpPr>
        <p:spPr>
          <a:xfrm>
            <a:off x="4974336" y="3016900"/>
            <a:ext cx="3657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100"/>
              <a:buFont typeface=" Arial"/>
              <a:buNone/>
            </a:pPr>
            <a:r>
              <a:rPr lang="en-US" sz="1100" b="1" i="0" u="none" strike="noStrike" cap="none">
                <a:solidFill>
                  <a:srgbClr val="DB2777"/>
                </a:solidFill>
                <a:latin typeface=" Arial"/>
                <a:ea typeface=" Arial"/>
                <a:cs typeface=" Arial"/>
                <a:sym typeface=" Arial"/>
              </a:rPr>
              <a:t>Doula script:</a:t>
            </a:r>
            <a:endParaRPr sz="1100" b="0" i="0" u="none" strike="noStrike" cap="none">
              <a:solidFill>
                <a:schemeClr val="dk1"/>
              </a:solidFill>
              <a:latin typeface="Calibri"/>
              <a:ea typeface="Calibri"/>
              <a:cs typeface="Calibri"/>
              <a:sym typeface="Calibri"/>
            </a:endParaRPr>
          </a:p>
        </p:txBody>
      </p:sp>
      <p:sp>
        <p:nvSpPr>
          <p:cNvPr id="518" name="Google Shape;518;p30"/>
          <p:cNvSpPr/>
          <p:nvPr/>
        </p:nvSpPr>
        <p:spPr>
          <a:xfrm>
            <a:off x="4974336" y="3291220"/>
            <a:ext cx="3657600" cy="12618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3D1040"/>
              </a:buClr>
              <a:buSzPts val="1150"/>
              <a:buFont typeface="Georgia"/>
              <a:buNone/>
            </a:pPr>
            <a:r>
              <a:rPr lang="en-US" sz="1150" b="0" i="1" u="none" strike="noStrike" cap="none">
                <a:solidFill>
                  <a:srgbClr val="3D1040"/>
                </a:solidFill>
                <a:latin typeface="Georgia"/>
                <a:ea typeface="Georgia"/>
                <a:cs typeface="Georgia"/>
                <a:sym typeface="Georgia"/>
              </a:rPr>
              <a:t>"Those are Braxton Hicks contractions — your uterus is practicing for labor. They're normal and actually helpful. But if they become regular or painful before 37 weeks, always check in. When in doubt, get it checked out."</a:t>
            </a:r>
            <a:endParaRPr sz="1150" b="0" i="0" u="none" strike="noStrike" cap="none">
              <a:solidFill>
                <a:schemeClr val="dk1"/>
              </a:solidFill>
              <a:latin typeface="Calibri"/>
              <a:ea typeface="Calibri"/>
              <a:cs typeface="Calibri"/>
              <a:sym typeface="Calibri"/>
            </a:endParaRPr>
          </a:p>
        </p:txBody>
      </p:sp>
      <p:sp>
        <p:nvSpPr>
          <p:cNvPr id="519" name="Google Shape;519;p30"/>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0"/>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6"/>
        <p:cNvGrpSpPr/>
        <p:nvPr/>
      </p:nvGrpSpPr>
      <p:grpSpPr>
        <a:xfrm>
          <a:off x="0" y="0"/>
          <a:ext cx="0" cy="0"/>
          <a:chOff x="0" y="0"/>
          <a:chExt cx="0" cy="0"/>
        </a:xfrm>
      </p:grpSpPr>
      <p:sp>
        <p:nvSpPr>
          <p:cNvPr id="527" name="Google Shape;527;p31"/>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PRENATAL CARE  ·  NAVIGATION &amp; INFORMED DECISION-MAKING</a:t>
            </a:r>
            <a:endParaRPr sz="900" b="0" i="0" u="none" strike="noStrike" cap="none">
              <a:solidFill>
                <a:schemeClr val="dk1"/>
              </a:solidFill>
              <a:latin typeface="Calibri"/>
              <a:ea typeface="Calibri"/>
              <a:cs typeface="Calibri"/>
              <a:sym typeface="Calibri"/>
            </a:endParaRPr>
          </a:p>
        </p:txBody>
      </p:sp>
      <p:sp>
        <p:nvSpPr>
          <p:cNvPr id="528" name="Google Shape;528;p31"/>
          <p:cNvSpPr/>
          <p:nvPr/>
        </p:nvSpPr>
        <p:spPr>
          <a:xfrm>
            <a:off x="411480" y="45721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200"/>
              <a:buFont typeface="Georgia"/>
              <a:buNone/>
            </a:pPr>
            <a:r>
              <a:rPr lang="en-US" sz="2200" b="1" i="0" u="none" strike="noStrike" cap="none">
                <a:solidFill>
                  <a:srgbClr val="5E376C"/>
                </a:solidFill>
                <a:latin typeface="Georgia"/>
                <a:ea typeface="Georgia"/>
                <a:cs typeface="Georgia"/>
                <a:sym typeface="Georgia"/>
              </a:rPr>
              <a:t>Prenatal Testing — What Your Clients Go Through</a:t>
            </a:r>
            <a:endParaRPr sz="2200" b="0" i="0" u="none" strike="noStrike" cap="none">
              <a:solidFill>
                <a:schemeClr val="dk1"/>
              </a:solidFill>
              <a:latin typeface="Calibri"/>
              <a:ea typeface="Calibri"/>
              <a:cs typeface="Calibri"/>
              <a:sym typeface="Calibri"/>
            </a:endParaRPr>
          </a:p>
        </p:txBody>
      </p:sp>
      <p:sp>
        <p:nvSpPr>
          <p:cNvPr id="529" name="Google Shape;529;p31"/>
          <p:cNvSpPr/>
          <p:nvPr/>
        </p:nvSpPr>
        <p:spPr>
          <a:xfrm>
            <a:off x="256032" y="1078992"/>
            <a:ext cx="8631936" cy="329184"/>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p:cNvSpPr/>
          <p:nvPr/>
        </p:nvSpPr>
        <p:spPr>
          <a:xfrm>
            <a:off x="347472" y="1115568"/>
            <a:ext cx="1828800"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1100"/>
              <a:buFont typeface="Georgia"/>
              <a:buNone/>
            </a:pPr>
            <a:r>
              <a:rPr lang="en-US" sz="1100" b="1" i="0" u="none" strike="noStrike" cap="none">
                <a:solidFill>
                  <a:srgbClr val="FFFFFF"/>
                </a:solidFill>
                <a:latin typeface="Georgia"/>
                <a:ea typeface="Georgia"/>
                <a:cs typeface="Georgia"/>
                <a:sym typeface="Georgia"/>
              </a:rPr>
              <a:t>Test</a:t>
            </a:r>
            <a:endParaRPr sz="1100" b="0" i="0" u="none" strike="noStrike" cap="none">
              <a:solidFill>
                <a:schemeClr val="dk1"/>
              </a:solidFill>
              <a:latin typeface="Calibri"/>
              <a:ea typeface="Calibri"/>
              <a:cs typeface="Calibri"/>
              <a:sym typeface="Calibri"/>
            </a:endParaRPr>
          </a:p>
        </p:txBody>
      </p:sp>
      <p:sp>
        <p:nvSpPr>
          <p:cNvPr id="531" name="Google Shape;531;p31"/>
          <p:cNvSpPr/>
          <p:nvPr/>
        </p:nvSpPr>
        <p:spPr>
          <a:xfrm>
            <a:off x="2267712" y="1115568"/>
            <a:ext cx="914400"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1100"/>
              <a:buFont typeface="Georgia"/>
              <a:buNone/>
            </a:pPr>
            <a:r>
              <a:rPr lang="en-US" sz="1100" b="1" i="0" u="none" strike="noStrike" cap="none">
                <a:solidFill>
                  <a:srgbClr val="FFFFFF"/>
                </a:solidFill>
                <a:latin typeface="Georgia"/>
                <a:ea typeface="Georgia"/>
                <a:cs typeface="Georgia"/>
                <a:sym typeface="Georgia"/>
              </a:rPr>
              <a:t>Timing</a:t>
            </a:r>
            <a:endParaRPr sz="1100" b="0" i="0" u="none" strike="noStrike" cap="none">
              <a:solidFill>
                <a:schemeClr val="dk1"/>
              </a:solidFill>
              <a:latin typeface="Calibri"/>
              <a:ea typeface="Calibri"/>
              <a:cs typeface="Calibri"/>
              <a:sym typeface="Calibri"/>
            </a:endParaRPr>
          </a:p>
        </p:txBody>
      </p:sp>
      <p:sp>
        <p:nvSpPr>
          <p:cNvPr id="532" name="Google Shape;532;p31"/>
          <p:cNvSpPr/>
          <p:nvPr/>
        </p:nvSpPr>
        <p:spPr>
          <a:xfrm>
            <a:off x="3273552" y="1115568"/>
            <a:ext cx="2560320"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1100"/>
              <a:buFont typeface="Georgia"/>
              <a:buNone/>
            </a:pPr>
            <a:r>
              <a:rPr lang="en-US" sz="1100" b="1" i="0" u="none" strike="noStrike" cap="none">
                <a:solidFill>
                  <a:srgbClr val="FFFFFF"/>
                </a:solidFill>
                <a:latin typeface="Georgia"/>
                <a:ea typeface="Georgia"/>
                <a:cs typeface="Georgia"/>
                <a:sym typeface="Georgia"/>
              </a:rPr>
              <a:t>What It Screens</a:t>
            </a:r>
            <a:endParaRPr sz="1100" b="0" i="0" u="none" strike="noStrike" cap="none">
              <a:solidFill>
                <a:schemeClr val="dk1"/>
              </a:solidFill>
              <a:latin typeface="Calibri"/>
              <a:ea typeface="Calibri"/>
              <a:cs typeface="Calibri"/>
              <a:sym typeface="Calibri"/>
            </a:endParaRPr>
          </a:p>
        </p:txBody>
      </p:sp>
      <p:sp>
        <p:nvSpPr>
          <p:cNvPr id="533" name="Google Shape;533;p31"/>
          <p:cNvSpPr/>
          <p:nvPr/>
        </p:nvSpPr>
        <p:spPr>
          <a:xfrm>
            <a:off x="5925312" y="1115568"/>
            <a:ext cx="2834640"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1100"/>
              <a:buFont typeface="Georgia"/>
              <a:buNone/>
            </a:pPr>
            <a:r>
              <a:rPr lang="en-US" sz="1100" b="1" i="0" u="none" strike="noStrike" cap="none">
                <a:solidFill>
                  <a:srgbClr val="FFFFFF"/>
                </a:solidFill>
                <a:latin typeface="Georgia"/>
                <a:ea typeface="Georgia"/>
                <a:cs typeface="Georgia"/>
                <a:sym typeface="Georgia"/>
              </a:rPr>
              <a:t>Your Role</a:t>
            </a:r>
            <a:endParaRPr sz="1100" b="0" i="0" u="none" strike="noStrike" cap="none">
              <a:solidFill>
                <a:schemeClr val="dk1"/>
              </a:solidFill>
              <a:latin typeface="Calibri"/>
              <a:ea typeface="Calibri"/>
              <a:cs typeface="Calibri"/>
              <a:sym typeface="Calibri"/>
            </a:endParaRPr>
          </a:p>
        </p:txBody>
      </p:sp>
      <p:sp>
        <p:nvSpPr>
          <p:cNvPr id="534" name="Google Shape;534;p31"/>
          <p:cNvSpPr/>
          <p:nvPr/>
        </p:nvSpPr>
        <p:spPr>
          <a:xfrm>
            <a:off x="256032" y="1435608"/>
            <a:ext cx="8631936" cy="786384"/>
          </a:xfrm>
          <a:prstGeom prst="rect">
            <a:avLst/>
          </a:prstGeom>
          <a:solidFill>
            <a:srgbClr val="F8F5FA"/>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1"/>
          <p:cNvSpPr/>
          <p:nvPr/>
        </p:nvSpPr>
        <p:spPr>
          <a:xfrm>
            <a:off x="347472" y="1527048"/>
            <a:ext cx="1828800" cy="60350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E376C"/>
              </a:buClr>
              <a:buSzPts val="1100"/>
              <a:buFont typeface=" Arial"/>
              <a:buNone/>
            </a:pPr>
            <a:r>
              <a:rPr lang="en-US" sz="1100" b="1" i="0" u="none" strike="noStrike" cap="none">
                <a:solidFill>
                  <a:srgbClr val="5E376C"/>
                </a:solidFill>
                <a:latin typeface=" Arial"/>
                <a:ea typeface=" Arial"/>
                <a:cs typeface=" Arial"/>
                <a:sym typeface=" Arial"/>
              </a:rPr>
              <a:t>First Trimester Screening</a:t>
            </a:r>
            <a:endParaRPr sz="1100" b="0" i="0" u="none" strike="noStrike" cap="none">
              <a:solidFill>
                <a:schemeClr val="dk1"/>
              </a:solidFill>
              <a:latin typeface="Calibri"/>
              <a:ea typeface="Calibri"/>
              <a:cs typeface="Calibri"/>
              <a:sym typeface="Calibri"/>
            </a:endParaRPr>
          </a:p>
        </p:txBody>
      </p:sp>
      <p:sp>
        <p:nvSpPr>
          <p:cNvPr id="536" name="Google Shape;536;p31"/>
          <p:cNvSpPr/>
          <p:nvPr/>
        </p:nvSpPr>
        <p:spPr>
          <a:xfrm>
            <a:off x="2267712" y="1527048"/>
            <a:ext cx="914400" cy="603504"/>
          </a:xfrm>
          <a:prstGeom prst="rect">
            <a:avLst/>
          </a:prstGeom>
          <a:noFill/>
          <a:ln>
            <a:noFill/>
          </a:ln>
        </p:spPr>
        <p:txBody>
          <a:bodyPr spcFirstLastPara="1" wrap="square" lIns="0" tIns="0" rIns="0" bIns="0" anchor="t" anchorCtr="0">
            <a:noAutofit/>
          </a:bodyPr>
          <a:lstStyle/>
          <a:p>
            <a:pPr marL="0" marR="0" lvl="0" indent="0" algn="ctr" rtl="0">
              <a:lnSpc>
                <a:spcPct val="130000"/>
              </a:lnSpc>
              <a:spcBef>
                <a:spcPts val="0"/>
              </a:spcBef>
              <a:spcAft>
                <a:spcPts val="0"/>
              </a:spcAft>
              <a:buClr>
                <a:srgbClr val="6B6B6B"/>
              </a:buClr>
              <a:buSzPts val="1050"/>
              <a:buFont typeface=" Arial"/>
              <a:buNone/>
            </a:pPr>
            <a:r>
              <a:rPr lang="en-US" sz="1050" b="0" i="0" u="none" strike="noStrike" cap="none">
                <a:solidFill>
                  <a:srgbClr val="6B6B6B"/>
                </a:solidFill>
                <a:latin typeface=" Arial"/>
                <a:ea typeface=" Arial"/>
                <a:cs typeface=" Arial"/>
                <a:sym typeface=" Arial"/>
              </a:rPr>
              <a:t>10–13 wks</a:t>
            </a:r>
            <a:endParaRPr sz="1050" b="0" i="0" u="none" strike="noStrike" cap="none">
              <a:solidFill>
                <a:schemeClr val="dk1"/>
              </a:solidFill>
              <a:latin typeface="Calibri"/>
              <a:ea typeface="Calibri"/>
              <a:cs typeface="Calibri"/>
              <a:sym typeface="Calibri"/>
            </a:endParaRPr>
          </a:p>
        </p:txBody>
      </p:sp>
      <p:sp>
        <p:nvSpPr>
          <p:cNvPr id="537" name="Google Shape;537;p31"/>
          <p:cNvSpPr/>
          <p:nvPr/>
        </p:nvSpPr>
        <p:spPr>
          <a:xfrm>
            <a:off x="3273552" y="1527048"/>
            <a:ext cx="2468880" cy="64008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2D2D2D"/>
              </a:buClr>
              <a:buSzPts val="1050"/>
              <a:buFont typeface=" Arial"/>
              <a:buNone/>
            </a:pPr>
            <a:r>
              <a:rPr lang="en-US" sz="1050" b="0" i="0" u="none" strike="noStrike" cap="none">
                <a:solidFill>
                  <a:srgbClr val="2D2D2D"/>
                </a:solidFill>
                <a:latin typeface=" Arial"/>
                <a:ea typeface=" Arial"/>
                <a:cs typeface=" Arial"/>
                <a:sym typeface=" Arial"/>
              </a:rPr>
              <a:t>Chromosomal risk assessment. Blood + nuchal translucency ultrasound. A risk estimate — NOT a diagnosis.</a:t>
            </a:r>
            <a:endParaRPr sz="1050" b="0" i="0" u="none" strike="noStrike" cap="none">
              <a:solidFill>
                <a:schemeClr val="dk1"/>
              </a:solidFill>
              <a:latin typeface="Calibri"/>
              <a:ea typeface="Calibri"/>
              <a:cs typeface="Calibri"/>
              <a:sym typeface="Calibri"/>
            </a:endParaRPr>
          </a:p>
        </p:txBody>
      </p:sp>
      <p:sp>
        <p:nvSpPr>
          <p:cNvPr id="538" name="Google Shape;538;p31"/>
          <p:cNvSpPr/>
          <p:nvPr/>
        </p:nvSpPr>
        <p:spPr>
          <a:xfrm>
            <a:off x="5925312" y="1527048"/>
            <a:ext cx="2834640" cy="64008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845995"/>
              </a:buClr>
              <a:buSzPts val="1050"/>
              <a:buFont typeface=" Arial"/>
              <a:buNone/>
            </a:pPr>
            <a:r>
              <a:rPr lang="en-US" sz="1050" b="0" i="1" u="none" strike="noStrike" cap="none">
                <a:solidFill>
                  <a:srgbClr val="845995"/>
                </a:solidFill>
                <a:latin typeface=" Arial"/>
                <a:ea typeface=" Arial"/>
                <a:cs typeface=" Arial"/>
                <a:sym typeface=" Arial"/>
              </a:rPr>
              <a:t>Help clients understand a high-risk result is not a diagnosis. Many lead to healthy babies.</a:t>
            </a:r>
            <a:endParaRPr sz="1050" b="0" i="0" u="none" strike="noStrike" cap="none">
              <a:solidFill>
                <a:schemeClr val="dk1"/>
              </a:solidFill>
              <a:latin typeface="Calibri"/>
              <a:ea typeface="Calibri"/>
              <a:cs typeface="Calibri"/>
              <a:sym typeface="Calibri"/>
            </a:endParaRPr>
          </a:p>
        </p:txBody>
      </p:sp>
      <p:sp>
        <p:nvSpPr>
          <p:cNvPr id="539" name="Google Shape;539;p31"/>
          <p:cNvSpPr/>
          <p:nvPr/>
        </p:nvSpPr>
        <p:spPr>
          <a:xfrm>
            <a:off x="256032" y="2258568"/>
            <a:ext cx="8631936" cy="786384"/>
          </a:xfrm>
          <a:prstGeom prst="rect">
            <a:avLst/>
          </a:prstGeom>
          <a:solidFill>
            <a:srgbClr val="FFFFFF"/>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p:cNvSpPr/>
          <p:nvPr/>
        </p:nvSpPr>
        <p:spPr>
          <a:xfrm>
            <a:off x="347472" y="2350008"/>
            <a:ext cx="1828800" cy="60350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E376C"/>
              </a:buClr>
              <a:buSzPts val="1100"/>
              <a:buFont typeface=" Arial"/>
              <a:buNone/>
            </a:pPr>
            <a:r>
              <a:rPr lang="en-US" sz="1100" b="1" i="0" u="none" strike="noStrike" cap="none">
                <a:solidFill>
                  <a:srgbClr val="5E376C"/>
                </a:solidFill>
                <a:latin typeface=" Arial"/>
                <a:ea typeface=" Arial"/>
                <a:cs typeface=" Arial"/>
                <a:sym typeface=" Arial"/>
              </a:rPr>
              <a:t>Anatomy Scan</a:t>
            </a:r>
            <a:endParaRPr sz="1100" b="0" i="0" u="none" strike="noStrike" cap="none">
              <a:solidFill>
                <a:schemeClr val="dk1"/>
              </a:solidFill>
              <a:latin typeface="Calibri"/>
              <a:ea typeface="Calibri"/>
              <a:cs typeface="Calibri"/>
              <a:sym typeface="Calibri"/>
            </a:endParaRPr>
          </a:p>
        </p:txBody>
      </p:sp>
      <p:sp>
        <p:nvSpPr>
          <p:cNvPr id="541" name="Google Shape;541;p31"/>
          <p:cNvSpPr/>
          <p:nvPr/>
        </p:nvSpPr>
        <p:spPr>
          <a:xfrm>
            <a:off x="2267712" y="2350008"/>
            <a:ext cx="914400" cy="603504"/>
          </a:xfrm>
          <a:prstGeom prst="rect">
            <a:avLst/>
          </a:prstGeom>
          <a:noFill/>
          <a:ln>
            <a:noFill/>
          </a:ln>
        </p:spPr>
        <p:txBody>
          <a:bodyPr spcFirstLastPara="1" wrap="square" lIns="0" tIns="0" rIns="0" bIns="0" anchor="t" anchorCtr="0">
            <a:noAutofit/>
          </a:bodyPr>
          <a:lstStyle/>
          <a:p>
            <a:pPr marL="0" marR="0" lvl="0" indent="0" algn="ctr" rtl="0">
              <a:lnSpc>
                <a:spcPct val="130000"/>
              </a:lnSpc>
              <a:spcBef>
                <a:spcPts val="0"/>
              </a:spcBef>
              <a:spcAft>
                <a:spcPts val="0"/>
              </a:spcAft>
              <a:buClr>
                <a:srgbClr val="6B6B6B"/>
              </a:buClr>
              <a:buSzPts val="1050"/>
              <a:buFont typeface=" Arial"/>
              <a:buNone/>
            </a:pPr>
            <a:r>
              <a:rPr lang="en-US" sz="1050" b="0" i="0" u="none" strike="noStrike" cap="none">
                <a:solidFill>
                  <a:srgbClr val="6B6B6B"/>
                </a:solidFill>
                <a:latin typeface=" Arial"/>
                <a:ea typeface=" Arial"/>
                <a:cs typeface=" Arial"/>
                <a:sym typeface=" Arial"/>
              </a:rPr>
              <a:t>18–22 wks</a:t>
            </a:r>
            <a:endParaRPr sz="1050" b="0" i="0" u="none" strike="noStrike" cap="none">
              <a:solidFill>
                <a:schemeClr val="dk1"/>
              </a:solidFill>
              <a:latin typeface="Calibri"/>
              <a:ea typeface="Calibri"/>
              <a:cs typeface="Calibri"/>
              <a:sym typeface="Calibri"/>
            </a:endParaRPr>
          </a:p>
        </p:txBody>
      </p:sp>
      <p:sp>
        <p:nvSpPr>
          <p:cNvPr id="542" name="Google Shape;542;p31"/>
          <p:cNvSpPr/>
          <p:nvPr/>
        </p:nvSpPr>
        <p:spPr>
          <a:xfrm>
            <a:off x="3273552" y="2350008"/>
            <a:ext cx="2468880" cy="64008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2D2D2D"/>
              </a:buClr>
              <a:buSzPts val="1050"/>
              <a:buFont typeface=" Arial"/>
              <a:buNone/>
            </a:pPr>
            <a:r>
              <a:rPr lang="en-US" sz="1050" b="0" i="0" u="none" strike="noStrike" cap="none">
                <a:solidFill>
                  <a:srgbClr val="2D2D2D"/>
                </a:solidFill>
                <a:latin typeface=" Arial"/>
                <a:ea typeface=" Arial"/>
                <a:cs typeface=" Arial"/>
                <a:sym typeface=" Arial"/>
              </a:rPr>
              <a:t>Detailed fetal anatomy, placenta, fluid. Often reveals biological sex if parents want to know.</a:t>
            </a:r>
            <a:endParaRPr sz="1050" b="0" i="0" u="none" strike="noStrike" cap="none">
              <a:solidFill>
                <a:schemeClr val="dk1"/>
              </a:solidFill>
              <a:latin typeface="Calibri"/>
              <a:ea typeface="Calibri"/>
              <a:cs typeface="Calibri"/>
              <a:sym typeface="Calibri"/>
            </a:endParaRPr>
          </a:p>
        </p:txBody>
      </p:sp>
      <p:sp>
        <p:nvSpPr>
          <p:cNvPr id="543" name="Google Shape;543;p31"/>
          <p:cNvSpPr/>
          <p:nvPr/>
        </p:nvSpPr>
        <p:spPr>
          <a:xfrm>
            <a:off x="5925312" y="2350008"/>
            <a:ext cx="2834640" cy="64008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845995"/>
              </a:buClr>
              <a:buSzPts val="1050"/>
              <a:buFont typeface=" Arial"/>
              <a:buNone/>
            </a:pPr>
            <a:r>
              <a:rPr lang="en-US" sz="1050" b="0" i="1" u="none" strike="noStrike" cap="none">
                <a:solidFill>
                  <a:srgbClr val="845995"/>
                </a:solidFill>
                <a:latin typeface=" Arial"/>
                <a:ea typeface=" Arial"/>
                <a:cs typeface=" Arial"/>
                <a:sym typeface=" Arial"/>
              </a:rPr>
              <a:t>Normalize both the excitement and the anxiety. Help them write down questions beforehand.</a:t>
            </a:r>
            <a:endParaRPr sz="1050" b="0" i="0" u="none" strike="noStrike" cap="none">
              <a:solidFill>
                <a:schemeClr val="dk1"/>
              </a:solidFill>
              <a:latin typeface="Calibri"/>
              <a:ea typeface="Calibri"/>
              <a:cs typeface="Calibri"/>
              <a:sym typeface="Calibri"/>
            </a:endParaRPr>
          </a:p>
        </p:txBody>
      </p:sp>
      <p:sp>
        <p:nvSpPr>
          <p:cNvPr id="544" name="Google Shape;544;p31"/>
          <p:cNvSpPr/>
          <p:nvPr/>
        </p:nvSpPr>
        <p:spPr>
          <a:xfrm>
            <a:off x="256032" y="3081528"/>
            <a:ext cx="8631936" cy="786384"/>
          </a:xfrm>
          <a:prstGeom prst="rect">
            <a:avLst/>
          </a:prstGeom>
          <a:solidFill>
            <a:srgbClr val="F8F5FA"/>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p:cNvSpPr/>
          <p:nvPr/>
        </p:nvSpPr>
        <p:spPr>
          <a:xfrm>
            <a:off x="347472" y="3172968"/>
            <a:ext cx="1828800" cy="60350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E376C"/>
              </a:buClr>
              <a:buSzPts val="1100"/>
              <a:buFont typeface=" Arial"/>
              <a:buNone/>
            </a:pPr>
            <a:r>
              <a:rPr lang="en-US" sz="1100" b="1" i="0" u="none" strike="noStrike" cap="none">
                <a:solidFill>
                  <a:srgbClr val="5E376C"/>
                </a:solidFill>
                <a:latin typeface=" Arial"/>
                <a:ea typeface=" Arial"/>
                <a:cs typeface=" Arial"/>
                <a:sym typeface=" Arial"/>
              </a:rPr>
              <a:t>Glucose Screening</a:t>
            </a:r>
            <a:endParaRPr sz="1100" b="0" i="0" u="none" strike="noStrike" cap="none">
              <a:solidFill>
                <a:schemeClr val="dk1"/>
              </a:solidFill>
              <a:latin typeface="Calibri"/>
              <a:ea typeface="Calibri"/>
              <a:cs typeface="Calibri"/>
              <a:sym typeface="Calibri"/>
            </a:endParaRPr>
          </a:p>
        </p:txBody>
      </p:sp>
      <p:sp>
        <p:nvSpPr>
          <p:cNvPr id="546" name="Google Shape;546;p31"/>
          <p:cNvSpPr/>
          <p:nvPr/>
        </p:nvSpPr>
        <p:spPr>
          <a:xfrm>
            <a:off x="2267712" y="3172968"/>
            <a:ext cx="914400" cy="603504"/>
          </a:xfrm>
          <a:prstGeom prst="rect">
            <a:avLst/>
          </a:prstGeom>
          <a:noFill/>
          <a:ln>
            <a:noFill/>
          </a:ln>
        </p:spPr>
        <p:txBody>
          <a:bodyPr spcFirstLastPara="1" wrap="square" lIns="0" tIns="0" rIns="0" bIns="0" anchor="t" anchorCtr="0">
            <a:noAutofit/>
          </a:bodyPr>
          <a:lstStyle/>
          <a:p>
            <a:pPr marL="0" marR="0" lvl="0" indent="0" algn="ctr" rtl="0">
              <a:lnSpc>
                <a:spcPct val="130000"/>
              </a:lnSpc>
              <a:spcBef>
                <a:spcPts val="0"/>
              </a:spcBef>
              <a:spcAft>
                <a:spcPts val="0"/>
              </a:spcAft>
              <a:buClr>
                <a:srgbClr val="6B6B6B"/>
              </a:buClr>
              <a:buSzPts val="1050"/>
              <a:buFont typeface=" Arial"/>
              <a:buNone/>
            </a:pPr>
            <a:r>
              <a:rPr lang="en-US" sz="1050" b="0" i="0" u="none" strike="noStrike" cap="none">
                <a:solidFill>
                  <a:srgbClr val="6B6B6B"/>
                </a:solidFill>
                <a:latin typeface=" Arial"/>
                <a:ea typeface=" Arial"/>
                <a:cs typeface=" Arial"/>
                <a:sym typeface=" Arial"/>
              </a:rPr>
              <a:t>24–28 wks</a:t>
            </a:r>
            <a:endParaRPr sz="1050" b="0" i="0" u="none" strike="noStrike" cap="none">
              <a:solidFill>
                <a:schemeClr val="dk1"/>
              </a:solidFill>
              <a:latin typeface="Calibri"/>
              <a:ea typeface="Calibri"/>
              <a:cs typeface="Calibri"/>
              <a:sym typeface="Calibri"/>
            </a:endParaRPr>
          </a:p>
        </p:txBody>
      </p:sp>
      <p:sp>
        <p:nvSpPr>
          <p:cNvPr id="547" name="Google Shape;547;p31"/>
          <p:cNvSpPr/>
          <p:nvPr/>
        </p:nvSpPr>
        <p:spPr>
          <a:xfrm>
            <a:off x="3273552" y="3172968"/>
            <a:ext cx="2468880" cy="64008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2D2D2D"/>
              </a:buClr>
              <a:buSzPts val="1050"/>
              <a:buFont typeface=" Arial"/>
              <a:buNone/>
            </a:pPr>
            <a:r>
              <a:rPr lang="en-US" sz="1050" b="0" i="0" u="none" strike="noStrike" cap="none">
                <a:solidFill>
                  <a:srgbClr val="2D2D2D"/>
                </a:solidFill>
                <a:latin typeface=" Arial"/>
                <a:ea typeface=" Arial"/>
                <a:cs typeface=" Arial"/>
                <a:sym typeface=" Arial"/>
              </a:rPr>
              <a:t>Screens for gestational diabetes. A high 1-hour result does not automatically mean GDM.</a:t>
            </a:r>
            <a:endParaRPr sz="1050" b="0" i="0" u="none" strike="noStrike" cap="none">
              <a:solidFill>
                <a:schemeClr val="dk1"/>
              </a:solidFill>
              <a:latin typeface="Calibri"/>
              <a:ea typeface="Calibri"/>
              <a:cs typeface="Calibri"/>
              <a:sym typeface="Calibri"/>
            </a:endParaRPr>
          </a:p>
        </p:txBody>
      </p:sp>
      <p:sp>
        <p:nvSpPr>
          <p:cNvPr id="548" name="Google Shape;548;p31"/>
          <p:cNvSpPr/>
          <p:nvPr/>
        </p:nvSpPr>
        <p:spPr>
          <a:xfrm>
            <a:off x="5925312" y="3172968"/>
            <a:ext cx="2834640" cy="64008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845995"/>
              </a:buClr>
              <a:buSzPts val="1050"/>
              <a:buFont typeface=" Arial"/>
              <a:buNone/>
            </a:pPr>
            <a:r>
              <a:rPr lang="en-US" sz="1050" b="0" i="1" u="none" strike="noStrike" cap="none">
                <a:solidFill>
                  <a:srgbClr val="845995"/>
                </a:solidFill>
                <a:latin typeface=" Arial"/>
                <a:ea typeface=" Arial"/>
                <a:cs typeface=" Arial"/>
                <a:sym typeface=" Arial"/>
              </a:rPr>
              <a:t>Encourage bringing a snack for after. Normalize the test.</a:t>
            </a:r>
            <a:endParaRPr sz="1050" b="0" i="0" u="none" strike="noStrike" cap="none">
              <a:solidFill>
                <a:schemeClr val="dk1"/>
              </a:solidFill>
              <a:latin typeface="Calibri"/>
              <a:ea typeface="Calibri"/>
              <a:cs typeface="Calibri"/>
              <a:sym typeface="Calibri"/>
            </a:endParaRPr>
          </a:p>
        </p:txBody>
      </p:sp>
      <p:sp>
        <p:nvSpPr>
          <p:cNvPr id="549" name="Google Shape;549;p31"/>
          <p:cNvSpPr/>
          <p:nvPr/>
        </p:nvSpPr>
        <p:spPr>
          <a:xfrm>
            <a:off x="256032" y="3904488"/>
            <a:ext cx="8631936" cy="786384"/>
          </a:xfrm>
          <a:prstGeom prst="rect">
            <a:avLst/>
          </a:prstGeom>
          <a:solidFill>
            <a:srgbClr val="FFFFFF"/>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p:cNvSpPr/>
          <p:nvPr/>
        </p:nvSpPr>
        <p:spPr>
          <a:xfrm>
            <a:off x="347472" y="3995928"/>
            <a:ext cx="1828800" cy="60350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E376C"/>
              </a:buClr>
              <a:buSzPts val="1100"/>
              <a:buFont typeface=" Arial"/>
              <a:buNone/>
            </a:pPr>
            <a:r>
              <a:rPr lang="en-US" sz="1100" b="1" i="0" u="none" strike="noStrike" cap="none">
                <a:solidFill>
                  <a:srgbClr val="5E376C"/>
                </a:solidFill>
                <a:latin typeface=" Arial"/>
                <a:ea typeface=" Arial"/>
                <a:cs typeface=" Arial"/>
                <a:sym typeface=" Arial"/>
              </a:rPr>
              <a:t>Group B Strep</a:t>
            </a:r>
            <a:endParaRPr sz="1100" b="0" i="0" u="none" strike="noStrike" cap="none">
              <a:solidFill>
                <a:schemeClr val="dk1"/>
              </a:solidFill>
              <a:latin typeface="Calibri"/>
              <a:ea typeface="Calibri"/>
              <a:cs typeface="Calibri"/>
              <a:sym typeface="Calibri"/>
            </a:endParaRPr>
          </a:p>
        </p:txBody>
      </p:sp>
      <p:sp>
        <p:nvSpPr>
          <p:cNvPr id="551" name="Google Shape;551;p31"/>
          <p:cNvSpPr/>
          <p:nvPr/>
        </p:nvSpPr>
        <p:spPr>
          <a:xfrm>
            <a:off x="2267712" y="3995928"/>
            <a:ext cx="914400" cy="603504"/>
          </a:xfrm>
          <a:prstGeom prst="rect">
            <a:avLst/>
          </a:prstGeom>
          <a:noFill/>
          <a:ln>
            <a:noFill/>
          </a:ln>
        </p:spPr>
        <p:txBody>
          <a:bodyPr spcFirstLastPara="1" wrap="square" lIns="0" tIns="0" rIns="0" bIns="0" anchor="t" anchorCtr="0">
            <a:noAutofit/>
          </a:bodyPr>
          <a:lstStyle/>
          <a:p>
            <a:pPr marL="0" marR="0" lvl="0" indent="0" algn="ctr" rtl="0">
              <a:lnSpc>
                <a:spcPct val="130000"/>
              </a:lnSpc>
              <a:spcBef>
                <a:spcPts val="0"/>
              </a:spcBef>
              <a:spcAft>
                <a:spcPts val="0"/>
              </a:spcAft>
              <a:buClr>
                <a:srgbClr val="6B6B6B"/>
              </a:buClr>
              <a:buSzPts val="1050"/>
              <a:buFont typeface=" Arial"/>
              <a:buNone/>
            </a:pPr>
            <a:r>
              <a:rPr lang="en-US" sz="1050" b="0" i="0" u="none" strike="noStrike" cap="none">
                <a:solidFill>
                  <a:srgbClr val="6B6B6B"/>
                </a:solidFill>
                <a:latin typeface=" Arial"/>
                <a:ea typeface=" Arial"/>
                <a:cs typeface=" Arial"/>
                <a:sym typeface=" Arial"/>
              </a:rPr>
              <a:t>36–37 wks</a:t>
            </a:r>
            <a:endParaRPr sz="1050" b="0" i="0" u="none" strike="noStrike" cap="none">
              <a:solidFill>
                <a:schemeClr val="dk1"/>
              </a:solidFill>
              <a:latin typeface="Calibri"/>
              <a:ea typeface="Calibri"/>
              <a:cs typeface="Calibri"/>
              <a:sym typeface="Calibri"/>
            </a:endParaRPr>
          </a:p>
        </p:txBody>
      </p:sp>
      <p:sp>
        <p:nvSpPr>
          <p:cNvPr id="552" name="Google Shape;552;p31"/>
          <p:cNvSpPr/>
          <p:nvPr/>
        </p:nvSpPr>
        <p:spPr>
          <a:xfrm>
            <a:off x="3273552" y="3995928"/>
            <a:ext cx="2468880" cy="64008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2D2D2D"/>
              </a:buClr>
              <a:buSzPts val="1050"/>
              <a:buFont typeface=" Arial"/>
              <a:buNone/>
            </a:pPr>
            <a:r>
              <a:rPr lang="en-US" sz="1050" b="0" i="0" u="none" strike="noStrike" cap="none">
                <a:solidFill>
                  <a:srgbClr val="2D2D2D"/>
                </a:solidFill>
                <a:latin typeface=" Arial"/>
                <a:ea typeface=" Arial"/>
                <a:cs typeface=" Arial"/>
                <a:sym typeface=" Arial"/>
              </a:rPr>
              <a:t>Normal bacteria in 25–30% of pregnant people. GBS+ = IV antibiotics during labor.</a:t>
            </a:r>
            <a:endParaRPr sz="1050" b="0" i="0" u="none" strike="noStrike" cap="none">
              <a:solidFill>
                <a:schemeClr val="dk1"/>
              </a:solidFill>
              <a:latin typeface="Calibri"/>
              <a:ea typeface="Calibri"/>
              <a:cs typeface="Calibri"/>
              <a:sym typeface="Calibri"/>
            </a:endParaRPr>
          </a:p>
        </p:txBody>
      </p:sp>
      <p:sp>
        <p:nvSpPr>
          <p:cNvPr id="553" name="Google Shape;553;p31"/>
          <p:cNvSpPr/>
          <p:nvPr/>
        </p:nvSpPr>
        <p:spPr>
          <a:xfrm>
            <a:off x="5925312" y="3995928"/>
            <a:ext cx="2834640" cy="64008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845995"/>
              </a:buClr>
              <a:buSzPts val="1050"/>
              <a:buFont typeface=" Arial"/>
              <a:buNone/>
            </a:pPr>
            <a:r>
              <a:rPr lang="en-US" sz="1050" b="0" i="1" u="none" strike="noStrike" cap="none">
                <a:solidFill>
                  <a:srgbClr val="845995"/>
                </a:solidFill>
                <a:latin typeface=" Arial"/>
                <a:ea typeface=" Arial"/>
                <a:cs typeface=" Arial"/>
                <a:sym typeface=" Arial"/>
              </a:rPr>
              <a:t>Normalize the positive result. Not an infection. Not from anything they did wrong.</a:t>
            </a:r>
            <a:endParaRPr sz="1050" b="0" i="0" u="none" strike="noStrike" cap="none">
              <a:solidFill>
                <a:schemeClr val="dk1"/>
              </a:solidFill>
              <a:latin typeface="Calibri"/>
              <a:ea typeface="Calibri"/>
              <a:cs typeface="Calibri"/>
              <a:sym typeface="Calibri"/>
            </a:endParaRPr>
          </a:p>
        </p:txBody>
      </p:sp>
      <p:sp>
        <p:nvSpPr>
          <p:cNvPr id="554" name="Google Shape;554;p31"/>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1"/>
        <p:cNvGrpSpPr/>
        <p:nvPr/>
      </p:nvGrpSpPr>
      <p:grpSpPr>
        <a:xfrm>
          <a:off x="0" y="0"/>
          <a:ext cx="0" cy="0"/>
          <a:chOff x="0" y="0"/>
          <a:chExt cx="0" cy="0"/>
        </a:xfrm>
      </p:grpSpPr>
      <p:sp>
        <p:nvSpPr>
          <p:cNvPr id="562" name="Google Shape;562;p32"/>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284C7"/>
              </a:buClr>
              <a:buSzPts val="900"/>
              <a:buFont typeface=" Arial"/>
              <a:buNone/>
            </a:pPr>
            <a:r>
              <a:rPr lang="en-US" sz="900" b="0" i="0" u="none" strike="noStrike" cap="none">
                <a:solidFill>
                  <a:srgbClr val="0284C7"/>
                </a:solidFill>
                <a:latin typeface=" Arial"/>
                <a:ea typeface=" Arial"/>
                <a:cs typeface=" Arial"/>
                <a:sym typeface=" Arial"/>
              </a:rPr>
              <a:t>PRENATAL CARE  ·  CLINICAL NOTE</a:t>
            </a:r>
            <a:endParaRPr sz="900" b="0" i="0" u="none" strike="noStrike" cap="none">
              <a:solidFill>
                <a:schemeClr val="dk1"/>
              </a:solidFill>
              <a:latin typeface="Calibri"/>
              <a:ea typeface="Calibri"/>
              <a:cs typeface="Calibri"/>
              <a:sym typeface="Calibri"/>
            </a:endParaRPr>
          </a:p>
        </p:txBody>
      </p:sp>
      <p:sp>
        <p:nvSpPr>
          <p:cNvPr id="563" name="Google Shape;563;p32"/>
          <p:cNvSpPr/>
          <p:nvPr/>
        </p:nvSpPr>
        <p:spPr>
          <a:xfrm>
            <a:off x="411480" y="365760"/>
            <a:ext cx="8321040" cy="6583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Prenatal Vitamins — Why They Matter</a:t>
            </a:r>
            <a:endParaRPr sz="2000" b="0" i="0" u="none" strike="noStrike" cap="none">
              <a:solidFill>
                <a:schemeClr val="dk1"/>
              </a:solidFill>
              <a:latin typeface="Calibri"/>
              <a:ea typeface="Calibri"/>
              <a:cs typeface="Calibri"/>
              <a:sym typeface="Calibri"/>
            </a:endParaRPr>
          </a:p>
        </p:txBody>
      </p:sp>
      <p:sp>
        <p:nvSpPr>
          <p:cNvPr id="564" name="Google Shape;564;p32"/>
          <p:cNvSpPr/>
          <p:nvPr/>
        </p:nvSpPr>
        <p:spPr>
          <a:xfrm>
            <a:off x="320090" y="774980"/>
            <a:ext cx="8503800" cy="1389900"/>
          </a:xfrm>
          <a:prstGeom prst="rect">
            <a:avLst/>
          </a:prstGeom>
          <a:solidFill>
            <a:srgbClr val="F0F9FF"/>
          </a:solidFill>
          <a:ln w="12700" cap="flat" cmpd="sng">
            <a:solidFill>
              <a:srgbClr val="0284C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2"/>
          <p:cNvSpPr/>
          <p:nvPr/>
        </p:nvSpPr>
        <p:spPr>
          <a:xfrm>
            <a:off x="320090" y="774980"/>
            <a:ext cx="73200" cy="1389900"/>
          </a:xfrm>
          <a:prstGeom prst="rect">
            <a:avLst/>
          </a:prstGeom>
          <a:solidFill>
            <a:srgbClr val="0284C7"/>
          </a:solidFill>
          <a:ln w="12700" cap="flat" cmpd="sng">
            <a:solidFill>
              <a:srgbClr val="0284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2"/>
          <p:cNvSpPr/>
          <p:nvPr/>
        </p:nvSpPr>
        <p:spPr>
          <a:xfrm>
            <a:off x="512114" y="866420"/>
            <a:ext cx="8138100" cy="12069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2D2D2D"/>
              </a:buClr>
              <a:buSzPts val="1400"/>
              <a:buFont typeface=" Arial"/>
              <a:buNone/>
            </a:pPr>
            <a:r>
              <a:rPr lang="en-US" sz="1400" b="0" i="0" u="none" strike="noStrike" cap="none">
                <a:solidFill>
                  <a:srgbClr val="2D2D2D"/>
                </a:solidFill>
                <a:latin typeface=" Arial"/>
                <a:ea typeface=" Arial"/>
                <a:cs typeface=" Arial"/>
                <a:sym typeface=" Arial"/>
              </a:rPr>
              <a:t>Folic acid prevents neural tube defects — which occur in the first 28 days, often before the person knows they are pregnant. Supplementation reduces the risk by 50–70%. Iron is equally critical — blood volume expands 40–50% and iron deficiency affects up to 52% of pregnant people globally.</a:t>
            </a:r>
            <a:endParaRPr sz="1400" b="0" i="0" u="none" strike="noStrike" cap="none">
              <a:solidFill>
                <a:schemeClr val="dk1"/>
              </a:solidFill>
              <a:latin typeface="Calibri"/>
              <a:ea typeface="Calibri"/>
              <a:cs typeface="Calibri"/>
              <a:sym typeface="Calibri"/>
            </a:endParaRPr>
          </a:p>
        </p:txBody>
      </p:sp>
      <p:sp>
        <p:nvSpPr>
          <p:cNvPr id="567" name="Google Shape;567;p32"/>
          <p:cNvSpPr/>
          <p:nvPr/>
        </p:nvSpPr>
        <p:spPr>
          <a:xfrm>
            <a:off x="320090" y="2311172"/>
            <a:ext cx="8503800" cy="2176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2"/>
          <p:cNvSpPr/>
          <p:nvPr/>
        </p:nvSpPr>
        <p:spPr>
          <a:xfrm>
            <a:off x="320090" y="2311172"/>
            <a:ext cx="73200" cy="21762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2"/>
          <p:cNvSpPr/>
          <p:nvPr/>
        </p:nvSpPr>
        <p:spPr>
          <a:xfrm>
            <a:off x="512114" y="2402612"/>
            <a:ext cx="8229600" cy="274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350"/>
              <a:buFont typeface=" Arial"/>
              <a:buNone/>
            </a:pPr>
            <a:r>
              <a:rPr lang="en-US" sz="1350" b="1" i="0" u="none" strike="noStrike" cap="none">
                <a:solidFill>
                  <a:srgbClr val="5E376C"/>
                </a:solidFill>
                <a:latin typeface=" Arial"/>
                <a:ea typeface=" Arial"/>
                <a:cs typeface=" Arial"/>
                <a:sym typeface=" Arial"/>
              </a:rPr>
              <a:t>When clients can't or won't take them:</a:t>
            </a:r>
            <a:endParaRPr sz="1350" b="0" i="0" u="none" strike="noStrike" cap="none">
              <a:solidFill>
                <a:schemeClr val="dk1"/>
              </a:solidFill>
              <a:latin typeface="Calibri"/>
              <a:ea typeface="Calibri"/>
              <a:cs typeface="Calibri"/>
              <a:sym typeface="Calibri"/>
            </a:endParaRPr>
          </a:p>
        </p:txBody>
      </p:sp>
      <p:sp>
        <p:nvSpPr>
          <p:cNvPr id="570" name="Google Shape;570;p32"/>
          <p:cNvSpPr/>
          <p:nvPr/>
        </p:nvSpPr>
        <p:spPr>
          <a:xfrm>
            <a:off x="512114" y="2713508"/>
            <a:ext cx="8229600" cy="16641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"They make me nauseous."  Try taking them at night, with food, or switch to gummies (note: gummies often lack iron)</a:t>
            </a:r>
            <a:endParaRPr sz="1400" b="0" i="0" u="none" strike="noStrike" cap="none">
              <a:solidFill>
                <a:schemeClr val="dk1"/>
              </a:solidFill>
              <a:latin typeface="Calibri"/>
              <a:ea typeface="Calibri"/>
              <a:cs typeface="Calibri"/>
              <a:sym typeface="Calibri"/>
            </a:endParaRPr>
          </a:p>
          <a:p>
            <a:pPr marL="177800" marR="0" lvl="0" indent="-177800" algn="l" rtl="0">
              <a:spcBef>
                <a:spcPts val="100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"I can't afford them."  WIC provides free prenatal vitamins. Community health centers and OB offices often have samples</a:t>
            </a:r>
            <a:endParaRPr sz="1400" b="0" i="0" u="none" strike="noStrike" cap="none">
              <a:solidFill>
                <a:schemeClr val="dk1"/>
              </a:solidFill>
              <a:latin typeface="Calibri"/>
              <a:ea typeface="Calibri"/>
              <a:cs typeface="Calibri"/>
              <a:sym typeface="Calibri"/>
            </a:endParaRPr>
          </a:p>
          <a:p>
            <a:pPr marL="177800" marR="0" lvl="0" indent="-177800" algn="l" rtl="0">
              <a:spcBef>
                <a:spcPts val="100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"I keep forgetting."  Set a daily phone alarm. Keep them next to something used every day</a:t>
            </a:r>
            <a:endParaRPr sz="1400" b="0" i="0" u="none" strike="noStrike" cap="none">
              <a:solidFill>
                <a:schemeClr val="dk1"/>
              </a:solidFill>
              <a:latin typeface="Calibri"/>
              <a:ea typeface="Calibri"/>
              <a:cs typeface="Calibri"/>
              <a:sym typeface="Calibri"/>
            </a:endParaRPr>
          </a:p>
        </p:txBody>
      </p:sp>
      <p:sp>
        <p:nvSpPr>
          <p:cNvPr id="571" name="Google Shape;571;p32"/>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2"/>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8"/>
        <p:cNvGrpSpPr/>
        <p:nvPr/>
      </p:nvGrpSpPr>
      <p:grpSpPr>
        <a:xfrm>
          <a:off x="0" y="0"/>
          <a:ext cx="0" cy="0"/>
          <a:chOff x="0" y="0"/>
          <a:chExt cx="0" cy="0"/>
        </a:xfrm>
      </p:grpSpPr>
      <p:sp>
        <p:nvSpPr>
          <p:cNvPr id="579" name="Google Shape;579;p33"/>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284C7"/>
              </a:buClr>
              <a:buSzPts val="900"/>
              <a:buFont typeface=" Arial"/>
              <a:buNone/>
            </a:pPr>
            <a:r>
              <a:rPr lang="en-US" sz="900" b="0" i="0" u="none" strike="noStrike" cap="none">
                <a:solidFill>
                  <a:srgbClr val="0284C7"/>
                </a:solidFill>
                <a:latin typeface=" Arial"/>
                <a:ea typeface=" Arial"/>
                <a:cs typeface=" Arial"/>
                <a:sym typeface=" Arial"/>
              </a:rPr>
              <a:t>PRENATAL CARE  ·  CLINICAL NOTE</a:t>
            </a:r>
            <a:endParaRPr sz="900" b="0" i="0" u="none" strike="noStrike" cap="none">
              <a:solidFill>
                <a:schemeClr val="dk1"/>
              </a:solidFill>
              <a:latin typeface="Calibri"/>
              <a:ea typeface="Calibri"/>
              <a:cs typeface="Calibri"/>
              <a:sym typeface="Calibri"/>
            </a:endParaRPr>
          </a:p>
        </p:txBody>
      </p:sp>
      <p:sp>
        <p:nvSpPr>
          <p:cNvPr id="580" name="Google Shape;580;p33"/>
          <p:cNvSpPr/>
          <p:nvPr/>
        </p:nvSpPr>
        <p:spPr>
          <a:xfrm>
            <a:off x="411480" y="365760"/>
            <a:ext cx="8321040" cy="6583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"Pregnancy Brain" Is Real — And Adaptive</a:t>
            </a:r>
            <a:endParaRPr sz="2000" b="0" i="0" u="none" strike="noStrike" cap="none">
              <a:solidFill>
                <a:schemeClr val="dk1"/>
              </a:solidFill>
              <a:latin typeface="Calibri"/>
              <a:ea typeface="Calibri"/>
              <a:cs typeface="Calibri"/>
              <a:sym typeface="Calibri"/>
            </a:endParaRPr>
          </a:p>
        </p:txBody>
      </p:sp>
      <p:sp>
        <p:nvSpPr>
          <p:cNvPr id="581" name="Google Shape;581;p33"/>
          <p:cNvSpPr/>
          <p:nvPr/>
        </p:nvSpPr>
        <p:spPr>
          <a:xfrm>
            <a:off x="320040" y="774942"/>
            <a:ext cx="8503800" cy="1691700"/>
          </a:xfrm>
          <a:prstGeom prst="rect">
            <a:avLst/>
          </a:prstGeom>
          <a:solidFill>
            <a:srgbClr val="F0F9FF"/>
          </a:solidFill>
          <a:ln w="12700" cap="flat" cmpd="sng">
            <a:solidFill>
              <a:srgbClr val="0284C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3"/>
          <p:cNvSpPr/>
          <p:nvPr/>
        </p:nvSpPr>
        <p:spPr>
          <a:xfrm>
            <a:off x="320040" y="774942"/>
            <a:ext cx="73200" cy="1691700"/>
          </a:xfrm>
          <a:prstGeom prst="rect">
            <a:avLst/>
          </a:prstGeom>
          <a:solidFill>
            <a:srgbClr val="0284C7"/>
          </a:solidFill>
          <a:ln w="12700" cap="flat" cmpd="sng">
            <a:solidFill>
              <a:srgbClr val="0284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3"/>
          <p:cNvSpPr/>
          <p:nvPr/>
        </p:nvSpPr>
        <p:spPr>
          <a:xfrm>
            <a:off x="512064" y="866383"/>
            <a:ext cx="8138100" cy="15087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2D2D2D"/>
              </a:buClr>
              <a:buSzPts val="1350"/>
              <a:buFont typeface=" Arial"/>
              <a:buNone/>
            </a:pPr>
            <a:r>
              <a:rPr lang="en-US" sz="1350" b="0" i="0" u="none" strike="noStrike" cap="none">
                <a:solidFill>
                  <a:srgbClr val="2D2D2D"/>
                </a:solidFill>
                <a:latin typeface=" Arial"/>
                <a:ea typeface=" Arial"/>
                <a:cs typeface=" Arial"/>
                <a:sym typeface=" Arial"/>
              </a:rPr>
              <a:t>2016 Nature Neuroscience study</a:t>
            </a:r>
            <a:endParaRPr sz="135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2D2D2D"/>
              </a:buClr>
              <a:buSzPts val="1350"/>
              <a:buFont typeface=" Arial"/>
              <a:buNone/>
            </a:pPr>
            <a:r>
              <a:rPr lang="en-US" sz="1350" b="0" i="0" u="none" strike="noStrike" cap="none">
                <a:solidFill>
                  <a:srgbClr val="2D2D2D"/>
                </a:solidFill>
                <a:latin typeface=" Arial"/>
                <a:ea typeface=" Arial"/>
                <a:cs typeface=" Arial"/>
                <a:sym typeface=" Arial"/>
              </a:rPr>
              <a:t>Brain remodels: social cognition, empathy</a:t>
            </a:r>
            <a:endParaRPr sz="135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2D2D2D"/>
              </a:buClr>
              <a:buSzPts val="1350"/>
              <a:buFont typeface=" Arial"/>
              <a:buNone/>
            </a:pPr>
            <a:r>
              <a:rPr lang="en-US" sz="1350" b="0" i="0" u="none" strike="noStrike" cap="none">
                <a:solidFill>
                  <a:srgbClr val="2D2D2D"/>
                </a:solidFill>
                <a:latin typeface=" Arial"/>
                <a:ea typeface=" Arial"/>
                <a:cs typeface=" Arial"/>
                <a:sym typeface=" Arial"/>
              </a:rPr>
              <a:t>Persists 2+ years postpartum</a:t>
            </a:r>
            <a:endParaRPr sz="135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2D2D2D"/>
              </a:buClr>
              <a:buSzPts val="1350"/>
              <a:buFont typeface=" Arial"/>
              <a:buNone/>
            </a:pPr>
            <a:r>
              <a:rPr lang="en-US" sz="1350" b="0" i="0" u="none" strike="noStrike" cap="none">
                <a:solidFill>
                  <a:srgbClr val="2D2D2D"/>
                </a:solidFill>
                <a:latin typeface=" Arial"/>
                <a:ea typeface=" Arial"/>
                <a:cs typeface=" Arial"/>
                <a:sym typeface=" Arial"/>
              </a:rPr>
              <a:t>Strengthens maternal-infant bonding</a:t>
            </a:r>
            <a:endParaRPr sz="135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2D2D2D"/>
              </a:buClr>
              <a:buSzPts val="1350"/>
              <a:buFont typeface=" Arial"/>
              <a:buNone/>
            </a:pPr>
            <a:r>
              <a:rPr lang="en-US" sz="1350" b="0" i="0" u="none" strike="noStrike" cap="none">
                <a:solidFill>
                  <a:srgbClr val="2D2D2D"/>
                </a:solidFill>
                <a:latin typeface=" Arial"/>
                <a:ea typeface=" Arial"/>
                <a:cs typeface=" Arial"/>
                <a:sym typeface=" Arial"/>
              </a:rPr>
              <a:t>Short-term memory dips — adaptive trade-off</a:t>
            </a:r>
            <a:endParaRPr sz="1350" b="0" i="0" u="none" strike="noStrike" cap="none">
              <a:solidFill>
                <a:schemeClr val="dk1"/>
              </a:solidFill>
              <a:latin typeface="Calibri"/>
              <a:ea typeface="Calibri"/>
              <a:cs typeface="Calibri"/>
              <a:sym typeface="Calibri"/>
            </a:endParaRPr>
          </a:p>
        </p:txBody>
      </p:sp>
      <p:sp>
        <p:nvSpPr>
          <p:cNvPr id="584" name="Google Shape;584;p33"/>
          <p:cNvSpPr/>
          <p:nvPr/>
        </p:nvSpPr>
        <p:spPr>
          <a:xfrm>
            <a:off x="320040" y="2603743"/>
            <a:ext cx="8503800" cy="18837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3"/>
          <p:cNvSpPr/>
          <p:nvPr/>
        </p:nvSpPr>
        <p:spPr>
          <a:xfrm>
            <a:off x="320040" y="2603743"/>
            <a:ext cx="73200" cy="18837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3"/>
          <p:cNvSpPr/>
          <p:nvPr/>
        </p:nvSpPr>
        <p:spPr>
          <a:xfrm>
            <a:off x="512064" y="2695183"/>
            <a:ext cx="8229600" cy="255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200"/>
              <a:buFont typeface=" Arial"/>
              <a:buNone/>
            </a:pPr>
            <a:r>
              <a:rPr lang="en-US" sz="1200" b="1" i="0" u="none" strike="noStrike" cap="none">
                <a:solidFill>
                  <a:srgbClr val="DB2777"/>
                </a:solidFill>
                <a:latin typeface=" Arial"/>
                <a:ea typeface=" Arial"/>
                <a:cs typeface=" Arial"/>
                <a:sym typeface=" Arial"/>
              </a:rPr>
              <a:t>Doula Script</a:t>
            </a:r>
            <a:endParaRPr sz="1200" b="0" i="0" u="none" strike="noStrike" cap="none">
              <a:solidFill>
                <a:schemeClr val="dk1"/>
              </a:solidFill>
              <a:latin typeface="Calibri"/>
              <a:ea typeface="Calibri"/>
              <a:cs typeface="Calibri"/>
              <a:sym typeface="Calibri"/>
            </a:endParaRPr>
          </a:p>
        </p:txBody>
      </p:sp>
      <p:sp>
        <p:nvSpPr>
          <p:cNvPr id="587" name="Google Shape;587;p33"/>
          <p:cNvSpPr/>
          <p:nvPr/>
        </p:nvSpPr>
        <p:spPr>
          <a:xfrm>
            <a:off x="512064" y="2987791"/>
            <a:ext cx="8138100" cy="13899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3D1040"/>
              </a:buClr>
              <a:buSzPts val="1400"/>
              <a:buFont typeface="Georgia"/>
              <a:buNone/>
            </a:pPr>
            <a:r>
              <a:rPr lang="en-US" sz="1400" b="0" i="1" u="none" strike="noStrike" cap="none">
                <a:solidFill>
                  <a:srgbClr val="3D1040"/>
                </a:solidFill>
                <a:latin typeface="Georgia"/>
                <a:ea typeface="Georgia"/>
                <a:cs typeface="Georgia"/>
                <a:sym typeface="Georgia"/>
              </a:rPr>
              <a:t>"Your brain is literally rewiring itself right now to help you bond with and care for your baby. Research shows these changes are actually preparing you for parenthood. So yes, you might forget where you put your phone — but your brain is getting really good at reading your baby's cues. It's a trade-off, and it's temporary."</a:t>
            </a:r>
            <a:endParaRPr sz="1400" b="0" i="0" u="none" strike="noStrike" cap="none">
              <a:solidFill>
                <a:schemeClr val="dk1"/>
              </a:solidFill>
              <a:latin typeface="Calibri"/>
              <a:ea typeface="Calibri"/>
              <a:cs typeface="Calibri"/>
              <a:sym typeface="Calibri"/>
            </a:endParaRPr>
          </a:p>
        </p:txBody>
      </p:sp>
      <p:sp>
        <p:nvSpPr>
          <p:cNvPr id="588" name="Google Shape;588;p33"/>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3"/>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5"/>
        <p:cNvGrpSpPr/>
        <p:nvPr/>
      </p:nvGrpSpPr>
      <p:grpSpPr>
        <a:xfrm>
          <a:off x="0" y="0"/>
          <a:ext cx="0" cy="0"/>
          <a:chOff x="0" y="0"/>
          <a:chExt cx="0" cy="0"/>
        </a:xfrm>
      </p:grpSpPr>
      <p:sp>
        <p:nvSpPr>
          <p:cNvPr id="596" name="Google Shape;596;p34"/>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THE DOULA'S ROLE IN THE PRENATAL PERIOD</a:t>
            </a:r>
            <a:endParaRPr sz="900" b="0" i="0" u="none" strike="noStrike" cap="none">
              <a:solidFill>
                <a:schemeClr val="dk1"/>
              </a:solidFill>
              <a:latin typeface="Calibri"/>
              <a:ea typeface="Calibri"/>
              <a:cs typeface="Calibri"/>
              <a:sym typeface="Calibri"/>
            </a:endParaRPr>
          </a:p>
        </p:txBody>
      </p:sp>
      <p:sp>
        <p:nvSpPr>
          <p:cNvPr id="597" name="Google Shape;597;p34"/>
          <p:cNvSpPr/>
          <p:nvPr/>
        </p:nvSpPr>
        <p:spPr>
          <a:xfrm>
            <a:off x="411480" y="365760"/>
            <a:ext cx="8321040" cy="6583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Scope of Practice — Knowing the Line</a:t>
            </a:r>
            <a:endParaRPr sz="2000" b="0" i="0" u="none" strike="noStrike" cap="none">
              <a:solidFill>
                <a:schemeClr val="dk1"/>
              </a:solidFill>
              <a:latin typeface="Calibri"/>
              <a:ea typeface="Calibri"/>
              <a:cs typeface="Calibri"/>
              <a:sym typeface="Calibri"/>
            </a:endParaRPr>
          </a:p>
        </p:txBody>
      </p:sp>
      <p:sp>
        <p:nvSpPr>
          <p:cNvPr id="598" name="Google Shape;598;p34"/>
          <p:cNvSpPr/>
          <p:nvPr/>
        </p:nvSpPr>
        <p:spPr>
          <a:xfrm>
            <a:off x="350290" y="802375"/>
            <a:ext cx="4251900" cy="36576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4"/>
          <p:cNvSpPr/>
          <p:nvPr/>
        </p:nvSpPr>
        <p:spPr>
          <a:xfrm>
            <a:off x="350290" y="802375"/>
            <a:ext cx="73200" cy="36576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4"/>
          <p:cNvSpPr/>
          <p:nvPr/>
        </p:nvSpPr>
        <p:spPr>
          <a:xfrm>
            <a:off x="533170" y="893815"/>
            <a:ext cx="3877200" cy="292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300"/>
              <a:buFont typeface=" Arial"/>
              <a:buNone/>
            </a:pPr>
            <a:r>
              <a:rPr lang="en-US" sz="1300" b="1" i="0" u="none" strike="noStrike" cap="none">
                <a:solidFill>
                  <a:srgbClr val="5E376C"/>
                </a:solidFill>
                <a:latin typeface=" Arial"/>
                <a:ea typeface=" Arial"/>
                <a:cs typeface=" Arial"/>
                <a:sym typeface=" Arial"/>
              </a:rPr>
              <a:t>Within Your Scope</a:t>
            </a:r>
            <a:endParaRPr sz="1300" b="0" i="0" u="none" strike="noStrike" cap="none">
              <a:solidFill>
                <a:schemeClr val="dk1"/>
              </a:solidFill>
              <a:latin typeface="Calibri"/>
              <a:ea typeface="Calibri"/>
              <a:cs typeface="Calibri"/>
              <a:sym typeface="Calibri"/>
            </a:endParaRPr>
          </a:p>
        </p:txBody>
      </p:sp>
      <p:sp>
        <p:nvSpPr>
          <p:cNvPr id="601" name="Google Shape;601;p34"/>
          <p:cNvSpPr/>
          <p:nvPr/>
        </p:nvSpPr>
        <p:spPr>
          <a:xfrm>
            <a:off x="533170" y="1232143"/>
            <a:ext cx="3877200" cy="31272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Provide accurate information about normal pregnancy</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Help clients formulate good questions for their providers</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Recognize when symptoms need medical evaluation</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Support clients through normal discomforts</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Normalize prenatal testing and monitoring</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Support birth partners in their evolving role</a:t>
            </a:r>
            <a:endParaRPr sz="1350" b="0" i="0" u="none" strike="noStrike" cap="none">
              <a:solidFill>
                <a:schemeClr val="dk1"/>
              </a:solidFill>
              <a:latin typeface="Calibri"/>
              <a:ea typeface="Calibri"/>
              <a:cs typeface="Calibri"/>
              <a:sym typeface="Calibri"/>
            </a:endParaRPr>
          </a:p>
        </p:txBody>
      </p:sp>
      <p:sp>
        <p:nvSpPr>
          <p:cNvPr id="602" name="Google Shape;602;p34"/>
          <p:cNvSpPr/>
          <p:nvPr/>
        </p:nvSpPr>
        <p:spPr>
          <a:xfrm>
            <a:off x="4785130" y="802375"/>
            <a:ext cx="4251900" cy="3657600"/>
          </a:xfrm>
          <a:prstGeom prst="rect">
            <a:avLst/>
          </a:prstGeom>
          <a:solidFill>
            <a:srgbClr val="FFFBEB"/>
          </a:solidFill>
          <a:ln w="12700" cap="flat" cmpd="sng">
            <a:solidFill>
              <a:srgbClr val="D97706"/>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p:cNvSpPr/>
          <p:nvPr/>
        </p:nvSpPr>
        <p:spPr>
          <a:xfrm>
            <a:off x="4785130" y="802375"/>
            <a:ext cx="73200" cy="3657600"/>
          </a:xfrm>
          <a:prstGeom prst="rect">
            <a:avLst/>
          </a:prstGeom>
          <a:solidFill>
            <a:srgbClr val="D97706"/>
          </a:solidFill>
          <a:ln w="12700" cap="flat" cmpd="sng">
            <a:solidFill>
              <a:srgbClr val="D977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4"/>
          <p:cNvSpPr/>
          <p:nvPr/>
        </p:nvSpPr>
        <p:spPr>
          <a:xfrm>
            <a:off x="4968010" y="893815"/>
            <a:ext cx="3877200" cy="292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97706"/>
              </a:buClr>
              <a:buSzPts val="1300"/>
              <a:buFont typeface=" Arial"/>
              <a:buNone/>
            </a:pPr>
            <a:r>
              <a:rPr lang="en-US" sz="1300" b="1" i="0" u="none" strike="noStrike" cap="none">
                <a:solidFill>
                  <a:srgbClr val="D97706"/>
                </a:solidFill>
                <a:latin typeface=" Arial"/>
                <a:ea typeface=" Arial"/>
                <a:cs typeface=" Arial"/>
                <a:sym typeface=" Arial"/>
              </a:rPr>
              <a:t>Outside Your Scope</a:t>
            </a:r>
            <a:endParaRPr sz="1300" b="0" i="0" u="none" strike="noStrike" cap="none">
              <a:solidFill>
                <a:schemeClr val="dk1"/>
              </a:solidFill>
              <a:latin typeface="Calibri"/>
              <a:ea typeface="Calibri"/>
              <a:cs typeface="Calibri"/>
              <a:sym typeface="Calibri"/>
            </a:endParaRPr>
          </a:p>
        </p:txBody>
      </p:sp>
      <p:sp>
        <p:nvSpPr>
          <p:cNvPr id="605" name="Google Shape;605;p34"/>
          <p:cNvSpPr/>
          <p:nvPr/>
        </p:nvSpPr>
        <p:spPr>
          <a:xfrm>
            <a:off x="4968010" y="1232143"/>
            <a:ext cx="3877200" cy="31272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Diagnosing any condition or symptom</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Recommending specific medications or treatments</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Interpreting lab results or test findings</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Advising clients to delay seeking medical care</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Telling clients whether to accept or decline interventions</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Overriding or contradicting medical advice</a:t>
            </a:r>
            <a:endParaRPr sz="1350" b="0" i="0" u="none" strike="noStrike" cap="none">
              <a:solidFill>
                <a:schemeClr val="dk1"/>
              </a:solidFill>
              <a:latin typeface="Calibri"/>
              <a:ea typeface="Calibri"/>
              <a:cs typeface="Calibri"/>
              <a:sym typeface="Calibri"/>
            </a:endParaRPr>
          </a:p>
        </p:txBody>
      </p:sp>
      <p:sp>
        <p:nvSpPr>
          <p:cNvPr id="606" name="Google Shape;606;p34"/>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4"/>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5FA"/>
        </a:solidFill>
        <a:effectLst/>
      </p:bgPr>
    </p:bg>
    <p:spTree>
      <p:nvGrpSpPr>
        <p:cNvPr id="1" name="Shape 613"/>
        <p:cNvGrpSpPr/>
        <p:nvPr/>
      </p:nvGrpSpPr>
      <p:grpSpPr>
        <a:xfrm>
          <a:off x="0" y="0"/>
          <a:ext cx="0" cy="0"/>
          <a:chOff x="0" y="0"/>
          <a:chExt cx="0" cy="0"/>
        </a:xfrm>
      </p:grpSpPr>
      <p:sp>
        <p:nvSpPr>
          <p:cNvPr id="614" name="Google Shape;614;p35"/>
          <p:cNvSpPr/>
          <p:nvPr/>
        </p:nvSpPr>
        <p:spPr>
          <a:xfrm>
            <a:off x="491836" y="747482"/>
            <a:ext cx="8229600" cy="3652800"/>
          </a:xfrm>
          <a:prstGeom prst="rect">
            <a:avLst/>
          </a:prstGeom>
          <a:solidFill>
            <a:srgbClr val="FAF5FF"/>
          </a:solidFill>
          <a:ln w="12700" cap="flat" cmpd="sng">
            <a:solidFill>
              <a:srgbClr val="845995"/>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5"/>
          <p:cNvSpPr/>
          <p:nvPr/>
        </p:nvSpPr>
        <p:spPr>
          <a:xfrm>
            <a:off x="457200" y="637800"/>
            <a:ext cx="73200" cy="36528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5"/>
          <p:cNvSpPr/>
          <p:nvPr/>
        </p:nvSpPr>
        <p:spPr>
          <a:xfrm>
            <a:off x="676656" y="756670"/>
            <a:ext cx="77724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000"/>
              <a:buFont typeface=" Arial"/>
              <a:buNone/>
            </a:pPr>
            <a:r>
              <a:rPr lang="en-US" sz="1000" b="1" i="0" u="none" strike="noStrike" cap="none">
                <a:solidFill>
                  <a:srgbClr val="845995"/>
                </a:solidFill>
                <a:latin typeface=" Arial"/>
                <a:ea typeface=" Arial"/>
                <a:cs typeface=" Arial"/>
                <a:sym typeface=" Arial"/>
              </a:rPr>
              <a:t>BREAKOUT DISCUSSION  ·  10 MINUTES</a:t>
            </a:r>
            <a:endParaRPr sz="1000" b="0" i="0" u="none" strike="noStrike" cap="none">
              <a:solidFill>
                <a:schemeClr val="dk1"/>
              </a:solidFill>
              <a:latin typeface="Calibri"/>
              <a:ea typeface="Calibri"/>
              <a:cs typeface="Calibri"/>
              <a:sym typeface="Calibri"/>
            </a:endParaRPr>
          </a:p>
        </p:txBody>
      </p:sp>
      <p:sp>
        <p:nvSpPr>
          <p:cNvPr id="617" name="Google Shape;617;p35"/>
          <p:cNvSpPr/>
          <p:nvPr/>
        </p:nvSpPr>
        <p:spPr>
          <a:xfrm>
            <a:off x="676656" y="994922"/>
            <a:ext cx="7680900" cy="567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Imagine a client at 36 weeks who has been Googling everything.</a:t>
            </a:r>
            <a:endParaRPr sz="2000" b="0" i="0" u="none" strike="noStrike" cap="none">
              <a:solidFill>
                <a:schemeClr val="dk1"/>
              </a:solidFill>
              <a:latin typeface="Calibri"/>
              <a:ea typeface="Calibri"/>
              <a:cs typeface="Calibri"/>
              <a:sym typeface="Calibri"/>
            </a:endParaRPr>
          </a:p>
        </p:txBody>
      </p:sp>
      <p:sp>
        <p:nvSpPr>
          <p:cNvPr id="618" name="Google Shape;618;p35"/>
          <p:cNvSpPr/>
          <p:nvPr/>
        </p:nvSpPr>
        <p:spPr>
          <a:xfrm>
            <a:off x="676656" y="1716790"/>
            <a:ext cx="7680900" cy="7773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D2D2D"/>
              </a:buClr>
              <a:buSzPts val="1400"/>
              <a:buFont typeface=" Arial"/>
              <a:buNone/>
            </a:pPr>
            <a:r>
              <a:rPr lang="en-US" sz="1400" b="0" i="0" u="none" strike="noStrike" cap="none">
                <a:solidFill>
                  <a:srgbClr val="2D2D2D"/>
                </a:solidFill>
                <a:latin typeface=" Arial"/>
                <a:ea typeface=" Arial"/>
                <a:cs typeface=" Arial"/>
                <a:sym typeface=" Arial"/>
              </a:rPr>
              <a:t>Based on what you just learned, what kinds of questions do you think she might bring to a prenatal visit? Pick 2–3 your group comes up with and work through how you would respond — and where scope of practice starts to matter.</a:t>
            </a:r>
            <a:endParaRPr sz="1400" b="0" i="0" u="none" strike="noStrike" cap="none">
              <a:solidFill>
                <a:schemeClr val="dk1"/>
              </a:solidFill>
              <a:latin typeface="Calibri"/>
              <a:ea typeface="Calibri"/>
              <a:cs typeface="Calibri"/>
              <a:sym typeface="Calibri"/>
            </a:endParaRPr>
          </a:p>
        </p:txBody>
      </p:sp>
      <p:sp>
        <p:nvSpPr>
          <p:cNvPr id="619" name="Google Shape;619;p35"/>
          <p:cNvSpPr/>
          <p:nvPr/>
        </p:nvSpPr>
        <p:spPr>
          <a:xfrm>
            <a:off x="676656" y="2631190"/>
            <a:ext cx="7589400" cy="27300"/>
          </a:xfrm>
          <a:prstGeom prst="rect">
            <a:avLst/>
          </a:prstGeom>
          <a:solidFill>
            <a:srgbClr val="D4BADD"/>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5"/>
          <p:cNvSpPr/>
          <p:nvPr/>
        </p:nvSpPr>
        <p:spPr>
          <a:xfrm>
            <a:off x="676656" y="2768350"/>
            <a:ext cx="7680900" cy="274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350"/>
              <a:buFont typeface=" Arial"/>
              <a:buNone/>
            </a:pPr>
            <a:r>
              <a:rPr lang="en-US" sz="1350" b="1" i="0" u="none" strike="noStrike" cap="none">
                <a:solidFill>
                  <a:srgbClr val="5E376C"/>
                </a:solidFill>
                <a:latin typeface=" Arial"/>
                <a:ea typeface=" Arial"/>
                <a:cs typeface=" Arial"/>
                <a:sym typeface=" Arial"/>
              </a:rPr>
              <a:t>Each group shares with the full class:</a:t>
            </a:r>
            <a:endParaRPr sz="1350" b="0" i="0" u="none" strike="noStrike" cap="none">
              <a:solidFill>
                <a:schemeClr val="dk1"/>
              </a:solidFill>
              <a:latin typeface="Calibri"/>
              <a:ea typeface="Calibri"/>
              <a:cs typeface="Calibri"/>
              <a:sym typeface="Calibri"/>
            </a:endParaRPr>
          </a:p>
        </p:txBody>
      </p:sp>
      <p:sp>
        <p:nvSpPr>
          <p:cNvPr id="621" name="Google Shape;621;p35"/>
          <p:cNvSpPr/>
          <p:nvPr/>
        </p:nvSpPr>
        <p:spPr>
          <a:xfrm>
            <a:off x="676656" y="3088390"/>
            <a:ext cx="7680900" cy="14172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What is the question?</a:t>
            </a:r>
            <a:endParaRPr sz="1400" b="0" i="0" u="none" strike="noStrike" cap="none">
              <a:solidFill>
                <a:schemeClr val="dk1"/>
              </a:solidFill>
              <a:latin typeface="Calibri"/>
              <a:ea typeface="Calibri"/>
              <a:cs typeface="Calibri"/>
              <a:sym typeface="Calibri"/>
            </a:endParaRPr>
          </a:p>
          <a:p>
            <a:pPr marL="177800" marR="0" lvl="0" indent="-177800" algn="l" rtl="0">
              <a:spcBef>
                <a:spcPts val="90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What would you say?</a:t>
            </a:r>
            <a:endParaRPr sz="1400" b="0" i="0" u="none" strike="noStrike" cap="none">
              <a:solidFill>
                <a:schemeClr val="dk1"/>
              </a:solidFill>
              <a:latin typeface="Calibri"/>
              <a:ea typeface="Calibri"/>
              <a:cs typeface="Calibri"/>
              <a:sym typeface="Calibri"/>
            </a:endParaRPr>
          </a:p>
          <a:p>
            <a:pPr marL="177800" marR="0" lvl="0" indent="-177800" algn="l" rtl="0">
              <a:spcBef>
                <a:spcPts val="900"/>
              </a:spcBef>
              <a:spcAft>
                <a:spcPts val="0"/>
              </a:spcAft>
              <a:buClr>
                <a:srgbClr val="2D2D2D"/>
              </a:buClr>
              <a:buSzPts val="1400"/>
              <a:buFont typeface=" Arial"/>
              <a:buChar char="–"/>
            </a:pPr>
            <a:r>
              <a:rPr lang="en-US" sz="1400" b="0" i="0" u="none" strike="noStrike" cap="none">
                <a:solidFill>
                  <a:srgbClr val="2D2D2D"/>
                </a:solidFill>
                <a:latin typeface=" Arial"/>
                <a:ea typeface=" Arial"/>
                <a:cs typeface=" Arial"/>
                <a:sym typeface=" Arial"/>
              </a:rPr>
              <a:t>What would you NOT say — and why?</a:t>
            </a:r>
            <a:endParaRPr sz="1400" b="0" i="0" u="none" strike="noStrike" cap="none">
              <a:solidFill>
                <a:schemeClr val="dk1"/>
              </a:solidFill>
              <a:latin typeface="Calibri"/>
              <a:ea typeface="Calibri"/>
              <a:cs typeface="Calibri"/>
              <a:sym typeface="Calibri"/>
            </a:endParaRPr>
          </a:p>
        </p:txBody>
      </p:sp>
      <p:sp>
        <p:nvSpPr>
          <p:cNvPr id="622" name="Google Shape;622;p35"/>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5"/>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0" name="Google Shape;630;p36"/>
          <p:cNvSpPr/>
          <p:nvPr/>
        </p:nvSpPr>
        <p:spPr>
          <a:xfrm>
            <a:off x="0" y="0"/>
            <a:ext cx="9144000" cy="51435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6"/>
          <p:cNvSpPr/>
          <p:nvPr/>
        </p:nvSpPr>
        <p:spPr>
          <a:xfrm>
            <a:off x="0" y="5070348"/>
            <a:ext cx="9144000" cy="73152"/>
          </a:xfrm>
          <a:prstGeom prst="rect">
            <a:avLst/>
          </a:prstGeom>
          <a:solidFill>
            <a:srgbClr val="D4BADD"/>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6"/>
          <p:cNvSpPr/>
          <p:nvPr/>
        </p:nvSpPr>
        <p:spPr>
          <a:xfrm>
            <a:off x="0" y="1234440"/>
            <a:ext cx="9144000" cy="8229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6200"/>
              <a:buFont typeface="Georgia"/>
              <a:buNone/>
            </a:pPr>
            <a:r>
              <a:rPr lang="en-US" sz="6200" b="1" i="0" u="none" strike="noStrike" cap="none">
                <a:solidFill>
                  <a:srgbClr val="FFFFFF"/>
                </a:solidFill>
                <a:latin typeface="Georgia"/>
                <a:ea typeface="Georgia"/>
                <a:cs typeface="Georgia"/>
                <a:sym typeface="Georgia"/>
              </a:rPr>
              <a:t>BREAK</a:t>
            </a:r>
            <a:endParaRPr sz="6200" b="0" i="0" u="none" strike="noStrike" cap="none">
              <a:solidFill>
                <a:schemeClr val="dk1"/>
              </a:solidFill>
              <a:latin typeface="Calibri"/>
              <a:ea typeface="Calibri"/>
              <a:cs typeface="Calibri"/>
              <a:sym typeface="Calibri"/>
            </a:endParaRPr>
          </a:p>
        </p:txBody>
      </p:sp>
      <p:sp>
        <p:nvSpPr>
          <p:cNvPr id="633" name="Google Shape;633;p36"/>
          <p:cNvSpPr/>
          <p:nvPr/>
        </p:nvSpPr>
        <p:spPr>
          <a:xfrm>
            <a:off x="0" y="2212848"/>
            <a:ext cx="9144000" cy="47548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4BADD"/>
              </a:buClr>
              <a:buSzPts val="2400"/>
              <a:buFont typeface="Georgia"/>
              <a:buNone/>
            </a:pPr>
            <a:r>
              <a:rPr lang="en-US" sz="2400" b="0" i="1" u="none" strike="noStrike" cap="none">
                <a:solidFill>
                  <a:srgbClr val="D4BADD"/>
                </a:solidFill>
                <a:latin typeface="Georgia"/>
                <a:ea typeface="Georgia"/>
                <a:cs typeface="Georgia"/>
                <a:sym typeface="Georgia"/>
              </a:rPr>
              <a:t>7:20 PM — 7:30 PM · 10 minutes</a:t>
            </a:r>
            <a:endParaRPr sz="2400" b="0" i="0" u="none" strike="noStrike" cap="none">
              <a:solidFill>
                <a:schemeClr val="dk1"/>
              </a:solidFill>
              <a:latin typeface="Calibri"/>
              <a:ea typeface="Calibri"/>
              <a:cs typeface="Calibri"/>
              <a:sym typeface="Calibri"/>
            </a:endParaRPr>
          </a:p>
        </p:txBody>
      </p:sp>
      <p:sp>
        <p:nvSpPr>
          <p:cNvPr id="634" name="Google Shape;634;p36"/>
          <p:cNvSpPr/>
          <p:nvPr/>
        </p:nvSpPr>
        <p:spPr>
          <a:xfrm>
            <a:off x="1371600" y="2926080"/>
            <a:ext cx="6400800" cy="77724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D4BADD"/>
              </a:buClr>
              <a:buSzPts val="1400"/>
              <a:buFont typeface=" Arial"/>
              <a:buNone/>
            </a:pPr>
            <a:r>
              <a:rPr lang="en-US" sz="1400" b="0" i="0" u="none" strike="noStrike" cap="none">
                <a:solidFill>
                  <a:srgbClr val="D4BADD"/>
                </a:solidFill>
                <a:latin typeface=" Arial"/>
                <a:ea typeface=" Arial"/>
                <a:cs typeface=" Arial"/>
                <a:sym typeface=" Arial"/>
              </a:rPr>
              <a:t>Step away, stretch, hydrate, reset.</a:t>
            </a:r>
            <a:endParaRPr sz="1400" b="0" i="0" u="none" strike="noStrike" cap="none">
              <a:solidFill>
                <a:schemeClr val="dk1"/>
              </a:solidFill>
              <a:latin typeface="Calibri"/>
              <a:ea typeface="Calibri"/>
              <a:cs typeface="Calibri"/>
              <a:sym typeface="Calibri"/>
            </a:endParaRPr>
          </a:p>
          <a:p>
            <a:pPr marL="0" marR="0" lvl="0" indent="0" algn="ctr" rtl="0">
              <a:lnSpc>
                <a:spcPct val="140000"/>
              </a:lnSpc>
              <a:spcBef>
                <a:spcPts val="0"/>
              </a:spcBef>
              <a:spcAft>
                <a:spcPts val="0"/>
              </a:spcAft>
              <a:buClr>
                <a:srgbClr val="D4BADD"/>
              </a:buClr>
              <a:buSzPts val="1400"/>
              <a:buFont typeface=" Arial"/>
              <a:buNone/>
            </a:pPr>
            <a:r>
              <a:rPr lang="en-US" sz="1400" b="0" i="0" u="none" strike="noStrike" cap="none">
                <a:solidFill>
                  <a:srgbClr val="D4BADD"/>
                </a:solidFill>
                <a:latin typeface=" Arial"/>
                <a:ea typeface=" Arial"/>
                <a:cs typeface=" Arial"/>
                <a:sym typeface=" Arial"/>
              </a:rPr>
              <a:t>Back at 7:30 PM — When Pregnancy Goes Wrong.</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37"/>
          <p:cNvSpPr/>
          <p:nvPr/>
        </p:nvSpPr>
        <p:spPr>
          <a:xfrm>
            <a:off x="0" y="0"/>
            <a:ext cx="9144000" cy="51435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7"/>
          <p:cNvSpPr/>
          <p:nvPr/>
        </p:nvSpPr>
        <p:spPr>
          <a:xfrm>
            <a:off x="0" y="5088636"/>
            <a:ext cx="9144000" cy="54864"/>
          </a:xfrm>
          <a:prstGeom prst="rect">
            <a:avLst/>
          </a:prstGeom>
          <a:solidFill>
            <a:srgbClr val="D4BADD"/>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7"/>
          <p:cNvSpPr/>
          <p:nvPr/>
        </p:nvSpPr>
        <p:spPr>
          <a:xfrm>
            <a:off x="6035040" y="0"/>
            <a:ext cx="3108960" cy="51435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7"/>
          <p:cNvSpPr/>
          <p:nvPr/>
        </p:nvSpPr>
        <p:spPr>
          <a:xfrm>
            <a:off x="457200" y="960120"/>
            <a:ext cx="5486400" cy="77724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FFFFFF"/>
              </a:buClr>
              <a:buSzPts val="4400"/>
              <a:buFont typeface="Georgia"/>
              <a:buNone/>
            </a:pPr>
            <a:r>
              <a:rPr lang="en-US" sz="4400" b="1" i="0" u="none" strike="noStrike" cap="none">
                <a:solidFill>
                  <a:srgbClr val="FFFFFF"/>
                </a:solidFill>
                <a:latin typeface="Georgia"/>
                <a:ea typeface="Georgia"/>
                <a:cs typeface="Georgia"/>
                <a:sym typeface="Georgia"/>
              </a:rPr>
              <a:t>When Pregnancy Goes Wrong:</a:t>
            </a:r>
            <a:endParaRPr sz="4400" b="0" i="0" u="none" strike="noStrike" cap="none">
              <a:solidFill>
                <a:schemeClr val="dk1"/>
              </a:solidFill>
              <a:latin typeface="Calibri"/>
              <a:ea typeface="Calibri"/>
              <a:cs typeface="Calibri"/>
              <a:sym typeface="Calibri"/>
            </a:endParaRPr>
          </a:p>
        </p:txBody>
      </p:sp>
      <p:sp>
        <p:nvSpPr>
          <p:cNvPr id="644" name="Google Shape;644;p37"/>
          <p:cNvSpPr/>
          <p:nvPr/>
        </p:nvSpPr>
        <p:spPr>
          <a:xfrm>
            <a:off x="411450" y="2563793"/>
            <a:ext cx="5486400" cy="6402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D4BADD"/>
              </a:buClr>
              <a:buSzPts val="2800"/>
              <a:buFont typeface="Georgia"/>
              <a:buNone/>
            </a:pPr>
            <a:r>
              <a:rPr lang="en-US" sz="2800" b="0" i="1" u="none" strike="noStrike" cap="none">
                <a:solidFill>
                  <a:srgbClr val="D4BADD"/>
                </a:solidFill>
                <a:latin typeface="Georgia"/>
                <a:ea typeface="Georgia"/>
                <a:cs typeface="Georgia"/>
                <a:sym typeface="Georgia"/>
              </a:rPr>
              <a:t>Danger Signs &amp; Complications</a:t>
            </a:r>
            <a:endParaRPr sz="2800" b="0" i="0" u="none" strike="noStrike" cap="none">
              <a:solidFill>
                <a:schemeClr val="dk1"/>
              </a:solidFill>
              <a:latin typeface="Calibri"/>
              <a:ea typeface="Calibri"/>
              <a:cs typeface="Calibri"/>
              <a:sym typeface="Calibri"/>
            </a:endParaRPr>
          </a:p>
        </p:txBody>
      </p:sp>
      <p:sp>
        <p:nvSpPr>
          <p:cNvPr id="645" name="Google Shape;645;p37"/>
          <p:cNvSpPr/>
          <p:nvPr/>
        </p:nvSpPr>
        <p:spPr>
          <a:xfrm>
            <a:off x="457200" y="3841447"/>
            <a:ext cx="5394900" cy="5028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D4BADD"/>
              </a:buClr>
              <a:buSzPts val="1300"/>
              <a:buFont typeface=" Arial"/>
              <a:buNone/>
            </a:pPr>
            <a:r>
              <a:rPr lang="en-US" sz="1300" b="0" i="0" u="none" strike="noStrike" cap="none">
                <a:solidFill>
                  <a:srgbClr val="D4BADD"/>
                </a:solidFill>
                <a:latin typeface=" Arial"/>
                <a:ea typeface=" Arial"/>
                <a:cs typeface=" Arial"/>
                <a:sym typeface=" Arial"/>
              </a:rPr>
              <a:t>Your job is not to diagnose. Your job is to recognize, advocate, and act.</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0"/>
        <p:cNvGrpSpPr/>
        <p:nvPr/>
      </p:nvGrpSpPr>
      <p:grpSpPr>
        <a:xfrm>
          <a:off x="0" y="0"/>
          <a:ext cx="0" cy="0"/>
          <a:chOff x="0" y="0"/>
          <a:chExt cx="0" cy="0"/>
        </a:xfrm>
      </p:grpSpPr>
      <p:sp>
        <p:nvSpPr>
          <p:cNvPr id="651" name="Google Shape;651;p38"/>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97706"/>
              </a:buClr>
              <a:buSzPts val="900"/>
              <a:buFont typeface=" Arial"/>
              <a:buNone/>
            </a:pPr>
            <a:r>
              <a:rPr lang="en-US" sz="900" b="0" i="0" u="none" strike="noStrike" cap="none">
                <a:solidFill>
                  <a:srgbClr val="D97706"/>
                </a:solidFill>
                <a:latin typeface=" Arial"/>
                <a:ea typeface=" Arial"/>
                <a:cs typeface=" Arial"/>
                <a:sym typeface=" Arial"/>
              </a:rPr>
              <a:t>BEFORE WE BEGIN PART TWO</a:t>
            </a:r>
            <a:endParaRPr sz="900" b="0" i="0" u="none" strike="noStrike" cap="none">
              <a:solidFill>
                <a:schemeClr val="dk1"/>
              </a:solidFill>
              <a:latin typeface="Calibri"/>
              <a:ea typeface="Calibri"/>
              <a:cs typeface="Calibri"/>
              <a:sym typeface="Calibri"/>
            </a:endParaRPr>
          </a:p>
        </p:txBody>
      </p:sp>
      <p:sp>
        <p:nvSpPr>
          <p:cNvPr id="652" name="Google Shape;652;p38"/>
          <p:cNvSpPr/>
          <p:nvPr/>
        </p:nvSpPr>
        <p:spPr>
          <a:xfrm>
            <a:off x="411480" y="470923"/>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Scope of Practice Still Applies Here</a:t>
            </a:r>
            <a:endParaRPr sz="2000" b="0" i="0" u="none" strike="noStrike" cap="none">
              <a:solidFill>
                <a:schemeClr val="dk1"/>
              </a:solidFill>
              <a:latin typeface="Calibri"/>
              <a:ea typeface="Calibri"/>
              <a:cs typeface="Calibri"/>
              <a:sym typeface="Calibri"/>
            </a:endParaRPr>
          </a:p>
        </p:txBody>
      </p:sp>
      <p:sp>
        <p:nvSpPr>
          <p:cNvPr id="653" name="Google Shape;653;p38"/>
          <p:cNvSpPr/>
          <p:nvPr/>
        </p:nvSpPr>
        <p:spPr>
          <a:xfrm>
            <a:off x="365750" y="1143000"/>
            <a:ext cx="8412600" cy="1165800"/>
          </a:xfrm>
          <a:prstGeom prst="rect">
            <a:avLst/>
          </a:prstGeom>
          <a:solidFill>
            <a:srgbClr val="FFFBEB"/>
          </a:solidFill>
          <a:ln w="12700" cap="flat" cmpd="sng">
            <a:solidFill>
              <a:srgbClr val="D97706"/>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365753" y="1143000"/>
            <a:ext cx="73200" cy="1165800"/>
          </a:xfrm>
          <a:prstGeom prst="rect">
            <a:avLst/>
          </a:prstGeom>
          <a:solidFill>
            <a:srgbClr val="D97706"/>
          </a:solidFill>
          <a:ln w="12700" cap="flat" cmpd="sng">
            <a:solidFill>
              <a:srgbClr val="D977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566928" y="1234440"/>
            <a:ext cx="8229600"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97706"/>
              </a:buClr>
              <a:buSzPts val="1400"/>
              <a:buFont typeface="Georgia"/>
              <a:buNone/>
            </a:pPr>
            <a:r>
              <a:rPr lang="en-US" sz="1400" b="1" i="0" u="none" strike="noStrike" cap="none">
                <a:solidFill>
                  <a:srgbClr val="D97706"/>
                </a:solidFill>
                <a:latin typeface="Georgia"/>
                <a:ea typeface="Georgia"/>
                <a:cs typeface="Georgia"/>
                <a:sym typeface="Georgia"/>
              </a:rPr>
              <a:t>Important — Scope Reminder</a:t>
            </a:r>
            <a:endParaRPr sz="1400" b="0" i="0" u="none" strike="noStrike" cap="none">
              <a:solidFill>
                <a:schemeClr val="dk1"/>
              </a:solidFill>
              <a:latin typeface="Calibri"/>
              <a:ea typeface="Calibri"/>
              <a:cs typeface="Calibri"/>
              <a:sym typeface="Calibri"/>
            </a:endParaRPr>
          </a:p>
        </p:txBody>
      </p:sp>
      <p:sp>
        <p:nvSpPr>
          <p:cNvPr id="656" name="Google Shape;656;p38"/>
          <p:cNvSpPr/>
          <p:nvPr/>
        </p:nvSpPr>
        <p:spPr>
          <a:xfrm>
            <a:off x="566928" y="1554480"/>
            <a:ext cx="8138160" cy="9144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2D2D2D"/>
              </a:buClr>
              <a:buSzPts val="1350"/>
              <a:buFont typeface=" Arial"/>
              <a:buNone/>
            </a:pPr>
            <a:r>
              <a:rPr lang="en-US" sz="1350" b="0" i="0" u="none" strike="noStrike" cap="none">
                <a:solidFill>
                  <a:srgbClr val="2D2D2D"/>
                </a:solidFill>
                <a:latin typeface=" Arial"/>
                <a:ea typeface=" Arial"/>
                <a:cs typeface=" Arial"/>
                <a:sym typeface=" Arial"/>
              </a:rPr>
              <a:t>You are not a medical provider. You do not diagnose. You do not prescribe. You do not override medical advice.</a:t>
            </a:r>
            <a:endParaRPr sz="1350" b="0" i="0" u="none" strike="noStrike" cap="none">
              <a:solidFill>
                <a:schemeClr val="dk1"/>
              </a:solidFill>
              <a:latin typeface="Calibri"/>
              <a:ea typeface="Calibri"/>
              <a:cs typeface="Calibri"/>
              <a:sym typeface="Calibri"/>
            </a:endParaRPr>
          </a:p>
        </p:txBody>
      </p:sp>
      <p:sp>
        <p:nvSpPr>
          <p:cNvPr id="657" name="Google Shape;657;p38"/>
          <p:cNvSpPr/>
          <p:nvPr/>
        </p:nvSpPr>
        <p:spPr>
          <a:xfrm>
            <a:off x="365750" y="2761499"/>
            <a:ext cx="8412600" cy="1857000"/>
          </a:xfrm>
          <a:prstGeom prst="rect">
            <a:avLst/>
          </a:prstGeom>
          <a:solidFill>
            <a:srgbClr val="F8F5FA"/>
          </a:solidFill>
          <a:ln w="12700" cap="flat" cmpd="sng">
            <a:solidFill>
              <a:srgbClr val="5E376C"/>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8"/>
          <p:cNvSpPr/>
          <p:nvPr/>
        </p:nvSpPr>
        <p:spPr>
          <a:xfrm>
            <a:off x="365690" y="2761499"/>
            <a:ext cx="73200" cy="18570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8"/>
          <p:cNvSpPr/>
          <p:nvPr/>
        </p:nvSpPr>
        <p:spPr>
          <a:xfrm>
            <a:off x="566928" y="2852928"/>
            <a:ext cx="8138160" cy="420624"/>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5E376C"/>
              </a:buClr>
              <a:buSzPts val="1450"/>
              <a:buFont typeface="Georgia"/>
              <a:buNone/>
            </a:pPr>
            <a:r>
              <a:rPr lang="en-US" sz="1450" b="1" i="0" u="none" strike="noStrike" cap="none">
                <a:solidFill>
                  <a:srgbClr val="5E376C"/>
                </a:solidFill>
                <a:latin typeface="Georgia"/>
                <a:ea typeface="Georgia"/>
                <a:cs typeface="Georgia"/>
                <a:sym typeface="Georgia"/>
              </a:rPr>
              <a:t>But you ARE an educated support person who knows when something is not right.</a:t>
            </a:r>
            <a:endParaRPr sz="1450" b="0" i="0" u="none" strike="noStrike" cap="none">
              <a:solidFill>
                <a:schemeClr val="dk1"/>
              </a:solidFill>
              <a:latin typeface="Calibri"/>
              <a:ea typeface="Calibri"/>
              <a:cs typeface="Calibri"/>
              <a:sym typeface="Calibri"/>
            </a:endParaRPr>
          </a:p>
        </p:txBody>
      </p:sp>
      <p:sp>
        <p:nvSpPr>
          <p:cNvPr id="660" name="Google Shape;660;p38"/>
          <p:cNvSpPr/>
          <p:nvPr/>
        </p:nvSpPr>
        <p:spPr>
          <a:xfrm>
            <a:off x="566928" y="3337560"/>
            <a:ext cx="8138160"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D2D2D"/>
              </a:buClr>
              <a:buSzPts val="1350"/>
              <a:buFont typeface=" Arial"/>
              <a:buNone/>
            </a:pPr>
            <a:r>
              <a:rPr lang="en-US" sz="1350" b="0" i="0" u="none" strike="noStrike" cap="none">
                <a:solidFill>
                  <a:srgbClr val="2D2D2D"/>
                </a:solidFill>
                <a:latin typeface=" Arial"/>
                <a:ea typeface=" Arial"/>
                <a:cs typeface=" Arial"/>
                <a:sym typeface=" Arial"/>
              </a:rPr>
              <a:t>Sometimes that means calmly and clearly saying:</a:t>
            </a:r>
            <a:endParaRPr sz="1350" b="0" i="0" u="none" strike="noStrike" cap="none">
              <a:solidFill>
                <a:schemeClr val="dk1"/>
              </a:solidFill>
              <a:latin typeface="Calibri"/>
              <a:ea typeface="Calibri"/>
              <a:cs typeface="Calibri"/>
              <a:sym typeface="Calibri"/>
            </a:endParaRPr>
          </a:p>
        </p:txBody>
      </p:sp>
      <p:sp>
        <p:nvSpPr>
          <p:cNvPr id="661" name="Google Shape;661;p38"/>
          <p:cNvSpPr/>
          <p:nvPr/>
        </p:nvSpPr>
        <p:spPr>
          <a:xfrm>
            <a:off x="566928" y="3657600"/>
            <a:ext cx="8138160"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2000"/>
              <a:buFont typeface="Georgia"/>
              <a:buNone/>
            </a:pPr>
            <a:r>
              <a:rPr lang="en-US" sz="2000" b="1" i="1" u="none" strike="noStrike" cap="none">
                <a:solidFill>
                  <a:srgbClr val="5E376C"/>
                </a:solidFill>
                <a:latin typeface="Georgia"/>
                <a:ea typeface="Georgia"/>
                <a:cs typeface="Georgia"/>
                <a:sym typeface="Georgia"/>
              </a:rPr>
              <a:t>"We need to call your provider right now."</a:t>
            </a:r>
            <a:endParaRPr sz="2000" b="0" i="0" u="none" strike="noStrike" cap="none">
              <a:solidFill>
                <a:schemeClr val="dk1"/>
              </a:solidFill>
              <a:latin typeface="Calibri"/>
              <a:ea typeface="Calibri"/>
              <a:cs typeface="Calibri"/>
              <a:sym typeface="Calibri"/>
            </a:endParaRPr>
          </a:p>
        </p:txBody>
      </p:sp>
      <p:sp>
        <p:nvSpPr>
          <p:cNvPr id="662" name="Google Shape;662;p38"/>
          <p:cNvSpPr/>
          <p:nvPr/>
        </p:nvSpPr>
        <p:spPr>
          <a:xfrm>
            <a:off x="566928" y="4206240"/>
            <a:ext cx="813816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B6B6B"/>
              </a:buClr>
              <a:buSzPts val="1300"/>
              <a:buFont typeface=" Arial"/>
              <a:buNone/>
            </a:pPr>
            <a:r>
              <a:rPr lang="en-US" sz="1300" b="0" i="0" u="none" strike="noStrike" cap="none">
                <a:solidFill>
                  <a:srgbClr val="6B6B6B"/>
                </a:solidFill>
                <a:latin typeface=" Arial"/>
                <a:ea typeface=" Arial"/>
                <a:cs typeface=" Arial"/>
                <a:sym typeface=" Arial"/>
              </a:rPr>
              <a:t>That is not overstepping. That is exactly what doulas do.</a:t>
            </a:r>
            <a:endParaRPr sz="1300" b="0" i="0" u="none" strike="noStrike" cap="none">
              <a:solidFill>
                <a:schemeClr val="dk1"/>
              </a:solidFill>
              <a:latin typeface="Calibri"/>
              <a:ea typeface="Calibri"/>
              <a:cs typeface="Calibri"/>
              <a:sym typeface="Calibri"/>
            </a:endParaRPr>
          </a:p>
        </p:txBody>
      </p:sp>
      <p:sp>
        <p:nvSpPr>
          <p:cNvPr id="663" name="Google Shape;663;p38"/>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8"/>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0"/>
        <p:cNvGrpSpPr/>
        <p:nvPr/>
      </p:nvGrpSpPr>
      <p:grpSpPr>
        <a:xfrm>
          <a:off x="0" y="0"/>
          <a:ext cx="0" cy="0"/>
          <a:chOff x="0" y="0"/>
          <a:chExt cx="0" cy="0"/>
        </a:xfrm>
      </p:grpSpPr>
      <p:sp>
        <p:nvSpPr>
          <p:cNvPr id="671" name="Google Shape;671;p39"/>
          <p:cNvSpPr/>
          <p:nvPr/>
        </p:nvSpPr>
        <p:spPr>
          <a:xfrm>
            <a:off x="0" y="-34636"/>
            <a:ext cx="3017520" cy="51435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9"/>
          <p:cNvSpPr/>
          <p:nvPr/>
        </p:nvSpPr>
        <p:spPr>
          <a:xfrm>
            <a:off x="91440" y="731520"/>
            <a:ext cx="2834640" cy="1371600"/>
          </a:xfrm>
          <a:prstGeom prst="rect">
            <a:avLst/>
          </a:prstGeom>
          <a:noFill/>
          <a:ln>
            <a:noFill/>
          </a:ln>
        </p:spPr>
        <p:txBody>
          <a:bodyPr spcFirstLastPara="1" wrap="square" lIns="0" tIns="0" rIns="0" bIns="0" anchor="t" anchorCtr="0">
            <a:noAutofit/>
          </a:bodyPr>
          <a:lstStyle/>
          <a:p>
            <a:pPr marL="0" marR="0" lvl="0" indent="0" algn="ctr" rtl="0">
              <a:lnSpc>
                <a:spcPct val="130000"/>
              </a:lnSpc>
              <a:spcBef>
                <a:spcPts val="0"/>
              </a:spcBef>
              <a:spcAft>
                <a:spcPts val="0"/>
              </a:spcAft>
              <a:buClr>
                <a:srgbClr val="FFFFFF"/>
              </a:buClr>
              <a:buSzPts val="2200"/>
              <a:buFont typeface="Georgia"/>
              <a:buNone/>
            </a:pPr>
            <a:r>
              <a:rPr lang="en-US" sz="2600" b="1" i="1">
                <a:solidFill>
                  <a:srgbClr val="FFFFFF"/>
                </a:solidFill>
                <a:latin typeface="Georgia"/>
                <a:ea typeface="Georgia"/>
                <a:cs typeface="Georgia"/>
                <a:sym typeface="Georgia"/>
              </a:rPr>
              <a:t>Preeclampsia</a:t>
            </a:r>
            <a:endParaRPr sz="3000" b="0" i="0" u="none" strike="noStrike" cap="none">
              <a:solidFill>
                <a:schemeClr val="dk1"/>
              </a:solidFill>
              <a:latin typeface="Calibri"/>
              <a:ea typeface="Calibri"/>
              <a:cs typeface="Calibri"/>
              <a:sym typeface="Calibri"/>
            </a:endParaRPr>
          </a:p>
        </p:txBody>
      </p:sp>
      <p:sp>
        <p:nvSpPr>
          <p:cNvPr id="673" name="Google Shape;673;p39"/>
          <p:cNvSpPr/>
          <p:nvPr/>
        </p:nvSpPr>
        <p:spPr>
          <a:xfrm>
            <a:off x="137160" y="2788920"/>
            <a:ext cx="2743200" cy="1097280"/>
          </a:xfrm>
          <a:prstGeom prst="rect">
            <a:avLst/>
          </a:prstGeom>
          <a:noFill/>
          <a:ln>
            <a:noFill/>
          </a:ln>
        </p:spPr>
        <p:txBody>
          <a:bodyPr spcFirstLastPara="1" wrap="square" lIns="0" tIns="0" rIns="0" bIns="0" anchor="t" anchorCtr="0">
            <a:noAutofit/>
          </a:bodyPr>
          <a:lstStyle/>
          <a:p>
            <a:pPr marL="0" lvl="0" indent="0" algn="ctr" rtl="0">
              <a:lnSpc>
                <a:spcPct val="130000"/>
              </a:lnSpc>
              <a:spcBef>
                <a:spcPts val="0"/>
              </a:spcBef>
              <a:spcAft>
                <a:spcPts val="0"/>
              </a:spcAft>
              <a:buClr>
                <a:schemeClr val="lt1"/>
              </a:buClr>
              <a:buSzPts val="2200"/>
              <a:buFont typeface="Georgia"/>
              <a:buNone/>
            </a:pPr>
            <a:r>
              <a:rPr lang="en-US" sz="2200" b="1" i="1">
                <a:solidFill>
                  <a:schemeClr val="lt1"/>
                </a:solidFill>
                <a:latin typeface="Georgia"/>
                <a:ea typeface="Georgia"/>
                <a:cs typeface="Georgia"/>
                <a:sym typeface="Georgia"/>
              </a:rPr>
              <a:t>5–8%</a:t>
            </a:r>
            <a:endParaRPr sz="2200">
              <a:solidFill>
                <a:schemeClr val="dk1"/>
              </a:solidFill>
              <a:latin typeface="Calibri"/>
              <a:ea typeface="Calibri"/>
              <a:cs typeface="Calibri"/>
              <a:sym typeface="Calibri"/>
            </a:endParaRPr>
          </a:p>
          <a:p>
            <a:pPr marL="0" lvl="0" indent="0" algn="ctr" rtl="0">
              <a:lnSpc>
                <a:spcPct val="130000"/>
              </a:lnSpc>
              <a:spcBef>
                <a:spcPts val="0"/>
              </a:spcBef>
              <a:spcAft>
                <a:spcPts val="0"/>
              </a:spcAft>
              <a:buClr>
                <a:schemeClr val="lt1"/>
              </a:buClr>
              <a:buSzPts val="2200"/>
              <a:buFont typeface="Georgia"/>
              <a:buNone/>
            </a:pPr>
            <a:r>
              <a:rPr lang="en-US" sz="2200" b="1" i="1">
                <a:solidFill>
                  <a:schemeClr val="lt1"/>
                </a:solidFill>
                <a:latin typeface="Georgia"/>
                <a:ea typeface="Georgia"/>
                <a:cs typeface="Georgia"/>
                <a:sym typeface="Georgia"/>
              </a:rPr>
              <a:t>of all</a:t>
            </a:r>
            <a:endParaRPr sz="2200">
              <a:solidFill>
                <a:schemeClr val="dk1"/>
              </a:solidFill>
              <a:latin typeface="Calibri"/>
              <a:ea typeface="Calibri"/>
              <a:cs typeface="Calibri"/>
              <a:sym typeface="Calibri"/>
            </a:endParaRPr>
          </a:p>
          <a:p>
            <a:pPr marL="0" lvl="0" indent="0" algn="ctr" rtl="0">
              <a:lnSpc>
                <a:spcPct val="130000"/>
              </a:lnSpc>
              <a:spcBef>
                <a:spcPts val="0"/>
              </a:spcBef>
              <a:spcAft>
                <a:spcPts val="0"/>
              </a:spcAft>
              <a:buClr>
                <a:schemeClr val="lt1"/>
              </a:buClr>
              <a:buSzPts val="2200"/>
              <a:buFont typeface="Georgia"/>
              <a:buNone/>
            </a:pPr>
            <a:r>
              <a:rPr lang="en-US" sz="2200" b="1" i="1">
                <a:solidFill>
                  <a:schemeClr val="lt1"/>
                </a:solidFill>
                <a:latin typeface="Georgia"/>
                <a:ea typeface="Calibri"/>
                <a:cs typeface="Calibri"/>
                <a:sym typeface="Georgia"/>
              </a:rPr>
              <a:t>pregnancies</a:t>
            </a:r>
            <a:endParaRPr sz="2200">
              <a:solidFill>
                <a:schemeClr val="dk1"/>
              </a:solidFill>
              <a:latin typeface="Calibri"/>
              <a:ea typeface="Calibri"/>
              <a:cs typeface="Calibri"/>
              <a:sym typeface="Calibri"/>
            </a:endParaRPr>
          </a:p>
          <a:p>
            <a:pPr marL="0" marR="0" lvl="0" indent="0" algn="ctr" rtl="0">
              <a:lnSpc>
                <a:spcPct val="135000"/>
              </a:lnSpc>
              <a:spcBef>
                <a:spcPts val="0"/>
              </a:spcBef>
              <a:spcAft>
                <a:spcPts val="0"/>
              </a:spcAft>
              <a:buClr>
                <a:srgbClr val="B8A0C0"/>
              </a:buClr>
              <a:buSzPts val="1300"/>
              <a:buFont typeface=" Arial"/>
              <a:buNone/>
            </a:pPr>
            <a:endParaRPr sz="1300">
              <a:solidFill>
                <a:srgbClr val="B8A0C0"/>
              </a:solidFill>
              <a:latin typeface=" Arial"/>
              <a:ea typeface=" Arial"/>
              <a:cs typeface=" Arial"/>
              <a:sym typeface=" Arial"/>
            </a:endParaRPr>
          </a:p>
        </p:txBody>
      </p:sp>
      <p:sp>
        <p:nvSpPr>
          <p:cNvPr id="674" name="Google Shape;674;p39"/>
          <p:cNvSpPr/>
          <p:nvPr/>
        </p:nvSpPr>
        <p:spPr>
          <a:xfrm>
            <a:off x="3182112" y="164592"/>
            <a:ext cx="585216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PREECLAMPSIA  ·  A LIFE-THREATENING COMPLICATION</a:t>
            </a:r>
            <a:endParaRPr sz="900" b="0" i="0" u="none" strike="noStrike" cap="none">
              <a:solidFill>
                <a:schemeClr val="dk1"/>
              </a:solidFill>
              <a:latin typeface="Calibri"/>
              <a:ea typeface="Calibri"/>
              <a:cs typeface="Calibri"/>
              <a:sym typeface="Calibri"/>
            </a:endParaRPr>
          </a:p>
        </p:txBody>
      </p:sp>
      <p:sp>
        <p:nvSpPr>
          <p:cNvPr id="675" name="Google Shape;675;p39"/>
          <p:cNvSpPr/>
          <p:nvPr/>
        </p:nvSpPr>
        <p:spPr>
          <a:xfrm>
            <a:off x="3182112" y="402336"/>
            <a:ext cx="5852160" cy="47548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600"/>
              <a:buFont typeface="Georgia"/>
              <a:buNone/>
            </a:pPr>
            <a:r>
              <a:rPr lang="en-US" sz="2600" b="1" i="0" u="none" strike="noStrike" cap="none">
                <a:solidFill>
                  <a:srgbClr val="5E376C"/>
                </a:solidFill>
                <a:latin typeface="Georgia"/>
                <a:ea typeface="Georgia"/>
                <a:cs typeface="Georgia"/>
                <a:sym typeface="Georgia"/>
              </a:rPr>
              <a:t>What It Is</a:t>
            </a:r>
            <a:endParaRPr sz="2600" b="0" i="0" u="none" strike="noStrike" cap="none">
              <a:solidFill>
                <a:schemeClr val="dk1"/>
              </a:solidFill>
              <a:latin typeface="Calibri"/>
              <a:ea typeface="Calibri"/>
              <a:cs typeface="Calibri"/>
              <a:sym typeface="Calibri"/>
            </a:endParaRPr>
          </a:p>
        </p:txBody>
      </p:sp>
      <p:sp>
        <p:nvSpPr>
          <p:cNvPr id="677" name="Google Shape;677;p39"/>
          <p:cNvSpPr/>
          <p:nvPr/>
        </p:nvSpPr>
        <p:spPr>
          <a:xfrm>
            <a:off x="3090672" y="987552"/>
            <a:ext cx="73152" cy="123444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9"/>
          <p:cNvSpPr/>
          <p:nvPr/>
        </p:nvSpPr>
        <p:spPr>
          <a:xfrm>
            <a:off x="3273552" y="1078992"/>
            <a:ext cx="5394960" cy="1051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D2D2D"/>
              </a:buClr>
              <a:buSzPts val="1300"/>
              <a:buFont typeface=" Arial"/>
              <a:buNone/>
            </a:pPr>
            <a:r>
              <a:rPr lang="en-US" sz="1300" b="0" i="0" u="none" strike="noStrike" cap="none">
                <a:solidFill>
                  <a:srgbClr val="2D2D2D"/>
                </a:solidFill>
                <a:latin typeface=" Arial"/>
                <a:ea typeface=" Arial"/>
                <a:cs typeface=" Arial"/>
                <a:sym typeface=" Arial"/>
              </a:rPr>
              <a:t>High blood pressure (≥140/90) developing after 20 weeks of pregnancy, with signs of organ stress — protein in urine, liver dysfunction, kidney problems, or low platelets.</a:t>
            </a:r>
            <a:endParaRPr sz="1300" b="0" i="0" u="none" strike="noStrike" cap="none">
              <a:solidFill>
                <a:schemeClr val="dk1"/>
              </a:solidFill>
              <a:latin typeface="Calibri"/>
              <a:ea typeface="Calibri"/>
              <a:cs typeface="Calibri"/>
              <a:sym typeface="Calibri"/>
            </a:endParaRPr>
          </a:p>
        </p:txBody>
      </p:sp>
      <p:sp>
        <p:nvSpPr>
          <p:cNvPr id="679" name="Google Shape;679;p39"/>
          <p:cNvSpPr/>
          <p:nvPr/>
        </p:nvSpPr>
        <p:spPr>
          <a:xfrm>
            <a:off x="3090672" y="2359152"/>
            <a:ext cx="5760720" cy="2450592"/>
          </a:xfrm>
          <a:prstGeom prst="rect">
            <a:avLst/>
          </a:prstGeom>
          <a:solidFill>
            <a:srgbClr val="F0F9FF"/>
          </a:solidFill>
          <a:ln w="12700" cap="flat" cmpd="sng">
            <a:solidFill>
              <a:srgbClr val="0284C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9"/>
          <p:cNvSpPr/>
          <p:nvPr/>
        </p:nvSpPr>
        <p:spPr>
          <a:xfrm>
            <a:off x="3090672" y="2359152"/>
            <a:ext cx="73152" cy="2450592"/>
          </a:xfrm>
          <a:prstGeom prst="rect">
            <a:avLst/>
          </a:prstGeom>
          <a:solidFill>
            <a:srgbClr val="0284C7"/>
          </a:solidFill>
          <a:ln w="12700" cap="flat" cmpd="sng">
            <a:solidFill>
              <a:srgbClr val="0284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9"/>
          <p:cNvSpPr/>
          <p:nvPr/>
        </p:nvSpPr>
        <p:spPr>
          <a:xfrm>
            <a:off x="3273552" y="2450592"/>
            <a:ext cx="5486400"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284C7"/>
              </a:buClr>
              <a:buSzPts val="1100"/>
              <a:buFont typeface=" Arial"/>
              <a:buNone/>
            </a:pPr>
            <a:r>
              <a:rPr lang="en-US" sz="1100" b="1" i="0" u="none" strike="noStrike" cap="none">
                <a:solidFill>
                  <a:srgbClr val="0284C7"/>
                </a:solidFill>
                <a:latin typeface=" Arial"/>
                <a:ea typeface=" Arial"/>
                <a:cs typeface=" Arial"/>
                <a:sym typeface=" Arial"/>
              </a:rPr>
              <a:t>Clinical Note</a:t>
            </a:r>
            <a:endParaRPr sz="1100" b="0" i="0" u="none" strike="noStrike" cap="none">
              <a:solidFill>
                <a:schemeClr val="dk1"/>
              </a:solidFill>
              <a:latin typeface="Calibri"/>
              <a:ea typeface="Calibri"/>
              <a:cs typeface="Calibri"/>
              <a:sym typeface="Calibri"/>
            </a:endParaRPr>
          </a:p>
        </p:txBody>
      </p:sp>
      <p:sp>
        <p:nvSpPr>
          <p:cNvPr id="682" name="Google Shape;682;p39"/>
          <p:cNvSpPr/>
          <p:nvPr/>
        </p:nvSpPr>
        <p:spPr>
          <a:xfrm>
            <a:off x="3273552" y="2743200"/>
            <a:ext cx="5440680" cy="1956816"/>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300"/>
              <a:buFont typeface=" Arial"/>
              <a:buChar char="–"/>
            </a:pPr>
            <a:r>
              <a:rPr lang="en-US" sz="1300" b="0" i="0" u="none" strike="noStrike" cap="none">
                <a:solidFill>
                  <a:srgbClr val="2D2D2D"/>
                </a:solidFill>
                <a:latin typeface=" Arial"/>
                <a:ea typeface=" Arial"/>
                <a:cs typeface=" Arial"/>
                <a:sym typeface=" Arial"/>
              </a:rPr>
              <a:t>Severe features: BP ≥160/110</a:t>
            </a:r>
            <a:endParaRPr sz="13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300"/>
              <a:buFont typeface=" Arial"/>
              <a:buChar char="–"/>
            </a:pPr>
            <a:r>
              <a:rPr lang="en-US" sz="1300" b="0" i="0" u="none" strike="noStrike" cap="none">
                <a:solidFill>
                  <a:srgbClr val="2D2D2D"/>
                </a:solidFill>
                <a:latin typeface=" Arial"/>
                <a:ea typeface=" Arial"/>
                <a:cs typeface=" Arial"/>
                <a:sym typeface=" Arial"/>
              </a:rPr>
              <a:t>Only cure is delivery</a:t>
            </a:r>
            <a:endParaRPr sz="13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300"/>
              <a:buFont typeface=" Arial"/>
              <a:buChar char="–"/>
            </a:pPr>
            <a:r>
              <a:rPr lang="en-US" sz="1300" b="0" i="0" u="none" strike="noStrike" cap="none">
                <a:solidFill>
                  <a:srgbClr val="2D2D2D"/>
                </a:solidFill>
                <a:latin typeface=" Arial"/>
                <a:ea typeface=" Arial"/>
                <a:cs typeface=" Arial"/>
                <a:sym typeface=" Arial"/>
              </a:rPr>
              <a:t>HELLP variant: 10–20% of severe cases</a:t>
            </a:r>
            <a:endParaRPr sz="130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300"/>
              <a:buFont typeface=" Arial"/>
              <a:buChar char="–"/>
            </a:pPr>
            <a:r>
              <a:rPr lang="en-US" sz="1300" b="0" i="0" u="none" strike="noStrike" cap="none">
                <a:solidFill>
                  <a:srgbClr val="2D2D2D"/>
                </a:solidFill>
                <a:latin typeface=" Arial"/>
                <a:ea typeface=" Arial"/>
                <a:cs typeface=" Arial"/>
                <a:sym typeface=" Arial"/>
              </a:rPr>
              <a:t>Can develop after birth (up to 6 wks)</a:t>
            </a:r>
            <a:endParaRPr sz="1300" b="0" i="0" u="none" strike="noStrike" cap="none">
              <a:solidFill>
                <a:schemeClr val="dk1"/>
              </a:solidFill>
              <a:latin typeface="Calibri"/>
              <a:ea typeface="Calibri"/>
              <a:cs typeface="Calibri"/>
              <a:sym typeface="Calibri"/>
            </a:endParaRPr>
          </a:p>
        </p:txBody>
      </p:sp>
      <p:sp>
        <p:nvSpPr>
          <p:cNvPr id="683" name="Google Shape;683;p39"/>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9"/>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40"/>
          <p:cNvSpPr/>
          <p:nvPr/>
        </p:nvSpPr>
        <p:spPr>
          <a:xfrm>
            <a:off x="0" y="0"/>
            <a:ext cx="9144000" cy="5143500"/>
          </a:xfrm>
          <a:prstGeom prst="rect">
            <a:avLst/>
          </a:prstGeom>
          <a:solidFill>
            <a:srgbClr val="1C0A2B"/>
          </a:solidFill>
          <a:ln w="12700" cap="flat" cmpd="sng">
            <a:solidFill>
              <a:srgbClr val="1C0A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0"/>
          <p:cNvSpPr/>
          <p:nvPr/>
        </p:nvSpPr>
        <p:spPr>
          <a:xfrm>
            <a:off x="0" y="5088636"/>
            <a:ext cx="9144000" cy="54864"/>
          </a:xfrm>
          <a:prstGeom prst="rect">
            <a:avLst/>
          </a:prstGeom>
          <a:solidFill>
            <a:srgbClr val="D4BADD"/>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0"/>
          <p:cNvSpPr/>
          <p:nvPr/>
        </p:nvSpPr>
        <p:spPr>
          <a:xfrm>
            <a:off x="365760" y="164592"/>
            <a:ext cx="8412480" cy="23774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1000"/>
              <a:buFont typeface=" Arial"/>
              <a:buNone/>
            </a:pPr>
            <a:r>
              <a:rPr lang="en-US" sz="1000" b="0" i="0" u="none" strike="noStrike" cap="none">
                <a:solidFill>
                  <a:srgbClr val="D4BADD"/>
                </a:solidFill>
                <a:latin typeface=" Arial"/>
                <a:ea typeface=" Arial"/>
                <a:cs typeface=" Arial"/>
                <a:sym typeface=" Arial"/>
              </a:rPr>
              <a:t>WARNING SIGNS  ·  MEMORIZE THESE COLD</a:t>
            </a:r>
            <a:endParaRPr sz="1000" b="0" i="0" u="none" strike="noStrike" cap="none">
              <a:solidFill>
                <a:schemeClr val="dk1"/>
              </a:solidFill>
              <a:latin typeface="Calibri"/>
              <a:ea typeface="Calibri"/>
              <a:cs typeface="Calibri"/>
              <a:sym typeface="Calibri"/>
            </a:endParaRPr>
          </a:p>
        </p:txBody>
      </p:sp>
      <p:sp>
        <p:nvSpPr>
          <p:cNvPr id="694" name="Google Shape;694;p40"/>
          <p:cNvSpPr/>
          <p:nvPr/>
        </p:nvSpPr>
        <p:spPr>
          <a:xfrm>
            <a:off x="365760" y="457200"/>
            <a:ext cx="8412480" cy="40233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200"/>
              <a:buFont typeface="Georgia"/>
              <a:buNone/>
            </a:pPr>
            <a:r>
              <a:rPr lang="en-US" sz="2200" b="1" i="0" u="none" strike="noStrike" cap="none">
                <a:solidFill>
                  <a:srgbClr val="FFFFFF"/>
                </a:solidFill>
                <a:latin typeface="Georgia"/>
                <a:ea typeface="Georgia"/>
                <a:cs typeface="Georgia"/>
                <a:sym typeface="Georgia"/>
              </a:rPr>
              <a:t>Every doula must know these.</a:t>
            </a:r>
            <a:endParaRPr sz="2200" b="0" i="0" u="none" strike="noStrike" cap="none">
              <a:solidFill>
                <a:schemeClr val="dk1"/>
              </a:solidFill>
              <a:latin typeface="Calibri"/>
              <a:ea typeface="Calibri"/>
              <a:cs typeface="Calibri"/>
              <a:sym typeface="Calibri"/>
            </a:endParaRPr>
          </a:p>
        </p:txBody>
      </p:sp>
      <p:sp>
        <p:nvSpPr>
          <p:cNvPr id="695" name="Google Shape;695;p40"/>
          <p:cNvSpPr/>
          <p:nvPr/>
        </p:nvSpPr>
        <p:spPr>
          <a:xfrm>
            <a:off x="256032" y="987552"/>
            <a:ext cx="2743200" cy="1828800"/>
          </a:xfrm>
          <a:prstGeom prst="rect">
            <a:avLst/>
          </a:prstGeom>
          <a:solidFill>
            <a:srgbClr val="5E376C"/>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0"/>
          <p:cNvSpPr/>
          <p:nvPr/>
        </p:nvSpPr>
        <p:spPr>
          <a:xfrm>
            <a:off x="256032" y="1115568"/>
            <a:ext cx="2743200" cy="34747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01</a:t>
            </a:r>
            <a:endParaRPr sz="2200" b="0" i="0" u="none" strike="noStrike" cap="none">
              <a:solidFill>
                <a:schemeClr val="dk1"/>
              </a:solidFill>
              <a:latin typeface="Calibri"/>
              <a:ea typeface="Calibri"/>
              <a:cs typeface="Calibri"/>
              <a:sym typeface="Calibri"/>
            </a:endParaRPr>
          </a:p>
        </p:txBody>
      </p:sp>
      <p:sp>
        <p:nvSpPr>
          <p:cNvPr id="697" name="Google Shape;697;p40"/>
          <p:cNvSpPr/>
          <p:nvPr/>
        </p:nvSpPr>
        <p:spPr>
          <a:xfrm>
            <a:off x="256032" y="1517904"/>
            <a:ext cx="2743200" cy="658368"/>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Severe </a:t>
            </a:r>
            <a:endParaRPr sz="1500" b="1" i="0" u="none" strike="noStrike" cap="none">
              <a:solidFill>
                <a:srgbClr val="FFFFFF"/>
              </a:solidFill>
              <a:latin typeface="Georgia"/>
              <a:ea typeface="Georgia"/>
              <a:cs typeface="Georgia"/>
              <a:sym typeface="Georgia"/>
            </a:endParaRPr>
          </a:p>
          <a:p>
            <a:pPr marL="0" marR="0" lvl="0" indent="0" algn="ctr" rtl="0">
              <a:lnSpc>
                <a:spcPct val="120000"/>
              </a:lnSpc>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Persistent Headache</a:t>
            </a:r>
            <a:endParaRPr sz="1500" b="0" i="0" u="none" strike="noStrike" cap="none">
              <a:solidFill>
                <a:schemeClr val="dk1"/>
              </a:solidFill>
              <a:latin typeface="Calibri"/>
              <a:ea typeface="Calibri"/>
              <a:cs typeface="Calibri"/>
              <a:sym typeface="Calibri"/>
            </a:endParaRPr>
          </a:p>
        </p:txBody>
      </p:sp>
      <p:sp>
        <p:nvSpPr>
          <p:cNvPr id="698" name="Google Shape;698;p40"/>
          <p:cNvSpPr/>
          <p:nvPr/>
        </p:nvSpPr>
        <p:spPr>
          <a:xfrm>
            <a:off x="256032" y="2304288"/>
            <a:ext cx="2743200" cy="40233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B8A0C0"/>
              </a:buClr>
              <a:buSzPts val="1150"/>
              <a:buFont typeface=" Arial"/>
              <a:buNone/>
            </a:pPr>
            <a:r>
              <a:rPr lang="en-US" sz="1150" b="0" i="0" u="none" strike="noStrike" cap="none">
                <a:solidFill>
                  <a:srgbClr val="B8A0C0"/>
                </a:solidFill>
                <a:latin typeface=" Arial"/>
                <a:ea typeface=" Arial"/>
                <a:cs typeface=" Arial"/>
                <a:sym typeface=" Arial"/>
              </a:rPr>
              <a:t>Not responding to Tylenol</a:t>
            </a:r>
            <a:endParaRPr sz="1150" b="0" i="0" u="none" strike="noStrike" cap="none">
              <a:solidFill>
                <a:schemeClr val="dk1"/>
              </a:solidFill>
              <a:latin typeface="Calibri"/>
              <a:ea typeface="Calibri"/>
              <a:cs typeface="Calibri"/>
              <a:sym typeface="Calibri"/>
            </a:endParaRPr>
          </a:p>
        </p:txBody>
      </p:sp>
      <p:sp>
        <p:nvSpPr>
          <p:cNvPr id="699" name="Google Shape;699;p40"/>
          <p:cNvSpPr/>
          <p:nvPr/>
        </p:nvSpPr>
        <p:spPr>
          <a:xfrm>
            <a:off x="3136392" y="987552"/>
            <a:ext cx="2743200" cy="1828800"/>
          </a:xfrm>
          <a:prstGeom prst="rect">
            <a:avLst/>
          </a:prstGeom>
          <a:solidFill>
            <a:srgbClr val="5E376C"/>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0"/>
          <p:cNvSpPr/>
          <p:nvPr/>
        </p:nvSpPr>
        <p:spPr>
          <a:xfrm>
            <a:off x="3136392" y="1115568"/>
            <a:ext cx="2743200" cy="34747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02</a:t>
            </a:r>
            <a:endParaRPr sz="2200" b="0" i="0" u="none" strike="noStrike" cap="none">
              <a:solidFill>
                <a:schemeClr val="dk1"/>
              </a:solidFill>
              <a:latin typeface="Calibri"/>
              <a:ea typeface="Calibri"/>
              <a:cs typeface="Calibri"/>
              <a:sym typeface="Calibri"/>
            </a:endParaRPr>
          </a:p>
        </p:txBody>
      </p:sp>
      <p:sp>
        <p:nvSpPr>
          <p:cNvPr id="701" name="Google Shape;701;p40"/>
          <p:cNvSpPr/>
          <p:nvPr/>
        </p:nvSpPr>
        <p:spPr>
          <a:xfrm>
            <a:off x="3136392" y="1517904"/>
            <a:ext cx="2743200" cy="658368"/>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Vision Changes</a:t>
            </a:r>
            <a:endParaRPr sz="1500" b="0" i="0" u="none" strike="noStrike" cap="none">
              <a:solidFill>
                <a:schemeClr val="dk1"/>
              </a:solidFill>
              <a:latin typeface="Calibri"/>
              <a:ea typeface="Calibri"/>
              <a:cs typeface="Calibri"/>
              <a:sym typeface="Calibri"/>
            </a:endParaRPr>
          </a:p>
        </p:txBody>
      </p:sp>
      <p:sp>
        <p:nvSpPr>
          <p:cNvPr id="702" name="Google Shape;702;p40"/>
          <p:cNvSpPr/>
          <p:nvPr/>
        </p:nvSpPr>
        <p:spPr>
          <a:xfrm>
            <a:off x="3136392" y="2304288"/>
            <a:ext cx="2743200" cy="40233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B8A0C0"/>
              </a:buClr>
              <a:buSzPts val="1150"/>
              <a:buFont typeface=" Arial"/>
              <a:buNone/>
            </a:pPr>
            <a:r>
              <a:rPr lang="en-US" sz="1150" b="0" i="0" u="none" strike="noStrike" cap="none">
                <a:solidFill>
                  <a:srgbClr val="B8A0C0"/>
                </a:solidFill>
                <a:latin typeface=" Arial"/>
                <a:ea typeface=" Arial"/>
                <a:cs typeface=" Arial"/>
                <a:sym typeface=" Arial"/>
              </a:rPr>
              <a:t>Blurred, spots, flashing lights</a:t>
            </a:r>
            <a:endParaRPr sz="1150" b="0" i="0" u="none" strike="noStrike" cap="none">
              <a:solidFill>
                <a:schemeClr val="dk1"/>
              </a:solidFill>
              <a:latin typeface="Calibri"/>
              <a:ea typeface="Calibri"/>
              <a:cs typeface="Calibri"/>
              <a:sym typeface="Calibri"/>
            </a:endParaRPr>
          </a:p>
        </p:txBody>
      </p:sp>
      <p:sp>
        <p:nvSpPr>
          <p:cNvPr id="703" name="Google Shape;703;p40"/>
          <p:cNvSpPr/>
          <p:nvPr/>
        </p:nvSpPr>
        <p:spPr>
          <a:xfrm>
            <a:off x="6016752" y="987552"/>
            <a:ext cx="2743200" cy="1828800"/>
          </a:xfrm>
          <a:prstGeom prst="rect">
            <a:avLst/>
          </a:prstGeom>
          <a:solidFill>
            <a:srgbClr val="5E376C"/>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0"/>
          <p:cNvSpPr/>
          <p:nvPr/>
        </p:nvSpPr>
        <p:spPr>
          <a:xfrm>
            <a:off x="6016752" y="1115568"/>
            <a:ext cx="2743200" cy="34747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03</a:t>
            </a:r>
            <a:endParaRPr sz="2200" b="0" i="0" u="none" strike="noStrike" cap="none">
              <a:solidFill>
                <a:schemeClr val="dk1"/>
              </a:solidFill>
              <a:latin typeface="Calibri"/>
              <a:ea typeface="Calibri"/>
              <a:cs typeface="Calibri"/>
              <a:sym typeface="Calibri"/>
            </a:endParaRPr>
          </a:p>
        </p:txBody>
      </p:sp>
      <p:sp>
        <p:nvSpPr>
          <p:cNvPr id="705" name="Google Shape;705;p40"/>
          <p:cNvSpPr/>
          <p:nvPr/>
        </p:nvSpPr>
        <p:spPr>
          <a:xfrm>
            <a:off x="6016752" y="1517904"/>
            <a:ext cx="2743200" cy="658368"/>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Upper Abdominal Pain</a:t>
            </a:r>
            <a:endParaRPr sz="1500" b="0" i="0" u="none" strike="noStrike" cap="none">
              <a:solidFill>
                <a:schemeClr val="dk1"/>
              </a:solidFill>
              <a:latin typeface="Calibri"/>
              <a:ea typeface="Calibri"/>
              <a:cs typeface="Calibri"/>
              <a:sym typeface="Calibri"/>
            </a:endParaRPr>
          </a:p>
        </p:txBody>
      </p:sp>
      <p:sp>
        <p:nvSpPr>
          <p:cNvPr id="706" name="Google Shape;706;p40"/>
          <p:cNvSpPr/>
          <p:nvPr/>
        </p:nvSpPr>
        <p:spPr>
          <a:xfrm>
            <a:off x="6016752" y="2304288"/>
            <a:ext cx="2743200" cy="40233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B8A0C0"/>
              </a:buClr>
              <a:buSzPts val="1150"/>
              <a:buFont typeface=" Arial"/>
              <a:buNone/>
            </a:pPr>
            <a:r>
              <a:rPr lang="en-US" sz="1150" b="0" i="0" u="none" strike="noStrike" cap="none">
                <a:solidFill>
                  <a:srgbClr val="B8A0C0"/>
                </a:solidFill>
                <a:latin typeface=" Arial"/>
                <a:ea typeface=" Arial"/>
                <a:cs typeface=" Arial"/>
                <a:sym typeface=" Arial"/>
              </a:rPr>
              <a:t>Especially on the right side</a:t>
            </a:r>
            <a:endParaRPr sz="1150" b="0" i="0" u="none" strike="noStrike" cap="none">
              <a:solidFill>
                <a:schemeClr val="dk1"/>
              </a:solidFill>
              <a:latin typeface="Calibri"/>
              <a:ea typeface="Calibri"/>
              <a:cs typeface="Calibri"/>
              <a:sym typeface="Calibri"/>
            </a:endParaRPr>
          </a:p>
        </p:txBody>
      </p:sp>
      <p:sp>
        <p:nvSpPr>
          <p:cNvPr id="707" name="Google Shape;707;p40"/>
          <p:cNvSpPr/>
          <p:nvPr/>
        </p:nvSpPr>
        <p:spPr>
          <a:xfrm>
            <a:off x="256032" y="2999232"/>
            <a:ext cx="2743200" cy="1828800"/>
          </a:xfrm>
          <a:prstGeom prst="rect">
            <a:avLst/>
          </a:prstGeom>
          <a:solidFill>
            <a:srgbClr val="5E376C"/>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0"/>
          <p:cNvSpPr/>
          <p:nvPr/>
        </p:nvSpPr>
        <p:spPr>
          <a:xfrm>
            <a:off x="256032" y="3127248"/>
            <a:ext cx="2743200" cy="34747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04</a:t>
            </a:r>
            <a:endParaRPr sz="2200" b="0" i="0" u="none" strike="noStrike" cap="none">
              <a:solidFill>
                <a:schemeClr val="dk1"/>
              </a:solidFill>
              <a:latin typeface="Calibri"/>
              <a:ea typeface="Calibri"/>
              <a:cs typeface="Calibri"/>
              <a:sym typeface="Calibri"/>
            </a:endParaRPr>
          </a:p>
        </p:txBody>
      </p:sp>
      <p:sp>
        <p:nvSpPr>
          <p:cNvPr id="709" name="Google Shape;709;p40"/>
          <p:cNvSpPr/>
          <p:nvPr/>
        </p:nvSpPr>
        <p:spPr>
          <a:xfrm>
            <a:off x="256032" y="3529584"/>
            <a:ext cx="2743200" cy="658368"/>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Sudden Severe Swelling</a:t>
            </a:r>
            <a:endParaRPr sz="1500" b="0" i="0" u="none" strike="noStrike" cap="none">
              <a:solidFill>
                <a:schemeClr val="dk1"/>
              </a:solidFill>
              <a:latin typeface="Calibri"/>
              <a:ea typeface="Calibri"/>
              <a:cs typeface="Calibri"/>
              <a:sym typeface="Calibri"/>
            </a:endParaRPr>
          </a:p>
        </p:txBody>
      </p:sp>
      <p:sp>
        <p:nvSpPr>
          <p:cNvPr id="710" name="Google Shape;710;p40"/>
          <p:cNvSpPr/>
          <p:nvPr/>
        </p:nvSpPr>
        <p:spPr>
          <a:xfrm>
            <a:off x="256032" y="4315968"/>
            <a:ext cx="2743200" cy="40233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B8A0C0"/>
              </a:buClr>
              <a:buSzPts val="1150"/>
              <a:buFont typeface=" Arial"/>
              <a:buNone/>
            </a:pPr>
            <a:r>
              <a:rPr lang="en-US" sz="1150" b="0" i="0" u="none" strike="noStrike" cap="none">
                <a:solidFill>
                  <a:srgbClr val="B8A0C0"/>
                </a:solidFill>
                <a:latin typeface=" Arial"/>
                <a:ea typeface=" Arial"/>
                <a:cs typeface=" Arial"/>
                <a:sym typeface=" Arial"/>
              </a:rPr>
              <a:t>Face, hands, around the eyes</a:t>
            </a:r>
            <a:endParaRPr sz="1150" b="0" i="0" u="none" strike="noStrike" cap="none">
              <a:solidFill>
                <a:schemeClr val="dk1"/>
              </a:solidFill>
              <a:latin typeface="Calibri"/>
              <a:ea typeface="Calibri"/>
              <a:cs typeface="Calibri"/>
              <a:sym typeface="Calibri"/>
            </a:endParaRPr>
          </a:p>
        </p:txBody>
      </p:sp>
      <p:sp>
        <p:nvSpPr>
          <p:cNvPr id="711" name="Google Shape;711;p40"/>
          <p:cNvSpPr/>
          <p:nvPr/>
        </p:nvSpPr>
        <p:spPr>
          <a:xfrm>
            <a:off x="3136392" y="2999232"/>
            <a:ext cx="2743200" cy="1828800"/>
          </a:xfrm>
          <a:prstGeom prst="rect">
            <a:avLst/>
          </a:prstGeom>
          <a:solidFill>
            <a:srgbClr val="5E376C"/>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0"/>
          <p:cNvSpPr/>
          <p:nvPr/>
        </p:nvSpPr>
        <p:spPr>
          <a:xfrm>
            <a:off x="3136392" y="3127248"/>
            <a:ext cx="2743200" cy="34747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05</a:t>
            </a:r>
            <a:endParaRPr sz="2200" b="0" i="0" u="none" strike="noStrike" cap="none">
              <a:solidFill>
                <a:schemeClr val="dk1"/>
              </a:solidFill>
              <a:latin typeface="Calibri"/>
              <a:ea typeface="Calibri"/>
              <a:cs typeface="Calibri"/>
              <a:sym typeface="Calibri"/>
            </a:endParaRPr>
          </a:p>
        </p:txBody>
      </p:sp>
      <p:sp>
        <p:nvSpPr>
          <p:cNvPr id="713" name="Google Shape;713;p40"/>
          <p:cNvSpPr/>
          <p:nvPr/>
        </p:nvSpPr>
        <p:spPr>
          <a:xfrm>
            <a:off x="3136392" y="3529584"/>
            <a:ext cx="2743200" cy="658368"/>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New Nausea or Vomiting</a:t>
            </a:r>
            <a:endParaRPr sz="1500" b="0" i="0" u="none" strike="noStrike" cap="none">
              <a:solidFill>
                <a:schemeClr val="dk1"/>
              </a:solidFill>
              <a:latin typeface="Calibri"/>
              <a:ea typeface="Calibri"/>
              <a:cs typeface="Calibri"/>
              <a:sym typeface="Calibri"/>
            </a:endParaRPr>
          </a:p>
        </p:txBody>
      </p:sp>
      <p:sp>
        <p:nvSpPr>
          <p:cNvPr id="714" name="Google Shape;714;p40"/>
          <p:cNvSpPr/>
          <p:nvPr/>
        </p:nvSpPr>
        <p:spPr>
          <a:xfrm>
            <a:off x="3136392" y="4315968"/>
            <a:ext cx="2743200" cy="40233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B8A0C0"/>
              </a:buClr>
              <a:buSzPts val="1150"/>
              <a:buFont typeface=" Arial"/>
              <a:buNone/>
            </a:pPr>
            <a:r>
              <a:rPr lang="en-US" sz="1150" b="0" i="0" u="none" strike="noStrike" cap="none">
                <a:solidFill>
                  <a:srgbClr val="B8A0C0"/>
                </a:solidFill>
                <a:latin typeface=" Arial"/>
                <a:ea typeface=" Arial"/>
                <a:cs typeface=" Arial"/>
                <a:sym typeface=" Arial"/>
              </a:rPr>
              <a:t>Onset in the third trimester</a:t>
            </a:r>
            <a:endParaRPr sz="1150" b="0" i="0" u="none" strike="noStrike" cap="none">
              <a:solidFill>
                <a:schemeClr val="dk1"/>
              </a:solidFill>
              <a:latin typeface="Calibri"/>
              <a:ea typeface="Calibri"/>
              <a:cs typeface="Calibri"/>
              <a:sym typeface="Calibri"/>
            </a:endParaRPr>
          </a:p>
        </p:txBody>
      </p:sp>
      <p:sp>
        <p:nvSpPr>
          <p:cNvPr id="715" name="Google Shape;715;p40"/>
          <p:cNvSpPr/>
          <p:nvPr/>
        </p:nvSpPr>
        <p:spPr>
          <a:xfrm>
            <a:off x="6016752" y="2999232"/>
            <a:ext cx="2743200" cy="1828800"/>
          </a:xfrm>
          <a:prstGeom prst="rect">
            <a:avLst/>
          </a:prstGeom>
          <a:solidFill>
            <a:srgbClr val="5E376C"/>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0"/>
          <p:cNvSpPr/>
          <p:nvPr/>
        </p:nvSpPr>
        <p:spPr>
          <a:xfrm>
            <a:off x="6016752" y="3127248"/>
            <a:ext cx="2743200" cy="34747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06</a:t>
            </a:r>
            <a:endParaRPr sz="2200" b="0" i="0" u="none" strike="noStrike" cap="none">
              <a:solidFill>
                <a:schemeClr val="dk1"/>
              </a:solidFill>
              <a:latin typeface="Calibri"/>
              <a:ea typeface="Calibri"/>
              <a:cs typeface="Calibri"/>
              <a:sym typeface="Calibri"/>
            </a:endParaRPr>
          </a:p>
        </p:txBody>
      </p:sp>
      <p:sp>
        <p:nvSpPr>
          <p:cNvPr id="717" name="Google Shape;717;p40"/>
          <p:cNvSpPr/>
          <p:nvPr/>
        </p:nvSpPr>
        <p:spPr>
          <a:xfrm>
            <a:off x="6016752" y="3529584"/>
            <a:ext cx="2743200" cy="658368"/>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Decreased Fetal Movement</a:t>
            </a:r>
            <a:endParaRPr sz="1500" b="0" i="0" u="none" strike="noStrike" cap="none">
              <a:solidFill>
                <a:schemeClr val="dk1"/>
              </a:solidFill>
              <a:latin typeface="Calibri"/>
              <a:ea typeface="Calibri"/>
              <a:cs typeface="Calibri"/>
              <a:sym typeface="Calibri"/>
            </a:endParaRPr>
          </a:p>
        </p:txBody>
      </p:sp>
      <p:sp>
        <p:nvSpPr>
          <p:cNvPr id="718" name="Google Shape;718;p40"/>
          <p:cNvSpPr/>
          <p:nvPr/>
        </p:nvSpPr>
        <p:spPr>
          <a:xfrm>
            <a:off x="6016752" y="4315968"/>
            <a:ext cx="2743200" cy="40233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B8A0C0"/>
              </a:buClr>
              <a:buSzPts val="1150"/>
              <a:buFont typeface=" Arial"/>
              <a:buNone/>
            </a:pPr>
            <a:r>
              <a:rPr lang="en-US" sz="1150" b="0" i="0" u="none" strike="noStrike" cap="none">
                <a:solidFill>
                  <a:srgbClr val="B8A0C0"/>
                </a:solidFill>
                <a:latin typeface=" Arial"/>
                <a:ea typeface=" Arial"/>
                <a:cs typeface=" Arial"/>
                <a:sym typeface=" Arial"/>
              </a:rPr>
              <a:t>Always take seriously</a:t>
            </a:r>
            <a:endParaRPr sz="1150" b="0" i="0" u="none" strike="noStrike" cap="none">
              <a:solidFill>
                <a:schemeClr val="dk1"/>
              </a:solidFill>
              <a:latin typeface="Calibri"/>
              <a:ea typeface="Calibri"/>
              <a:cs typeface="Calibri"/>
              <a:sym typeface="Calibri"/>
            </a:endParaRPr>
          </a:p>
        </p:txBody>
      </p:sp>
      <p:pic>
        <p:nvPicPr>
          <p:cNvPr id="719" name="Picture 718" descr="icon_headache.png"/>
          <p:cNvPicPr>
            <a:picLocks noChangeAspect="1"/>
          </p:cNvPicPr>
          <p:nvPr/>
        </p:nvPicPr>
        <p:blipFill>
          <a:blip r:embed="rId3"/>
          <a:stretch>
            <a:fillRect/>
          </a:stretch>
        </p:blipFill>
        <p:spPr>
          <a:xfrm>
            <a:off x="2404872" y="1042415"/>
            <a:ext cx="502920" cy="502920"/>
          </a:xfrm>
          <a:prstGeom prst="rect">
            <a:avLst/>
          </a:prstGeom>
        </p:spPr>
      </p:pic>
      <p:pic>
        <p:nvPicPr>
          <p:cNvPr id="720" name="Picture 719" descr="icon_eye.png"/>
          <p:cNvPicPr>
            <a:picLocks noChangeAspect="1"/>
          </p:cNvPicPr>
          <p:nvPr/>
        </p:nvPicPr>
        <p:blipFill>
          <a:blip r:embed="rId4"/>
          <a:stretch>
            <a:fillRect/>
          </a:stretch>
        </p:blipFill>
        <p:spPr>
          <a:xfrm>
            <a:off x="5285232" y="1042415"/>
            <a:ext cx="502920" cy="502920"/>
          </a:xfrm>
          <a:prstGeom prst="rect">
            <a:avLst/>
          </a:prstGeom>
        </p:spPr>
      </p:pic>
      <p:pic>
        <p:nvPicPr>
          <p:cNvPr id="721" name="Picture 720" descr="icon_abdomen.png"/>
          <p:cNvPicPr>
            <a:picLocks noChangeAspect="1"/>
          </p:cNvPicPr>
          <p:nvPr/>
        </p:nvPicPr>
        <p:blipFill>
          <a:blip r:embed="rId5"/>
          <a:stretch>
            <a:fillRect/>
          </a:stretch>
        </p:blipFill>
        <p:spPr>
          <a:xfrm>
            <a:off x="8165592" y="1042415"/>
            <a:ext cx="502920" cy="502920"/>
          </a:xfrm>
          <a:prstGeom prst="rect">
            <a:avLst/>
          </a:prstGeom>
        </p:spPr>
      </p:pic>
      <p:pic>
        <p:nvPicPr>
          <p:cNvPr id="722" name="Picture 721" descr="icon_drop.png"/>
          <p:cNvPicPr>
            <a:picLocks noChangeAspect="1"/>
          </p:cNvPicPr>
          <p:nvPr/>
        </p:nvPicPr>
        <p:blipFill>
          <a:blip r:embed="rId6"/>
          <a:stretch>
            <a:fillRect/>
          </a:stretch>
        </p:blipFill>
        <p:spPr>
          <a:xfrm>
            <a:off x="2404872" y="3054096"/>
            <a:ext cx="502920" cy="502920"/>
          </a:xfrm>
          <a:prstGeom prst="rect">
            <a:avLst/>
          </a:prstGeom>
        </p:spPr>
      </p:pic>
      <p:pic>
        <p:nvPicPr>
          <p:cNvPr id="723" name="Picture 722" descr="icon_nausea.png"/>
          <p:cNvPicPr>
            <a:picLocks noChangeAspect="1"/>
          </p:cNvPicPr>
          <p:nvPr/>
        </p:nvPicPr>
        <p:blipFill>
          <a:blip r:embed="rId7"/>
          <a:stretch>
            <a:fillRect/>
          </a:stretch>
        </p:blipFill>
        <p:spPr>
          <a:xfrm>
            <a:off x="5285232" y="3054096"/>
            <a:ext cx="502920" cy="502920"/>
          </a:xfrm>
          <a:prstGeom prst="rect">
            <a:avLst/>
          </a:prstGeom>
        </p:spPr>
      </p:pic>
      <p:pic>
        <p:nvPicPr>
          <p:cNvPr id="724" name="Picture 723" descr="icon_baby.png"/>
          <p:cNvPicPr>
            <a:picLocks noChangeAspect="1"/>
          </p:cNvPicPr>
          <p:nvPr/>
        </p:nvPicPr>
        <p:blipFill>
          <a:blip r:embed="rId8"/>
          <a:stretch>
            <a:fillRect/>
          </a:stretch>
        </p:blipFill>
        <p:spPr>
          <a:xfrm>
            <a:off x="8165592" y="3054096"/>
            <a:ext cx="502920" cy="50292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3"/>
        <p:cNvGrpSpPr/>
        <p:nvPr/>
      </p:nvGrpSpPr>
      <p:grpSpPr>
        <a:xfrm>
          <a:off x="0" y="0"/>
          <a:ext cx="0" cy="0"/>
          <a:chOff x="0" y="0"/>
          <a:chExt cx="0" cy="0"/>
        </a:xfrm>
      </p:grpSpPr>
      <p:sp>
        <p:nvSpPr>
          <p:cNvPr id="724" name="Google Shape;724;p41"/>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PREECLAMPSIA  ·  TREATMENT &amp; POSTPARTUM RISK</a:t>
            </a:r>
            <a:endParaRPr sz="900" b="0" i="0" u="none" strike="noStrike" cap="none">
              <a:solidFill>
                <a:schemeClr val="dk1"/>
              </a:solidFill>
              <a:latin typeface="Calibri"/>
              <a:ea typeface="Calibri"/>
              <a:cs typeface="Calibri"/>
              <a:sym typeface="Calibri"/>
            </a:endParaRPr>
          </a:p>
        </p:txBody>
      </p:sp>
      <p:sp>
        <p:nvSpPr>
          <p:cNvPr id="725" name="Google Shape;725;p41"/>
          <p:cNvSpPr/>
          <p:nvPr/>
        </p:nvSpPr>
        <p:spPr>
          <a:xfrm>
            <a:off x="411455" y="56681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What Happens After Diagnosis</a:t>
            </a:r>
            <a:endParaRPr sz="2000" b="0" i="0" u="none" strike="noStrike" cap="none">
              <a:solidFill>
                <a:schemeClr val="dk1"/>
              </a:solidFill>
              <a:latin typeface="Calibri"/>
              <a:ea typeface="Calibri"/>
              <a:cs typeface="Calibri"/>
              <a:sym typeface="Calibri"/>
            </a:endParaRPr>
          </a:p>
        </p:txBody>
      </p:sp>
      <p:sp>
        <p:nvSpPr>
          <p:cNvPr id="728" name="Google Shape;728;p41"/>
          <p:cNvSpPr/>
          <p:nvPr/>
        </p:nvSpPr>
        <p:spPr>
          <a:xfrm>
            <a:off x="502920" y="1261872"/>
            <a:ext cx="3877056" cy="31089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500"/>
              <a:buFont typeface="Georgia"/>
              <a:buNone/>
            </a:pPr>
            <a:r>
              <a:rPr lang="en-US" sz="1500" b="1" i="0" u="none" strike="noStrike" cap="none">
                <a:solidFill>
                  <a:srgbClr val="5E376C"/>
                </a:solidFill>
                <a:latin typeface="Georgia"/>
                <a:ea typeface="Georgia"/>
                <a:cs typeface="Georgia"/>
                <a:sym typeface="Georgia"/>
              </a:rPr>
              <a:t>Treatment</a:t>
            </a:r>
            <a:endParaRPr sz="1500" b="0" i="0" u="none" strike="noStrike" cap="none">
              <a:solidFill>
                <a:schemeClr val="dk1"/>
              </a:solidFill>
              <a:latin typeface="Calibri"/>
              <a:ea typeface="Calibri"/>
              <a:cs typeface="Calibri"/>
              <a:sym typeface="Calibri"/>
            </a:endParaRPr>
          </a:p>
        </p:txBody>
      </p:sp>
      <p:sp>
        <p:nvSpPr>
          <p:cNvPr id="729" name="Google Shape;729;p41"/>
          <p:cNvSpPr/>
          <p:nvPr/>
        </p:nvSpPr>
        <p:spPr>
          <a:xfrm>
            <a:off x="502920" y="1609344"/>
            <a:ext cx="3877056" cy="3090672"/>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Only cure is delivery</a:t>
            </a:r>
            <a:endParaRPr sz="13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Magnesium sulfate prevents seizures</a:t>
            </a:r>
            <a:endParaRPr sz="13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Antihypertensives prevent stroke</a:t>
            </a:r>
            <a:endParaRPr sz="13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Monitoring: BP, labs, NST, BPP</a:t>
            </a:r>
            <a:endParaRPr sz="1350" b="0" i="0" u="none" strike="noStrike" cap="none">
              <a:solidFill>
                <a:schemeClr val="dk1"/>
              </a:solidFill>
              <a:latin typeface="Calibri"/>
              <a:ea typeface="Calibri"/>
              <a:cs typeface="Calibri"/>
              <a:sym typeface="Calibri"/>
            </a:endParaRPr>
          </a:p>
        </p:txBody>
      </p:sp>
      <p:sp>
        <p:nvSpPr>
          <p:cNvPr id="732" name="Google Shape;732;p41"/>
          <p:cNvSpPr/>
          <p:nvPr/>
        </p:nvSpPr>
        <p:spPr>
          <a:xfrm>
            <a:off x="4937760" y="1261872"/>
            <a:ext cx="3877056" cy="31089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500"/>
              <a:buFont typeface="Georgia"/>
              <a:buNone/>
            </a:pPr>
            <a:r>
              <a:rPr lang="en-US" sz="1500" b="1" i="0" u="none" strike="noStrike" cap="none">
                <a:solidFill>
                  <a:srgbClr val="845995"/>
                </a:solidFill>
                <a:latin typeface="Georgia"/>
                <a:ea typeface="Georgia"/>
                <a:cs typeface="Georgia"/>
                <a:sym typeface="Georgia"/>
              </a:rPr>
              <a:t>Postpartum Risk</a:t>
            </a:r>
            <a:endParaRPr sz="1500" b="0" i="0" u="none" strike="noStrike" cap="none">
              <a:solidFill>
                <a:schemeClr val="dk1"/>
              </a:solidFill>
              <a:latin typeface="Calibri"/>
              <a:ea typeface="Calibri"/>
              <a:cs typeface="Calibri"/>
              <a:sym typeface="Calibri"/>
            </a:endParaRPr>
          </a:p>
        </p:txBody>
      </p:sp>
      <p:sp>
        <p:nvSpPr>
          <p:cNvPr id="733" name="Google Shape;733;p41"/>
          <p:cNvSpPr/>
          <p:nvPr/>
        </p:nvSpPr>
        <p:spPr>
          <a:xfrm>
            <a:off x="4937750" y="1609349"/>
            <a:ext cx="3877200" cy="279450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1 in 4 eclamptic seizures postpartum</a:t>
            </a:r>
            <a:endParaRPr sz="13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Most occur in first 48 hours</a:t>
            </a:r>
            <a:endParaRPr sz="13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Can develop up to 6 weeks postpartum</a:t>
            </a:r>
            <a:endParaRPr sz="1350" b="0" i="0" u="none" strike="noStrike" cap="none">
              <a:solidFill>
                <a:schemeClr val="dk1"/>
              </a:solidFill>
              <a:latin typeface="Calibri"/>
              <a:ea typeface="Calibri"/>
              <a:cs typeface="Calibri"/>
              <a:sym typeface="Calibri"/>
            </a:endParaRPr>
          </a:p>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Many had no symptoms during pregnancy</a:t>
            </a:r>
            <a:endParaRPr sz="1350" b="0" i="0" u="none" strike="noStrike" cap="none">
              <a:solidFill>
                <a:schemeClr val="dk1"/>
              </a:solidFill>
              <a:latin typeface="Calibri"/>
              <a:ea typeface="Calibri"/>
              <a:cs typeface="Calibri"/>
              <a:sym typeface="Calibri"/>
            </a:endParaRPr>
          </a:p>
        </p:txBody>
      </p:sp>
      <p:sp>
        <p:nvSpPr>
          <p:cNvPr id="734" name="Google Shape;734;p41"/>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1"/>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1"/>
        <p:cNvGrpSpPr/>
        <p:nvPr/>
      </p:nvGrpSpPr>
      <p:grpSpPr>
        <a:xfrm>
          <a:off x="0" y="0"/>
          <a:ext cx="0" cy="0"/>
          <a:chOff x="0" y="0"/>
          <a:chExt cx="0" cy="0"/>
        </a:xfrm>
      </p:grpSpPr>
      <p:sp>
        <p:nvSpPr>
          <p:cNvPr id="742" name="Google Shape;742;p42"/>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900"/>
              <a:buFont typeface=" Arial"/>
              <a:buNone/>
            </a:pPr>
            <a:r>
              <a:rPr lang="en-US" sz="900" b="0" i="0" u="none" strike="noStrike" cap="none">
                <a:solidFill>
                  <a:srgbClr val="DB2777"/>
                </a:solidFill>
                <a:latin typeface=" Arial"/>
                <a:ea typeface=" Arial"/>
                <a:cs typeface=" Arial"/>
                <a:sym typeface=" Arial"/>
              </a:rPr>
              <a:t>WHAT TO SAY WHEN CONCERNS ARE DISMISSED</a:t>
            </a:r>
            <a:endParaRPr sz="900" b="0" i="0" u="none" strike="noStrike" cap="none">
              <a:solidFill>
                <a:schemeClr val="dk1"/>
              </a:solidFill>
              <a:latin typeface="Calibri"/>
              <a:ea typeface="Calibri"/>
              <a:cs typeface="Calibri"/>
              <a:sym typeface="Calibri"/>
            </a:endParaRPr>
          </a:p>
        </p:txBody>
      </p:sp>
      <p:sp>
        <p:nvSpPr>
          <p:cNvPr id="743" name="Google Shape;743;p42"/>
          <p:cNvSpPr/>
          <p:nvPr/>
        </p:nvSpPr>
        <p:spPr>
          <a:xfrm>
            <a:off x="411480" y="457198"/>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Doula Scripts — Advocacy in Practice</a:t>
            </a:r>
            <a:endParaRPr sz="2000" b="0" i="0" u="none" strike="noStrike" cap="none">
              <a:solidFill>
                <a:schemeClr val="dk1"/>
              </a:solidFill>
              <a:latin typeface="Calibri"/>
              <a:ea typeface="Calibri"/>
              <a:cs typeface="Calibri"/>
              <a:sym typeface="Calibri"/>
            </a:endParaRPr>
          </a:p>
        </p:txBody>
      </p:sp>
      <p:sp>
        <p:nvSpPr>
          <p:cNvPr id="744" name="Google Shape;744;p42"/>
          <p:cNvSpPr/>
          <p:nvPr/>
        </p:nvSpPr>
        <p:spPr>
          <a:xfrm>
            <a:off x="274320" y="901493"/>
            <a:ext cx="8595300" cy="11430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2"/>
          <p:cNvSpPr/>
          <p:nvPr/>
        </p:nvSpPr>
        <p:spPr>
          <a:xfrm>
            <a:off x="274320" y="901493"/>
            <a:ext cx="73200" cy="11430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2"/>
          <p:cNvSpPr/>
          <p:nvPr/>
        </p:nvSpPr>
        <p:spPr>
          <a:xfrm>
            <a:off x="475488" y="953883"/>
            <a:ext cx="8229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100"/>
              <a:buFont typeface=" Arial"/>
              <a:buNone/>
            </a:pPr>
            <a:r>
              <a:rPr lang="en-US" sz="1100" b="1" i="0" u="none" strike="noStrike" cap="none">
                <a:solidFill>
                  <a:srgbClr val="DB2777"/>
                </a:solidFill>
                <a:latin typeface=" Arial"/>
                <a:ea typeface=" Arial"/>
                <a:cs typeface=" Arial"/>
                <a:sym typeface=" Arial"/>
              </a:rPr>
              <a:t>When a provider minimizes symptoms:</a:t>
            </a:r>
            <a:endParaRPr sz="1100" b="0" i="0" u="none" strike="noStrike" cap="none">
              <a:solidFill>
                <a:schemeClr val="dk1"/>
              </a:solidFill>
              <a:latin typeface="Calibri"/>
              <a:ea typeface="Calibri"/>
              <a:cs typeface="Calibri"/>
              <a:sym typeface="Calibri"/>
            </a:endParaRPr>
          </a:p>
        </p:txBody>
      </p:sp>
      <p:sp>
        <p:nvSpPr>
          <p:cNvPr id="747" name="Google Shape;747;p42"/>
          <p:cNvSpPr/>
          <p:nvPr/>
        </p:nvSpPr>
        <p:spPr>
          <a:xfrm>
            <a:off x="475488" y="1248965"/>
            <a:ext cx="8229600" cy="7131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3D1040"/>
              </a:buClr>
              <a:buSzPts val="1400"/>
              <a:buFont typeface="Georgia"/>
              <a:buNone/>
            </a:pPr>
            <a:r>
              <a:rPr lang="en-US" sz="1400" b="0" i="1" u="none" strike="noStrike" cap="none">
                <a:solidFill>
                  <a:srgbClr val="3D1040"/>
                </a:solidFill>
                <a:latin typeface="Georgia"/>
                <a:ea typeface="Georgia"/>
                <a:cs typeface="Georgia"/>
                <a:sym typeface="Georgia"/>
              </a:rPr>
              <a:t>"I understand that might be a normal variation, but she's really concerned, and these are classic warning signs. Could we check her blood pressure and urine just to give everyone peace of mind?"</a:t>
            </a:r>
            <a:endParaRPr sz="1400" b="0" i="0" u="none" strike="noStrike" cap="none">
              <a:solidFill>
                <a:schemeClr val="dk1"/>
              </a:solidFill>
              <a:latin typeface="Calibri"/>
              <a:ea typeface="Calibri"/>
              <a:cs typeface="Calibri"/>
              <a:sym typeface="Calibri"/>
            </a:endParaRPr>
          </a:p>
        </p:txBody>
      </p:sp>
      <p:sp>
        <p:nvSpPr>
          <p:cNvPr id="748" name="Google Shape;748;p42"/>
          <p:cNvSpPr/>
          <p:nvPr/>
        </p:nvSpPr>
        <p:spPr>
          <a:xfrm>
            <a:off x="274320" y="2163365"/>
            <a:ext cx="8595300" cy="11430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2"/>
          <p:cNvSpPr/>
          <p:nvPr/>
        </p:nvSpPr>
        <p:spPr>
          <a:xfrm>
            <a:off x="274320" y="2163365"/>
            <a:ext cx="73200" cy="11430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2"/>
          <p:cNvSpPr/>
          <p:nvPr/>
        </p:nvSpPr>
        <p:spPr>
          <a:xfrm>
            <a:off x="475488" y="2254805"/>
            <a:ext cx="8229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100"/>
              <a:buFont typeface=" Arial"/>
              <a:buNone/>
            </a:pPr>
            <a:r>
              <a:rPr lang="en-US" sz="1100" b="1" i="0" u="none" strike="noStrike" cap="none">
                <a:solidFill>
                  <a:srgbClr val="DB2777"/>
                </a:solidFill>
                <a:latin typeface=" Arial"/>
                <a:ea typeface=" Arial"/>
                <a:cs typeface=" Arial"/>
                <a:sym typeface=" Arial"/>
              </a:rPr>
              <a:t>When the headache has lasted all day:</a:t>
            </a:r>
            <a:endParaRPr sz="1100" b="0" i="0" u="none" strike="noStrike" cap="none">
              <a:solidFill>
                <a:schemeClr val="dk1"/>
              </a:solidFill>
              <a:latin typeface="Calibri"/>
              <a:ea typeface="Calibri"/>
              <a:cs typeface="Calibri"/>
              <a:sym typeface="Calibri"/>
            </a:endParaRPr>
          </a:p>
        </p:txBody>
      </p:sp>
      <p:sp>
        <p:nvSpPr>
          <p:cNvPr id="751" name="Google Shape;751;p42"/>
          <p:cNvSpPr/>
          <p:nvPr/>
        </p:nvSpPr>
        <p:spPr>
          <a:xfrm>
            <a:off x="475488" y="2510837"/>
            <a:ext cx="8229600" cy="7131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3D1040"/>
              </a:buClr>
              <a:buSzPts val="1400"/>
              <a:buFont typeface="Georgia"/>
              <a:buNone/>
            </a:pPr>
            <a:r>
              <a:rPr lang="en-US" sz="1400" b="0" i="1" u="none" strike="noStrike" cap="none">
                <a:solidFill>
                  <a:srgbClr val="3D1040"/>
                </a:solidFill>
                <a:latin typeface="Georgia"/>
                <a:ea typeface="Georgia"/>
                <a:cs typeface="Georgia"/>
                <a:sym typeface="Georgia"/>
              </a:rPr>
              <a:t>"She's saying this is the worst headache of her life and it's not responding to Tylenol. Given her history, could we have her evaluated today?"</a:t>
            </a:r>
            <a:endParaRPr sz="1400" b="0" i="0" u="none" strike="noStrike" cap="none">
              <a:solidFill>
                <a:schemeClr val="dk1"/>
              </a:solidFill>
              <a:latin typeface="Calibri"/>
              <a:ea typeface="Calibri"/>
              <a:cs typeface="Calibri"/>
              <a:sym typeface="Calibri"/>
            </a:endParaRPr>
          </a:p>
        </p:txBody>
      </p:sp>
      <p:sp>
        <p:nvSpPr>
          <p:cNvPr id="752" name="Google Shape;752;p42"/>
          <p:cNvSpPr/>
          <p:nvPr/>
        </p:nvSpPr>
        <p:spPr>
          <a:xfrm>
            <a:off x="274320" y="3425237"/>
            <a:ext cx="8595300" cy="114300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p:cNvSpPr/>
          <p:nvPr/>
        </p:nvSpPr>
        <p:spPr>
          <a:xfrm>
            <a:off x="274320" y="3425237"/>
            <a:ext cx="73200" cy="114300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2"/>
          <p:cNvSpPr/>
          <p:nvPr/>
        </p:nvSpPr>
        <p:spPr>
          <a:xfrm>
            <a:off x="475488" y="3516677"/>
            <a:ext cx="8229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100"/>
              <a:buFont typeface=" Arial"/>
              <a:buNone/>
            </a:pPr>
            <a:r>
              <a:rPr lang="en-US" sz="1100" b="1" i="0" u="none" strike="noStrike" cap="none">
                <a:solidFill>
                  <a:srgbClr val="DB2777"/>
                </a:solidFill>
                <a:latin typeface=" Arial"/>
                <a:ea typeface=" Arial"/>
                <a:cs typeface=" Arial"/>
                <a:sym typeface=" Arial"/>
              </a:rPr>
              <a:t>When your client hesitates to call:</a:t>
            </a:r>
            <a:endParaRPr sz="1100" b="0" i="0" u="none" strike="noStrike" cap="none">
              <a:solidFill>
                <a:schemeClr val="dk1"/>
              </a:solidFill>
              <a:latin typeface="Calibri"/>
              <a:ea typeface="Calibri"/>
              <a:cs typeface="Calibri"/>
              <a:sym typeface="Calibri"/>
            </a:endParaRPr>
          </a:p>
        </p:txBody>
      </p:sp>
      <p:sp>
        <p:nvSpPr>
          <p:cNvPr id="755" name="Google Shape;755;p42"/>
          <p:cNvSpPr/>
          <p:nvPr/>
        </p:nvSpPr>
        <p:spPr>
          <a:xfrm>
            <a:off x="475488" y="3772709"/>
            <a:ext cx="8229600" cy="7131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3D1040"/>
              </a:buClr>
              <a:buSzPts val="1400"/>
              <a:buFont typeface="Georgia"/>
              <a:buNone/>
            </a:pPr>
            <a:r>
              <a:rPr lang="en-US" sz="1400" b="0" i="1" u="none" strike="noStrike" cap="none">
                <a:solidFill>
                  <a:srgbClr val="3D1040"/>
                </a:solidFill>
                <a:latin typeface="Georgia"/>
                <a:ea typeface="Georgia"/>
                <a:cs typeface="Georgia"/>
                <a:sym typeface="Georgia"/>
              </a:rPr>
              <a:t>"I know you don't want to bother them — but this is exactly what they're there for. It's better to check and have it be nothing. Let's call together."</a:t>
            </a:r>
            <a:endParaRPr sz="1400" b="0" i="0" u="none" strike="noStrike" cap="none">
              <a:solidFill>
                <a:schemeClr val="dk1"/>
              </a:solidFill>
              <a:latin typeface="Calibri"/>
              <a:ea typeface="Calibri"/>
              <a:cs typeface="Calibri"/>
              <a:sym typeface="Calibri"/>
            </a:endParaRPr>
          </a:p>
        </p:txBody>
      </p:sp>
      <p:sp>
        <p:nvSpPr>
          <p:cNvPr id="756" name="Google Shape;756;p42"/>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2"/>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63"/>
        <p:cNvGrpSpPr/>
        <p:nvPr/>
      </p:nvGrpSpPr>
      <p:grpSpPr>
        <a:xfrm>
          <a:off x="0" y="0"/>
          <a:ext cx="0" cy="0"/>
          <a:chOff x="0" y="0"/>
          <a:chExt cx="0" cy="0"/>
        </a:xfrm>
      </p:grpSpPr>
      <p:sp>
        <p:nvSpPr>
          <p:cNvPr id="764" name="Google Shape;764;p43"/>
          <p:cNvSpPr/>
          <p:nvPr/>
        </p:nvSpPr>
        <p:spPr>
          <a:xfrm>
            <a:off x="0" y="0"/>
            <a:ext cx="9144000" cy="9144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3"/>
          <p:cNvSpPr/>
          <p:nvPr/>
        </p:nvSpPr>
        <p:spPr>
          <a:xfrm>
            <a:off x="411480" y="91440"/>
            <a:ext cx="832104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900"/>
              <a:buFont typeface=" Arial"/>
              <a:buNone/>
            </a:pPr>
            <a:r>
              <a:rPr lang="en-US" sz="900" b="0" i="0" u="none" strike="noStrike" cap="none">
                <a:solidFill>
                  <a:srgbClr val="D4BADD"/>
                </a:solidFill>
                <a:latin typeface=" Arial"/>
                <a:ea typeface=" Arial"/>
                <a:cs typeface=" Arial"/>
                <a:sym typeface=" Arial"/>
              </a:rPr>
              <a:t>HEALTH EQUITY &amp; MATERNAL MORTALITY IN LOUISIANA</a:t>
            </a:r>
            <a:endParaRPr sz="900" b="0" i="0" u="none" strike="noStrike" cap="none">
              <a:solidFill>
                <a:schemeClr val="dk1"/>
              </a:solidFill>
              <a:latin typeface="Calibri"/>
              <a:ea typeface="Calibri"/>
              <a:cs typeface="Calibri"/>
              <a:sym typeface="Calibri"/>
            </a:endParaRPr>
          </a:p>
        </p:txBody>
      </p:sp>
      <p:sp>
        <p:nvSpPr>
          <p:cNvPr id="766" name="Google Shape;766;p43"/>
          <p:cNvSpPr/>
          <p:nvPr/>
        </p:nvSpPr>
        <p:spPr>
          <a:xfrm>
            <a:off x="411480" y="347472"/>
            <a:ext cx="8321040" cy="49377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000"/>
              <a:buFont typeface="Georgia"/>
              <a:buNone/>
            </a:pPr>
            <a:r>
              <a:rPr lang="en-US" sz="2000" b="1" i="0" u="none" strike="noStrike" cap="none">
                <a:solidFill>
                  <a:srgbClr val="FFFFFF"/>
                </a:solidFill>
                <a:latin typeface="Georgia"/>
                <a:ea typeface="Georgia"/>
                <a:cs typeface="Georgia"/>
                <a:sym typeface="Georgia"/>
              </a:rPr>
              <a:t>The disparity is not a coincidence — it is a system.</a:t>
            </a:r>
            <a:endParaRPr sz="2000" b="0" i="0" u="none" strike="noStrike" cap="none">
              <a:solidFill>
                <a:schemeClr val="dk1"/>
              </a:solidFill>
              <a:latin typeface="Calibri"/>
              <a:ea typeface="Calibri"/>
              <a:cs typeface="Calibri"/>
              <a:sym typeface="Calibri"/>
            </a:endParaRPr>
          </a:p>
        </p:txBody>
      </p:sp>
      <p:sp>
        <p:nvSpPr>
          <p:cNvPr id="767" name="Google Shape;767;p43"/>
          <p:cNvSpPr/>
          <p:nvPr/>
        </p:nvSpPr>
        <p:spPr>
          <a:xfrm>
            <a:off x="256057" y="1175090"/>
            <a:ext cx="2761500" cy="1938600"/>
          </a:xfrm>
          <a:prstGeom prst="rect">
            <a:avLst/>
          </a:prstGeom>
          <a:solidFill>
            <a:srgbClr val="F8F5FA"/>
          </a:solidFill>
          <a:ln w="12700" cap="flat" cmpd="sng">
            <a:solidFill>
              <a:srgbClr val="5E376C"/>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3"/>
          <p:cNvSpPr/>
          <p:nvPr/>
        </p:nvSpPr>
        <p:spPr>
          <a:xfrm>
            <a:off x="256057" y="1284818"/>
            <a:ext cx="2761500" cy="749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5E376C"/>
              </a:buClr>
              <a:buSzPts val="4000"/>
              <a:buFont typeface="Georgia"/>
              <a:buNone/>
            </a:pPr>
            <a:r>
              <a:rPr lang="en-US" sz="4000" b="1" i="0" u="none" strike="noStrike" cap="none">
                <a:solidFill>
                  <a:srgbClr val="5E376C"/>
                </a:solidFill>
                <a:latin typeface="Georgia"/>
                <a:ea typeface="Georgia"/>
                <a:cs typeface="Georgia"/>
                <a:sym typeface="Georgia"/>
              </a:rPr>
              <a:t>2–3x</a:t>
            </a:r>
            <a:endParaRPr sz="4000" b="0" i="0" u="none" strike="noStrike" cap="none">
              <a:solidFill>
                <a:schemeClr val="dk1"/>
              </a:solidFill>
              <a:latin typeface="Calibri"/>
              <a:ea typeface="Calibri"/>
              <a:cs typeface="Calibri"/>
              <a:sym typeface="Calibri"/>
            </a:endParaRPr>
          </a:p>
        </p:txBody>
      </p:sp>
      <p:sp>
        <p:nvSpPr>
          <p:cNvPr id="769" name="Google Shape;769;p43"/>
          <p:cNvSpPr/>
          <p:nvPr/>
        </p:nvSpPr>
        <p:spPr>
          <a:xfrm>
            <a:off x="256057" y="2071202"/>
            <a:ext cx="2761500" cy="347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845995"/>
              </a:buClr>
              <a:buSzPts val="1100"/>
              <a:buFont typeface=" Arial"/>
              <a:buNone/>
            </a:pPr>
            <a:r>
              <a:rPr lang="en-US" sz="1100" b="1" i="0" u="none" strike="noStrike" cap="none">
                <a:solidFill>
                  <a:srgbClr val="845995"/>
                </a:solidFill>
                <a:latin typeface=" Arial"/>
                <a:ea typeface=" Arial"/>
                <a:cs typeface=" Arial"/>
                <a:sym typeface=" Arial"/>
              </a:rPr>
              <a:t>more likely to die</a:t>
            </a:r>
            <a:endParaRPr sz="1100" b="0" i="0" u="none" strike="noStrike" cap="none">
              <a:solidFill>
                <a:schemeClr val="dk1"/>
              </a:solidFill>
              <a:latin typeface="Calibri"/>
              <a:ea typeface="Calibri"/>
              <a:cs typeface="Calibri"/>
              <a:sym typeface="Calibri"/>
            </a:endParaRPr>
          </a:p>
        </p:txBody>
      </p:sp>
      <p:sp>
        <p:nvSpPr>
          <p:cNvPr id="770" name="Google Shape;770;p43"/>
          <p:cNvSpPr/>
          <p:nvPr/>
        </p:nvSpPr>
        <p:spPr>
          <a:xfrm>
            <a:off x="365785" y="2455250"/>
            <a:ext cx="2541900" cy="594300"/>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6B6B6B"/>
              </a:buClr>
              <a:buSzPts val="1100"/>
              <a:buFont typeface=" Arial"/>
              <a:buNone/>
            </a:pPr>
            <a:r>
              <a:rPr lang="en-US" sz="1100" b="0" i="0" u="none" strike="noStrike" cap="none">
                <a:solidFill>
                  <a:srgbClr val="6B6B6B"/>
                </a:solidFill>
                <a:latin typeface=" Arial"/>
                <a:ea typeface=" Arial"/>
                <a:cs typeface=" Arial"/>
                <a:sym typeface=" Arial"/>
              </a:rPr>
              <a:t>Black women face 2–3x higher pregnancy-related mortality than white women nationally</a:t>
            </a:r>
            <a:endParaRPr sz="1100" b="0" i="0" u="none" strike="noStrike" cap="none">
              <a:solidFill>
                <a:schemeClr val="dk1"/>
              </a:solidFill>
              <a:latin typeface="Calibri"/>
              <a:ea typeface="Calibri"/>
              <a:cs typeface="Calibri"/>
              <a:sym typeface="Calibri"/>
            </a:endParaRPr>
          </a:p>
        </p:txBody>
      </p:sp>
      <p:sp>
        <p:nvSpPr>
          <p:cNvPr id="771" name="Google Shape;771;p43"/>
          <p:cNvSpPr/>
          <p:nvPr/>
        </p:nvSpPr>
        <p:spPr>
          <a:xfrm>
            <a:off x="3163849" y="1175090"/>
            <a:ext cx="2761500" cy="1938600"/>
          </a:xfrm>
          <a:prstGeom prst="rect">
            <a:avLst/>
          </a:prstGeom>
          <a:solidFill>
            <a:srgbClr val="F8F5FA"/>
          </a:solidFill>
          <a:ln w="12700" cap="flat" cmpd="sng">
            <a:solidFill>
              <a:srgbClr val="5E376C"/>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3"/>
          <p:cNvSpPr/>
          <p:nvPr/>
        </p:nvSpPr>
        <p:spPr>
          <a:xfrm>
            <a:off x="3163849" y="1284818"/>
            <a:ext cx="2761500" cy="749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5E376C"/>
              </a:buClr>
              <a:buSzPts val="4000"/>
              <a:buFont typeface="Georgia"/>
              <a:buNone/>
            </a:pPr>
            <a:r>
              <a:rPr lang="en-US" sz="4000" b="1" i="0" u="none" strike="noStrike" cap="none">
                <a:solidFill>
                  <a:srgbClr val="5E376C"/>
                </a:solidFill>
                <a:latin typeface="Georgia"/>
                <a:ea typeface="Georgia"/>
                <a:cs typeface="Georgia"/>
                <a:sym typeface="Georgia"/>
              </a:rPr>
              <a:t>60%</a:t>
            </a:r>
            <a:endParaRPr sz="4000" b="0" i="0" u="none" strike="noStrike" cap="none">
              <a:solidFill>
                <a:schemeClr val="dk1"/>
              </a:solidFill>
              <a:latin typeface="Calibri"/>
              <a:ea typeface="Calibri"/>
              <a:cs typeface="Calibri"/>
              <a:sym typeface="Calibri"/>
            </a:endParaRPr>
          </a:p>
        </p:txBody>
      </p:sp>
      <p:sp>
        <p:nvSpPr>
          <p:cNvPr id="773" name="Google Shape;773;p43"/>
          <p:cNvSpPr/>
          <p:nvPr/>
        </p:nvSpPr>
        <p:spPr>
          <a:xfrm>
            <a:off x="3163849" y="2071202"/>
            <a:ext cx="2761500" cy="347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845995"/>
              </a:buClr>
              <a:buSzPts val="1100"/>
              <a:buFont typeface=" Arial"/>
              <a:buNone/>
            </a:pPr>
            <a:r>
              <a:rPr lang="en-US" sz="1100" b="1" i="0" u="none" strike="noStrike" cap="none">
                <a:solidFill>
                  <a:srgbClr val="845995"/>
                </a:solidFill>
                <a:latin typeface=" Arial"/>
                <a:ea typeface=" Arial"/>
                <a:cs typeface=" Arial"/>
                <a:sym typeface=" Arial"/>
              </a:rPr>
              <a:t>more likely to develop preeclampsia</a:t>
            </a:r>
            <a:endParaRPr sz="1100" b="0" i="0" u="none" strike="noStrike" cap="none">
              <a:solidFill>
                <a:schemeClr val="dk1"/>
              </a:solidFill>
              <a:latin typeface="Calibri"/>
              <a:ea typeface="Calibri"/>
              <a:cs typeface="Calibri"/>
              <a:sym typeface="Calibri"/>
            </a:endParaRPr>
          </a:p>
        </p:txBody>
      </p:sp>
      <p:sp>
        <p:nvSpPr>
          <p:cNvPr id="774" name="Google Shape;774;p43"/>
          <p:cNvSpPr/>
          <p:nvPr/>
        </p:nvSpPr>
        <p:spPr>
          <a:xfrm>
            <a:off x="3273577" y="2455250"/>
            <a:ext cx="2541900" cy="594300"/>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6B6B6B"/>
              </a:buClr>
              <a:buSzPts val="1100"/>
              <a:buFont typeface=" Arial"/>
              <a:buNone/>
            </a:pPr>
            <a:r>
              <a:rPr lang="en-US" sz="1100" b="0" i="0" u="none" strike="noStrike" cap="none">
                <a:solidFill>
                  <a:srgbClr val="6B6B6B"/>
                </a:solidFill>
                <a:latin typeface=" Arial"/>
                <a:ea typeface=" Arial"/>
                <a:cs typeface=" Arial"/>
                <a:sym typeface=" Arial"/>
              </a:rPr>
              <a:t>Higher rates and worse outcomes when they do</a:t>
            </a:r>
            <a:endParaRPr sz="1100" b="0" i="0" u="none" strike="noStrike" cap="none">
              <a:solidFill>
                <a:schemeClr val="dk1"/>
              </a:solidFill>
              <a:latin typeface="Calibri"/>
              <a:ea typeface="Calibri"/>
              <a:cs typeface="Calibri"/>
              <a:sym typeface="Calibri"/>
            </a:endParaRPr>
          </a:p>
        </p:txBody>
      </p:sp>
      <p:sp>
        <p:nvSpPr>
          <p:cNvPr id="775" name="Google Shape;775;p43"/>
          <p:cNvSpPr/>
          <p:nvPr/>
        </p:nvSpPr>
        <p:spPr>
          <a:xfrm>
            <a:off x="6071641" y="1175090"/>
            <a:ext cx="2761500" cy="1938600"/>
          </a:xfrm>
          <a:prstGeom prst="rect">
            <a:avLst/>
          </a:prstGeom>
          <a:solidFill>
            <a:srgbClr val="F8F5FA"/>
          </a:solidFill>
          <a:ln w="12700" cap="flat" cmpd="sng">
            <a:solidFill>
              <a:srgbClr val="5E376C"/>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3"/>
          <p:cNvSpPr/>
          <p:nvPr/>
        </p:nvSpPr>
        <p:spPr>
          <a:xfrm>
            <a:off x="6071641" y="1284818"/>
            <a:ext cx="2761500" cy="749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5E376C"/>
              </a:buClr>
              <a:buSzPts val="4000"/>
              <a:buFont typeface="Georgia"/>
              <a:buNone/>
            </a:pPr>
            <a:r>
              <a:rPr lang="en-US" sz="4000" b="1" i="0" u="none" strike="noStrike" cap="none">
                <a:solidFill>
                  <a:srgbClr val="5E376C"/>
                </a:solidFill>
                <a:latin typeface="Georgia"/>
                <a:ea typeface="Georgia"/>
                <a:cs typeface="Georgia"/>
                <a:sym typeface="Georgia"/>
              </a:rPr>
              <a:t>2x</a:t>
            </a:r>
            <a:endParaRPr sz="4000" b="0" i="0" u="none" strike="noStrike" cap="none">
              <a:solidFill>
                <a:schemeClr val="dk1"/>
              </a:solidFill>
              <a:latin typeface="Calibri"/>
              <a:ea typeface="Calibri"/>
              <a:cs typeface="Calibri"/>
              <a:sym typeface="Calibri"/>
            </a:endParaRPr>
          </a:p>
        </p:txBody>
      </p:sp>
      <p:sp>
        <p:nvSpPr>
          <p:cNvPr id="777" name="Google Shape;777;p43"/>
          <p:cNvSpPr/>
          <p:nvPr/>
        </p:nvSpPr>
        <p:spPr>
          <a:xfrm>
            <a:off x="6071641" y="2071202"/>
            <a:ext cx="2761500" cy="347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845995"/>
              </a:buClr>
              <a:buSzPts val="1100"/>
              <a:buFont typeface=" Arial"/>
              <a:buNone/>
            </a:pPr>
            <a:r>
              <a:rPr lang="en-US" sz="1100" b="1" i="0" u="none" strike="noStrike" cap="none">
                <a:solidFill>
                  <a:srgbClr val="845995"/>
                </a:solidFill>
                <a:latin typeface=" Arial"/>
                <a:ea typeface=" Arial"/>
                <a:cs typeface=" Arial"/>
                <a:sym typeface=" Arial"/>
              </a:rPr>
              <a:t>Louisiana's maternal mortality rate</a:t>
            </a:r>
            <a:endParaRPr sz="1100" b="0" i="0" u="none" strike="noStrike" cap="none">
              <a:solidFill>
                <a:schemeClr val="dk1"/>
              </a:solidFill>
              <a:latin typeface="Calibri"/>
              <a:ea typeface="Calibri"/>
              <a:cs typeface="Calibri"/>
              <a:sym typeface="Calibri"/>
            </a:endParaRPr>
          </a:p>
        </p:txBody>
      </p:sp>
      <p:sp>
        <p:nvSpPr>
          <p:cNvPr id="778" name="Google Shape;778;p43"/>
          <p:cNvSpPr/>
          <p:nvPr/>
        </p:nvSpPr>
        <p:spPr>
          <a:xfrm>
            <a:off x="6181369" y="2455250"/>
            <a:ext cx="2541900" cy="594300"/>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6B6B6B"/>
              </a:buClr>
              <a:buSzPts val="1100"/>
              <a:buFont typeface=" Arial"/>
              <a:buNone/>
            </a:pPr>
            <a:r>
              <a:rPr lang="en-US" sz="1100" b="0" i="0" u="none" strike="noStrike" cap="none">
                <a:solidFill>
                  <a:srgbClr val="6B6B6B"/>
                </a:solidFill>
                <a:latin typeface=" Arial"/>
                <a:ea typeface=" Arial"/>
                <a:cs typeface=" Arial"/>
                <a:sym typeface=" Arial"/>
              </a:rPr>
              <a:t>Nearly double the national average — gap is most severe for Black mothers</a:t>
            </a:r>
            <a:endParaRPr sz="1100" b="0" i="0" u="none" strike="noStrike" cap="none">
              <a:solidFill>
                <a:schemeClr val="dk1"/>
              </a:solidFill>
              <a:latin typeface="Calibri"/>
              <a:ea typeface="Calibri"/>
              <a:cs typeface="Calibri"/>
              <a:sym typeface="Calibri"/>
            </a:endParaRPr>
          </a:p>
        </p:txBody>
      </p:sp>
      <p:sp>
        <p:nvSpPr>
          <p:cNvPr id="779" name="Google Shape;779;p43"/>
          <p:cNvSpPr/>
          <p:nvPr/>
        </p:nvSpPr>
        <p:spPr>
          <a:xfrm>
            <a:off x="256050" y="3259924"/>
            <a:ext cx="8631900" cy="1343700"/>
          </a:xfrm>
          <a:prstGeom prst="rect">
            <a:avLst/>
          </a:prstGeom>
          <a:solidFill>
            <a:srgbClr val="F0F9FF"/>
          </a:solidFill>
          <a:ln w="12700" cap="flat" cmpd="sng">
            <a:solidFill>
              <a:srgbClr val="0284C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3"/>
          <p:cNvSpPr/>
          <p:nvPr/>
        </p:nvSpPr>
        <p:spPr>
          <a:xfrm>
            <a:off x="256049" y="3259924"/>
            <a:ext cx="73200" cy="1343700"/>
          </a:xfrm>
          <a:prstGeom prst="rect">
            <a:avLst/>
          </a:prstGeom>
          <a:solidFill>
            <a:srgbClr val="0284C7"/>
          </a:solidFill>
          <a:ln w="12700" cap="flat" cmpd="sng">
            <a:solidFill>
              <a:srgbClr val="0284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3"/>
          <p:cNvSpPr/>
          <p:nvPr/>
        </p:nvSpPr>
        <p:spPr>
          <a:xfrm>
            <a:off x="457225" y="3351362"/>
            <a:ext cx="82296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284C7"/>
              </a:buClr>
              <a:buSzPts val="1000"/>
              <a:buFont typeface=" Arial"/>
              <a:buNone/>
            </a:pPr>
            <a:r>
              <a:rPr lang="en-US" sz="1000" b="1" i="0" u="none" strike="noStrike" cap="none">
                <a:solidFill>
                  <a:srgbClr val="0284C7"/>
                </a:solidFill>
                <a:latin typeface=" Arial"/>
                <a:ea typeface=" Arial"/>
                <a:cs typeface=" Arial"/>
                <a:sym typeface=" Arial"/>
              </a:rPr>
              <a:t>Clinical Note</a:t>
            </a:r>
            <a:endParaRPr sz="1000" b="0" i="0" u="none" strike="noStrike" cap="none">
              <a:solidFill>
                <a:schemeClr val="dk1"/>
              </a:solidFill>
              <a:latin typeface="Calibri"/>
              <a:ea typeface="Calibri"/>
              <a:cs typeface="Calibri"/>
              <a:sym typeface="Calibri"/>
            </a:endParaRPr>
          </a:p>
        </p:txBody>
      </p:sp>
      <p:sp>
        <p:nvSpPr>
          <p:cNvPr id="782" name="Google Shape;782;p43"/>
          <p:cNvSpPr/>
          <p:nvPr/>
        </p:nvSpPr>
        <p:spPr>
          <a:xfrm>
            <a:off x="457225" y="3625682"/>
            <a:ext cx="8229600" cy="1261800"/>
          </a:xfrm>
          <a:prstGeom prst="rect">
            <a:avLst/>
          </a:prstGeom>
          <a:noFill/>
          <a:ln>
            <a:noFill/>
          </a:ln>
        </p:spPr>
        <p:txBody>
          <a:bodyPr spcFirstLastPara="1" wrap="square" lIns="0" tIns="0" rIns="0" bIns="0" anchor="t" anchorCtr="0">
            <a:noAutofit/>
          </a:bodyPr>
          <a:lstStyle/>
          <a:p>
            <a:pPr marL="0" marR="0" lvl="0" indent="0" algn="l" rtl="0">
              <a:lnSpc>
                <a:spcPct val="142000"/>
              </a:lnSpc>
              <a:spcBef>
                <a:spcPts val="0"/>
              </a:spcBef>
              <a:spcAft>
                <a:spcPts val="0"/>
              </a:spcAft>
              <a:buClr>
                <a:srgbClr val="2D2D2D"/>
              </a:buClr>
              <a:buSzPts val="1350"/>
              <a:buFont typeface=" Arial"/>
              <a:buNone/>
            </a:pPr>
            <a:r>
              <a:rPr lang="en-US" sz="1350" b="0" i="0" u="none" strike="noStrike" cap="none">
                <a:solidFill>
                  <a:srgbClr val="2D2D2D"/>
                </a:solidFill>
                <a:latin typeface=" Arial"/>
                <a:ea typeface=" Arial"/>
                <a:cs typeface=" Arial"/>
                <a:sym typeface=" Arial"/>
              </a:rPr>
              <a:t>This disparity holds across income and education levels — structural racism, not individual risk, is the primary driver. Symptoms are more often minimized in Black patients. Your informed, persistent advocacy is not optional — it is a clinical intervention.</a:t>
            </a:r>
            <a:endParaRPr sz="1350" b="0" i="0" u="none" strike="noStrike" cap="none">
              <a:solidFill>
                <a:schemeClr val="dk1"/>
              </a:solidFill>
              <a:latin typeface="Calibri"/>
              <a:ea typeface="Calibri"/>
              <a:cs typeface="Calibri"/>
              <a:sym typeface="Calibri"/>
            </a:endParaRPr>
          </a:p>
        </p:txBody>
      </p:sp>
      <p:sp>
        <p:nvSpPr>
          <p:cNvPr id="783" name="Google Shape;783;p43"/>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3"/>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5FA"/>
        </a:solidFill>
        <a:effectLst/>
      </p:bgPr>
    </p:bg>
    <p:spTree>
      <p:nvGrpSpPr>
        <p:cNvPr id="1" name="Shape 790"/>
        <p:cNvGrpSpPr/>
        <p:nvPr/>
      </p:nvGrpSpPr>
      <p:grpSpPr>
        <a:xfrm>
          <a:off x="0" y="0"/>
          <a:ext cx="0" cy="0"/>
          <a:chOff x="0" y="0"/>
          <a:chExt cx="0" cy="0"/>
        </a:xfrm>
      </p:grpSpPr>
      <p:sp>
        <p:nvSpPr>
          <p:cNvPr id="791" name="Google Shape;791;p44"/>
          <p:cNvSpPr/>
          <p:nvPr/>
        </p:nvSpPr>
        <p:spPr>
          <a:xfrm>
            <a:off x="457200" y="384050"/>
            <a:ext cx="8229600" cy="4188000"/>
          </a:xfrm>
          <a:prstGeom prst="rect">
            <a:avLst/>
          </a:prstGeom>
          <a:solidFill>
            <a:srgbClr val="FAF5FF"/>
          </a:solidFill>
          <a:ln w="12700" cap="flat" cmpd="sng">
            <a:solidFill>
              <a:srgbClr val="845995"/>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4"/>
          <p:cNvSpPr/>
          <p:nvPr/>
        </p:nvSpPr>
        <p:spPr>
          <a:xfrm>
            <a:off x="457201" y="384050"/>
            <a:ext cx="73200" cy="41880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4"/>
          <p:cNvSpPr/>
          <p:nvPr/>
        </p:nvSpPr>
        <p:spPr>
          <a:xfrm>
            <a:off x="676656" y="502920"/>
            <a:ext cx="7772400" cy="23774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000"/>
              <a:buFont typeface=" Arial"/>
              <a:buNone/>
            </a:pPr>
            <a:r>
              <a:rPr lang="en-US" sz="1000" b="1" i="0" u="none" strike="noStrike" cap="none">
                <a:solidFill>
                  <a:srgbClr val="845995"/>
                </a:solidFill>
                <a:latin typeface=" Arial"/>
                <a:ea typeface=" Arial"/>
                <a:cs typeface=" Arial"/>
                <a:sym typeface=" Arial"/>
              </a:rPr>
              <a:t>FULL GROUP DISCUSSION  ·  10 MINUTES</a:t>
            </a:r>
            <a:endParaRPr sz="1000" b="0" i="0" u="none" strike="noStrike" cap="none">
              <a:solidFill>
                <a:schemeClr val="dk1"/>
              </a:solidFill>
              <a:latin typeface="Calibri"/>
              <a:ea typeface="Calibri"/>
              <a:cs typeface="Calibri"/>
              <a:sym typeface="Calibri"/>
            </a:endParaRPr>
          </a:p>
        </p:txBody>
      </p:sp>
      <p:sp>
        <p:nvSpPr>
          <p:cNvPr id="794" name="Google Shape;794;p44"/>
          <p:cNvSpPr/>
          <p:nvPr/>
        </p:nvSpPr>
        <p:spPr>
          <a:xfrm>
            <a:off x="676656" y="841248"/>
            <a:ext cx="7680960" cy="65836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Where have you seen, read about, or heard stories of racism in healthcare?</a:t>
            </a:r>
            <a:endParaRPr sz="2000" b="0" i="0" u="none" strike="noStrike" cap="none">
              <a:solidFill>
                <a:schemeClr val="dk1"/>
              </a:solidFill>
              <a:latin typeface="Calibri"/>
              <a:ea typeface="Calibri"/>
              <a:cs typeface="Calibri"/>
              <a:sym typeface="Calibri"/>
            </a:endParaRPr>
          </a:p>
        </p:txBody>
      </p:sp>
      <p:sp>
        <p:nvSpPr>
          <p:cNvPr id="795" name="Google Shape;795;p44"/>
          <p:cNvSpPr/>
          <p:nvPr/>
        </p:nvSpPr>
        <p:spPr>
          <a:xfrm>
            <a:off x="676656" y="1591056"/>
            <a:ext cx="7680960" cy="96012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2D2D2D"/>
              </a:buClr>
              <a:buSzPts val="1400"/>
              <a:buFont typeface=" Arial"/>
              <a:buNone/>
            </a:pPr>
            <a:r>
              <a:rPr lang="en-US" sz="1400" b="0" i="0" u="none" strike="noStrike" cap="none">
                <a:solidFill>
                  <a:srgbClr val="2D2D2D"/>
                </a:solidFill>
                <a:latin typeface=" Arial"/>
                <a:ea typeface=" Arial"/>
                <a:cs typeface=" Arial"/>
                <a:sym typeface=" Arial"/>
              </a:rPr>
              <a:t>In the news. In your own family. In your community. In your own experience as a patient.</a:t>
            </a:r>
            <a:endParaRPr sz="14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2D2D2D"/>
              </a:buClr>
              <a:buSzPts val="1400"/>
              <a:buFont typeface=" Arial"/>
              <a:buNone/>
            </a:pPr>
            <a:r>
              <a:rPr lang="en-US" sz="1400" b="0" i="0" u="none" strike="noStrike" cap="none">
                <a:solidFill>
                  <a:srgbClr val="2D2D2D"/>
                </a:solidFill>
                <a:latin typeface=" Arial"/>
                <a:ea typeface=" Arial"/>
                <a:cs typeface=" Arial"/>
                <a:sym typeface=" Arial"/>
              </a:rPr>
              <a:t>How does knowing this change what you think a doula's role should look like?</a:t>
            </a:r>
            <a:endParaRPr sz="1400" b="0" i="0" u="none" strike="noStrike" cap="none">
              <a:solidFill>
                <a:schemeClr val="dk1"/>
              </a:solidFill>
              <a:latin typeface="Calibri"/>
              <a:ea typeface="Calibri"/>
              <a:cs typeface="Calibri"/>
              <a:sym typeface="Calibri"/>
            </a:endParaRPr>
          </a:p>
        </p:txBody>
      </p:sp>
      <p:sp>
        <p:nvSpPr>
          <p:cNvPr id="796" name="Google Shape;796;p44"/>
          <p:cNvSpPr/>
          <p:nvPr/>
        </p:nvSpPr>
        <p:spPr>
          <a:xfrm>
            <a:off x="676656" y="2697480"/>
            <a:ext cx="7589520" cy="27432"/>
          </a:xfrm>
          <a:prstGeom prst="rect">
            <a:avLst/>
          </a:prstGeom>
          <a:solidFill>
            <a:srgbClr val="D4BADD"/>
          </a:solidFill>
          <a:ln w="12700" cap="flat" cmpd="sng">
            <a:solidFill>
              <a:srgbClr val="D4BA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4"/>
          <p:cNvSpPr/>
          <p:nvPr/>
        </p:nvSpPr>
        <p:spPr>
          <a:xfrm>
            <a:off x="676656" y="2834640"/>
            <a:ext cx="7680960" cy="6400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B6B6B"/>
              </a:buClr>
              <a:buSzPts val="1300"/>
              <a:buFont typeface="Georgia"/>
              <a:buNone/>
            </a:pPr>
            <a:r>
              <a:rPr lang="en-US" sz="1300" b="0" i="1" u="none" strike="noStrike" cap="none">
                <a:solidFill>
                  <a:srgbClr val="6B6B6B"/>
                </a:solidFill>
                <a:latin typeface="Georgia"/>
                <a:ea typeface="Georgia"/>
                <a:cs typeface="Georgia"/>
                <a:sym typeface="Georgia"/>
              </a:rPr>
              <a:t>There are no wrong answers. No requirement to have a birth work story to contribute.</a:t>
            </a:r>
            <a:endParaRPr sz="1300" b="0" i="0" u="none" strike="noStrike" cap="none">
              <a:solidFill>
                <a:schemeClr val="dk1"/>
              </a:solidFill>
              <a:latin typeface="Calibri"/>
              <a:ea typeface="Calibri"/>
              <a:cs typeface="Calibri"/>
              <a:sym typeface="Calibri"/>
            </a:endParaRPr>
          </a:p>
          <a:p>
            <a:pPr marL="0" marR="0" lvl="0" indent="0" algn="l" rtl="0">
              <a:lnSpc>
                <a:spcPct val="140000"/>
              </a:lnSpc>
              <a:spcBef>
                <a:spcPts val="0"/>
              </a:spcBef>
              <a:spcAft>
                <a:spcPts val="0"/>
              </a:spcAft>
              <a:buClr>
                <a:srgbClr val="6B6B6B"/>
              </a:buClr>
              <a:buSzPts val="1300"/>
              <a:buFont typeface="Georgia"/>
              <a:buNone/>
            </a:pPr>
            <a:r>
              <a:rPr lang="en-US" sz="1300" b="0" i="1" u="none" strike="noStrike" cap="none">
                <a:solidFill>
                  <a:srgbClr val="6B6B6B"/>
                </a:solidFill>
                <a:latin typeface="Georgia"/>
                <a:ea typeface="Georgia"/>
                <a:cs typeface="Georgia"/>
                <a:sym typeface="Georgia"/>
              </a:rPr>
              <a:t>Your instructor will hold space for whatever comes up.</a:t>
            </a:r>
            <a:endParaRPr sz="1300" b="0" i="0" u="none" strike="noStrike" cap="none">
              <a:solidFill>
                <a:schemeClr val="dk1"/>
              </a:solidFill>
              <a:latin typeface="Calibri"/>
              <a:ea typeface="Calibri"/>
              <a:cs typeface="Calibri"/>
              <a:sym typeface="Calibri"/>
            </a:endParaRPr>
          </a:p>
        </p:txBody>
      </p:sp>
      <p:sp>
        <p:nvSpPr>
          <p:cNvPr id="798" name="Google Shape;798;p44"/>
          <p:cNvSpPr/>
          <p:nvPr/>
        </p:nvSpPr>
        <p:spPr>
          <a:xfrm>
            <a:off x="676656" y="3547872"/>
            <a:ext cx="7680960" cy="109728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What surprised you most about the statistics?</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What would it look like for a doula to address this in practice?</a:t>
            </a:r>
            <a:endParaRPr sz="1350" b="0" i="0" u="none" strike="noStrike" cap="none">
              <a:solidFill>
                <a:schemeClr val="dk1"/>
              </a:solidFill>
              <a:latin typeface="Calibri"/>
              <a:ea typeface="Calibri"/>
              <a:cs typeface="Calibri"/>
              <a:sym typeface="Calibri"/>
            </a:endParaRPr>
          </a:p>
          <a:p>
            <a:pPr marL="177800" marR="0" lvl="0" indent="-177800" algn="l" rtl="0">
              <a:spcBef>
                <a:spcPts val="800"/>
              </a:spcBef>
              <a:spcAft>
                <a:spcPts val="0"/>
              </a:spcAft>
              <a:buClr>
                <a:srgbClr val="2D2D2D"/>
              </a:buClr>
              <a:buSzPts val="1350"/>
              <a:buFont typeface=" Arial"/>
              <a:buChar char="–"/>
            </a:pPr>
            <a:r>
              <a:rPr lang="en-US" sz="1350" b="0" i="0" u="none" strike="noStrike" cap="none">
                <a:solidFill>
                  <a:srgbClr val="2D2D2D"/>
                </a:solidFill>
                <a:latin typeface=" Arial"/>
                <a:ea typeface=" Arial"/>
                <a:cs typeface=" Arial"/>
                <a:sym typeface=" Arial"/>
              </a:rPr>
              <a:t>What feels uncertain or hard about this conversation for you?</a:t>
            </a:r>
            <a:endParaRPr sz="1350" b="0" i="0" u="none" strike="noStrike" cap="none">
              <a:solidFill>
                <a:schemeClr val="dk1"/>
              </a:solidFill>
              <a:latin typeface="Calibri"/>
              <a:ea typeface="Calibri"/>
              <a:cs typeface="Calibri"/>
              <a:sym typeface="Calibri"/>
            </a:endParaRPr>
          </a:p>
        </p:txBody>
      </p:sp>
      <p:sp>
        <p:nvSpPr>
          <p:cNvPr id="799" name="Google Shape;799;p44"/>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4"/>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6"/>
        <p:cNvGrpSpPr/>
        <p:nvPr/>
      </p:nvGrpSpPr>
      <p:grpSpPr>
        <a:xfrm>
          <a:off x="0" y="0"/>
          <a:ext cx="0" cy="0"/>
          <a:chOff x="0" y="0"/>
          <a:chExt cx="0" cy="0"/>
        </a:xfrm>
      </p:grpSpPr>
      <p:sp>
        <p:nvSpPr>
          <p:cNvPr id="807" name="Google Shape;807;p45"/>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900"/>
              <a:buFont typeface=" Arial"/>
              <a:buNone/>
            </a:pPr>
            <a:r>
              <a:rPr lang="en-US" sz="900" b="0" i="0" u="none" strike="noStrike" cap="none">
                <a:solidFill>
                  <a:srgbClr val="845995"/>
                </a:solidFill>
                <a:latin typeface=" Arial"/>
                <a:ea typeface=" Arial"/>
                <a:cs typeface=" Arial"/>
                <a:sym typeface=" Arial"/>
              </a:rPr>
              <a:t>COMPLICATIONS DOULAS ENCOUNTER — BEYOND PREECLAMPSIA</a:t>
            </a:r>
            <a:endParaRPr sz="900" b="0" i="0" u="none" strike="noStrike" cap="none">
              <a:solidFill>
                <a:schemeClr val="dk1"/>
              </a:solidFill>
              <a:latin typeface="Calibri"/>
              <a:ea typeface="Calibri"/>
              <a:cs typeface="Calibri"/>
              <a:sym typeface="Calibri"/>
            </a:endParaRPr>
          </a:p>
        </p:txBody>
      </p:sp>
      <p:sp>
        <p:nvSpPr>
          <p:cNvPr id="808" name="Google Shape;808;p45"/>
          <p:cNvSpPr/>
          <p:nvPr/>
        </p:nvSpPr>
        <p:spPr>
          <a:xfrm>
            <a:off x="411480" y="457198"/>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An Orientation to Other Common Complications</a:t>
            </a:r>
            <a:endParaRPr sz="2000" b="0" i="0" u="none" strike="noStrike" cap="none">
              <a:solidFill>
                <a:schemeClr val="dk1"/>
              </a:solidFill>
              <a:latin typeface="Calibri"/>
              <a:ea typeface="Calibri"/>
              <a:cs typeface="Calibri"/>
              <a:sym typeface="Calibri"/>
            </a:endParaRPr>
          </a:p>
        </p:txBody>
      </p:sp>
      <p:sp>
        <p:nvSpPr>
          <p:cNvPr id="809" name="Google Shape;809;p45"/>
          <p:cNvSpPr/>
          <p:nvPr/>
        </p:nvSpPr>
        <p:spPr>
          <a:xfrm>
            <a:off x="219445" y="870918"/>
            <a:ext cx="4114800" cy="1783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5"/>
          <p:cNvSpPr/>
          <p:nvPr/>
        </p:nvSpPr>
        <p:spPr>
          <a:xfrm>
            <a:off x="219445" y="870918"/>
            <a:ext cx="73200" cy="17832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5"/>
          <p:cNvSpPr/>
          <p:nvPr/>
        </p:nvSpPr>
        <p:spPr>
          <a:xfrm>
            <a:off x="402325" y="962358"/>
            <a:ext cx="3749100" cy="292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400"/>
              <a:buFont typeface="Georgia"/>
              <a:buNone/>
            </a:pPr>
            <a:r>
              <a:rPr lang="en-US" sz="1400" b="1" i="0" u="none" strike="noStrike" cap="none">
                <a:solidFill>
                  <a:srgbClr val="5E376C"/>
                </a:solidFill>
                <a:latin typeface="Georgia"/>
                <a:ea typeface="Georgia"/>
                <a:cs typeface="Georgia"/>
                <a:sym typeface="Georgia"/>
              </a:rPr>
              <a:t>Gestational Diabetes</a:t>
            </a:r>
            <a:endParaRPr sz="1400" b="0" i="0" u="none" strike="noStrike" cap="none">
              <a:solidFill>
                <a:schemeClr val="dk1"/>
              </a:solidFill>
              <a:latin typeface="Calibri"/>
              <a:ea typeface="Calibri"/>
              <a:cs typeface="Calibri"/>
              <a:sym typeface="Calibri"/>
            </a:endParaRPr>
          </a:p>
        </p:txBody>
      </p:sp>
      <p:sp>
        <p:nvSpPr>
          <p:cNvPr id="812" name="Google Shape;812;p45"/>
          <p:cNvSpPr/>
          <p:nvPr/>
        </p:nvSpPr>
        <p:spPr>
          <a:xfrm>
            <a:off x="402325" y="1291542"/>
            <a:ext cx="3749100" cy="804600"/>
          </a:xfrm>
          <a:prstGeom prst="rect">
            <a:avLst/>
          </a:prstGeom>
          <a:noFill/>
          <a:ln>
            <a:noFill/>
          </a:ln>
        </p:spPr>
        <p:txBody>
          <a:bodyPr spcFirstLastPara="1" wrap="square" lIns="0" tIns="0" rIns="0" bIns="0" anchor="t" anchorCtr="0">
            <a:noAutofit/>
          </a:bodyPr>
          <a:lstStyle/>
          <a:p>
            <a:pPr marL="0" marR="0" lvl="0" indent="0" algn="l" rtl="0">
              <a:lnSpc>
                <a:spcPct val="132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Affects 6–9% of pregnancies. Managed with diet, exercise, sometimes insulin. Increases risk of macrosomia, induction, and cesarean.</a:t>
            </a:r>
            <a:endParaRPr sz="1200" b="0" i="0" u="none" strike="noStrike" cap="none">
              <a:solidFill>
                <a:schemeClr val="dk1"/>
              </a:solidFill>
              <a:latin typeface="Calibri"/>
              <a:ea typeface="Calibri"/>
              <a:cs typeface="Calibri"/>
              <a:sym typeface="Calibri"/>
            </a:endParaRPr>
          </a:p>
        </p:txBody>
      </p:sp>
      <p:sp>
        <p:nvSpPr>
          <p:cNvPr id="813" name="Google Shape;813;p45"/>
          <p:cNvSpPr/>
          <p:nvPr/>
        </p:nvSpPr>
        <p:spPr>
          <a:xfrm>
            <a:off x="402325" y="2132790"/>
            <a:ext cx="3749100" cy="438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5E376C"/>
              </a:buClr>
              <a:buSzPts val="1150"/>
              <a:buFont typeface=" Arial"/>
              <a:buNone/>
            </a:pPr>
            <a:r>
              <a:rPr lang="en-US" sz="1150" b="0" i="1" u="none" strike="noStrike" cap="none">
                <a:solidFill>
                  <a:srgbClr val="5E376C"/>
                </a:solidFill>
                <a:latin typeface=" Arial"/>
                <a:ea typeface=" Arial"/>
                <a:cs typeface=" Arial"/>
                <a:sym typeface=" Arial"/>
              </a:rPr>
              <a:t>Doula: Normalize the diagnosis. Support diet changes without judgment.</a:t>
            </a:r>
            <a:endParaRPr sz="1150" b="0" i="0" u="none" strike="noStrike" cap="none">
              <a:solidFill>
                <a:schemeClr val="dk1"/>
              </a:solidFill>
              <a:latin typeface="Calibri"/>
              <a:ea typeface="Calibri"/>
              <a:cs typeface="Calibri"/>
              <a:sym typeface="Calibri"/>
            </a:endParaRPr>
          </a:p>
        </p:txBody>
      </p:sp>
      <p:sp>
        <p:nvSpPr>
          <p:cNvPr id="814" name="Google Shape;814;p45"/>
          <p:cNvSpPr/>
          <p:nvPr/>
        </p:nvSpPr>
        <p:spPr>
          <a:xfrm>
            <a:off x="4535413" y="870918"/>
            <a:ext cx="4114800" cy="1783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5"/>
          <p:cNvSpPr/>
          <p:nvPr/>
        </p:nvSpPr>
        <p:spPr>
          <a:xfrm>
            <a:off x="4535413" y="870918"/>
            <a:ext cx="73200" cy="17832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5"/>
          <p:cNvSpPr/>
          <p:nvPr/>
        </p:nvSpPr>
        <p:spPr>
          <a:xfrm>
            <a:off x="4718293" y="962358"/>
            <a:ext cx="3749100" cy="292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400"/>
              <a:buFont typeface="Georgia"/>
              <a:buNone/>
            </a:pPr>
            <a:r>
              <a:rPr lang="en-US" sz="1400" b="1" i="0" u="none" strike="noStrike" cap="none">
                <a:solidFill>
                  <a:srgbClr val="845995"/>
                </a:solidFill>
                <a:latin typeface="Georgia"/>
                <a:ea typeface="Georgia"/>
                <a:cs typeface="Georgia"/>
                <a:sym typeface="Georgia"/>
              </a:rPr>
              <a:t>Preterm Labor</a:t>
            </a:r>
            <a:endParaRPr sz="1400" b="0" i="0" u="none" strike="noStrike" cap="none">
              <a:solidFill>
                <a:schemeClr val="dk1"/>
              </a:solidFill>
              <a:latin typeface="Calibri"/>
              <a:ea typeface="Calibri"/>
              <a:cs typeface="Calibri"/>
              <a:sym typeface="Calibri"/>
            </a:endParaRPr>
          </a:p>
        </p:txBody>
      </p:sp>
      <p:sp>
        <p:nvSpPr>
          <p:cNvPr id="817" name="Google Shape;817;p45"/>
          <p:cNvSpPr/>
          <p:nvPr/>
        </p:nvSpPr>
        <p:spPr>
          <a:xfrm>
            <a:off x="4718293" y="1291542"/>
            <a:ext cx="3749100" cy="804600"/>
          </a:xfrm>
          <a:prstGeom prst="rect">
            <a:avLst/>
          </a:prstGeom>
          <a:noFill/>
          <a:ln>
            <a:noFill/>
          </a:ln>
        </p:spPr>
        <p:txBody>
          <a:bodyPr spcFirstLastPara="1" wrap="square" lIns="0" tIns="0" rIns="0" bIns="0" anchor="t" anchorCtr="0">
            <a:noAutofit/>
          </a:bodyPr>
          <a:lstStyle/>
          <a:p>
            <a:pPr marL="0" marR="0" lvl="0" indent="0" algn="l" rtl="0">
              <a:lnSpc>
                <a:spcPct val="132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Contractions + cervical change before 37 weeks. Signs: regular contractions, pelvic pressure, low backache, watery discharge.</a:t>
            </a:r>
            <a:endParaRPr sz="1200" b="0" i="0" u="none" strike="noStrike" cap="none">
              <a:solidFill>
                <a:schemeClr val="dk1"/>
              </a:solidFill>
              <a:latin typeface="Calibri"/>
              <a:ea typeface="Calibri"/>
              <a:cs typeface="Calibri"/>
              <a:sym typeface="Calibri"/>
            </a:endParaRPr>
          </a:p>
        </p:txBody>
      </p:sp>
      <p:sp>
        <p:nvSpPr>
          <p:cNvPr id="818" name="Google Shape;818;p45"/>
          <p:cNvSpPr/>
          <p:nvPr/>
        </p:nvSpPr>
        <p:spPr>
          <a:xfrm>
            <a:off x="4718293" y="2132790"/>
            <a:ext cx="3749100" cy="438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845995"/>
              </a:buClr>
              <a:buSzPts val="1150"/>
              <a:buFont typeface=" Arial"/>
              <a:buNone/>
            </a:pPr>
            <a:r>
              <a:rPr lang="en-US" sz="1150" b="0" i="1" u="none" strike="noStrike" cap="none">
                <a:solidFill>
                  <a:srgbClr val="845995"/>
                </a:solidFill>
                <a:latin typeface=" Arial"/>
                <a:ea typeface=" Arial"/>
                <a:cs typeface=" Arial"/>
                <a:sym typeface=" Arial"/>
              </a:rPr>
              <a:t>Doula: Encourage immediate evaluation. Do not wait and see.</a:t>
            </a:r>
            <a:endParaRPr sz="1150" b="0" i="0" u="none" strike="noStrike" cap="none">
              <a:solidFill>
                <a:schemeClr val="dk1"/>
              </a:solidFill>
              <a:latin typeface="Calibri"/>
              <a:ea typeface="Calibri"/>
              <a:cs typeface="Calibri"/>
              <a:sym typeface="Calibri"/>
            </a:endParaRPr>
          </a:p>
        </p:txBody>
      </p:sp>
      <p:sp>
        <p:nvSpPr>
          <p:cNvPr id="819" name="Google Shape;819;p45"/>
          <p:cNvSpPr/>
          <p:nvPr/>
        </p:nvSpPr>
        <p:spPr>
          <a:xfrm>
            <a:off x="219445" y="2772870"/>
            <a:ext cx="4114800" cy="1783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5"/>
          <p:cNvSpPr/>
          <p:nvPr/>
        </p:nvSpPr>
        <p:spPr>
          <a:xfrm>
            <a:off x="219445" y="2772870"/>
            <a:ext cx="73200" cy="1783200"/>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5"/>
          <p:cNvSpPr/>
          <p:nvPr/>
        </p:nvSpPr>
        <p:spPr>
          <a:xfrm>
            <a:off x="402325" y="2864310"/>
            <a:ext cx="3749100" cy="292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400"/>
              <a:buFont typeface="Georgia"/>
              <a:buNone/>
            </a:pPr>
            <a:r>
              <a:rPr lang="en-US" sz="1400" b="1" i="0" u="none" strike="noStrike" cap="none">
                <a:solidFill>
                  <a:srgbClr val="5E376C"/>
                </a:solidFill>
                <a:latin typeface="Georgia"/>
                <a:ea typeface="Georgia"/>
                <a:cs typeface="Georgia"/>
                <a:sym typeface="Georgia"/>
              </a:rPr>
              <a:t>Placenta Previa &amp; Abruption</a:t>
            </a:r>
            <a:endParaRPr sz="1400" b="0" i="0" u="none" strike="noStrike" cap="none">
              <a:solidFill>
                <a:schemeClr val="dk1"/>
              </a:solidFill>
              <a:latin typeface="Calibri"/>
              <a:ea typeface="Calibri"/>
              <a:cs typeface="Calibri"/>
              <a:sym typeface="Calibri"/>
            </a:endParaRPr>
          </a:p>
        </p:txBody>
      </p:sp>
      <p:sp>
        <p:nvSpPr>
          <p:cNvPr id="822" name="Google Shape;822;p45"/>
          <p:cNvSpPr/>
          <p:nvPr/>
        </p:nvSpPr>
        <p:spPr>
          <a:xfrm>
            <a:off x="402325" y="3193494"/>
            <a:ext cx="3749100" cy="804600"/>
          </a:xfrm>
          <a:prstGeom prst="rect">
            <a:avLst/>
          </a:prstGeom>
          <a:noFill/>
          <a:ln>
            <a:noFill/>
          </a:ln>
        </p:spPr>
        <p:txBody>
          <a:bodyPr spcFirstLastPara="1" wrap="square" lIns="0" tIns="0" rIns="0" bIns="0" anchor="t" anchorCtr="0">
            <a:noAutofit/>
          </a:bodyPr>
          <a:lstStyle/>
          <a:p>
            <a:pPr marL="0" marR="0" lvl="0" indent="0" algn="l" rtl="0">
              <a:lnSpc>
                <a:spcPct val="132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Previa: placenta covers cervix — vaginal birth not possible. Abruption: placenta separates — life-threatening emergency.</a:t>
            </a:r>
            <a:endParaRPr sz="1200" b="0" i="0" u="none" strike="noStrike" cap="none">
              <a:solidFill>
                <a:schemeClr val="dk1"/>
              </a:solidFill>
              <a:latin typeface="Calibri"/>
              <a:ea typeface="Calibri"/>
              <a:cs typeface="Calibri"/>
              <a:sym typeface="Calibri"/>
            </a:endParaRPr>
          </a:p>
        </p:txBody>
      </p:sp>
      <p:sp>
        <p:nvSpPr>
          <p:cNvPr id="823" name="Google Shape;823;p45"/>
          <p:cNvSpPr/>
          <p:nvPr/>
        </p:nvSpPr>
        <p:spPr>
          <a:xfrm>
            <a:off x="402325" y="4034742"/>
            <a:ext cx="3749100" cy="438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5E376C"/>
              </a:buClr>
              <a:buSzPts val="1150"/>
              <a:buFont typeface=" Arial"/>
              <a:buNone/>
            </a:pPr>
            <a:r>
              <a:rPr lang="en-US" sz="1150" b="0" i="1" u="none" strike="noStrike" cap="none">
                <a:solidFill>
                  <a:srgbClr val="5E376C"/>
                </a:solidFill>
                <a:latin typeface=" Arial"/>
                <a:ea typeface=" Arial"/>
                <a:cs typeface=" Arial"/>
                <a:sym typeface=" Arial"/>
              </a:rPr>
              <a:t>Doula: Painless vaginal bleeding in T3 = emergency evaluation NOW.</a:t>
            </a:r>
            <a:endParaRPr sz="1150" b="0" i="0" u="none" strike="noStrike" cap="none">
              <a:solidFill>
                <a:schemeClr val="dk1"/>
              </a:solidFill>
              <a:latin typeface="Calibri"/>
              <a:ea typeface="Calibri"/>
              <a:cs typeface="Calibri"/>
              <a:sym typeface="Calibri"/>
            </a:endParaRPr>
          </a:p>
        </p:txBody>
      </p:sp>
      <p:sp>
        <p:nvSpPr>
          <p:cNvPr id="824" name="Google Shape;824;p45"/>
          <p:cNvSpPr/>
          <p:nvPr/>
        </p:nvSpPr>
        <p:spPr>
          <a:xfrm>
            <a:off x="4535413" y="2772870"/>
            <a:ext cx="4114800" cy="1783200"/>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5"/>
          <p:cNvSpPr/>
          <p:nvPr/>
        </p:nvSpPr>
        <p:spPr>
          <a:xfrm>
            <a:off x="4535413" y="2772870"/>
            <a:ext cx="73200" cy="1783200"/>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5"/>
          <p:cNvSpPr/>
          <p:nvPr/>
        </p:nvSpPr>
        <p:spPr>
          <a:xfrm>
            <a:off x="4718293" y="2864310"/>
            <a:ext cx="3749100" cy="292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45995"/>
              </a:buClr>
              <a:buSzPts val="1400"/>
              <a:buFont typeface="Georgia"/>
              <a:buNone/>
            </a:pPr>
            <a:r>
              <a:rPr lang="en-US" sz="1400" b="1" i="0" u="none" strike="noStrike" cap="none">
                <a:solidFill>
                  <a:srgbClr val="845995"/>
                </a:solidFill>
                <a:latin typeface="Georgia"/>
                <a:ea typeface="Georgia"/>
                <a:cs typeface="Georgia"/>
                <a:sym typeface="Georgia"/>
              </a:rPr>
              <a:t>Hyperemesis Gravidarum</a:t>
            </a:r>
            <a:endParaRPr sz="1400" b="0" i="0" u="none" strike="noStrike" cap="none">
              <a:solidFill>
                <a:schemeClr val="dk1"/>
              </a:solidFill>
              <a:latin typeface="Calibri"/>
              <a:ea typeface="Calibri"/>
              <a:cs typeface="Calibri"/>
              <a:sym typeface="Calibri"/>
            </a:endParaRPr>
          </a:p>
        </p:txBody>
      </p:sp>
      <p:sp>
        <p:nvSpPr>
          <p:cNvPr id="827" name="Google Shape;827;p45"/>
          <p:cNvSpPr/>
          <p:nvPr/>
        </p:nvSpPr>
        <p:spPr>
          <a:xfrm>
            <a:off x="4718293" y="3193494"/>
            <a:ext cx="3749100" cy="804600"/>
          </a:xfrm>
          <a:prstGeom prst="rect">
            <a:avLst/>
          </a:prstGeom>
          <a:noFill/>
          <a:ln>
            <a:noFill/>
          </a:ln>
        </p:spPr>
        <p:txBody>
          <a:bodyPr spcFirstLastPara="1" wrap="square" lIns="0" tIns="0" rIns="0" bIns="0" anchor="t" anchorCtr="0">
            <a:noAutofit/>
          </a:bodyPr>
          <a:lstStyle/>
          <a:p>
            <a:pPr marL="0" marR="0" lvl="0" indent="0" algn="l" rtl="0">
              <a:lnSpc>
                <a:spcPct val="132000"/>
              </a:lnSpc>
              <a:spcBef>
                <a:spcPts val="0"/>
              </a:spcBef>
              <a:spcAft>
                <a:spcPts val="0"/>
              </a:spcAft>
              <a:buClr>
                <a:srgbClr val="2D2D2D"/>
              </a:buClr>
              <a:buSzPts val="1200"/>
              <a:buFont typeface=" Arial"/>
              <a:buNone/>
            </a:pPr>
            <a:r>
              <a:rPr lang="en-US" sz="1200" b="0" i="0" u="none" strike="noStrike" cap="none">
                <a:solidFill>
                  <a:srgbClr val="2D2D2D"/>
                </a:solidFill>
                <a:latin typeface=" Arial"/>
                <a:ea typeface=" Arial"/>
                <a:cs typeface=" Arial"/>
                <a:sym typeface=" Arial"/>
              </a:rPr>
              <a:t>Severe, persistent nausea/vomiting requiring medical treatment. Not "just" morning sickness. May require IV fluids and hospitalization.</a:t>
            </a:r>
            <a:endParaRPr sz="1200" b="0" i="0" u="none" strike="noStrike" cap="none">
              <a:solidFill>
                <a:schemeClr val="dk1"/>
              </a:solidFill>
              <a:latin typeface="Calibri"/>
              <a:ea typeface="Calibri"/>
              <a:cs typeface="Calibri"/>
              <a:sym typeface="Calibri"/>
            </a:endParaRPr>
          </a:p>
        </p:txBody>
      </p:sp>
      <p:sp>
        <p:nvSpPr>
          <p:cNvPr id="828" name="Google Shape;828;p45"/>
          <p:cNvSpPr/>
          <p:nvPr/>
        </p:nvSpPr>
        <p:spPr>
          <a:xfrm>
            <a:off x="4718293" y="4034742"/>
            <a:ext cx="3749100" cy="438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845995"/>
              </a:buClr>
              <a:buSzPts val="1150"/>
              <a:buFont typeface=" Arial"/>
              <a:buNone/>
            </a:pPr>
            <a:r>
              <a:rPr lang="en-US" sz="1150" b="0" i="1" u="none" strike="noStrike" cap="none">
                <a:solidFill>
                  <a:srgbClr val="845995"/>
                </a:solidFill>
                <a:latin typeface=" Arial"/>
                <a:ea typeface=" Arial"/>
                <a:cs typeface=" Arial"/>
                <a:sym typeface=" Arial"/>
              </a:rPr>
              <a:t>Doula: Validate the severity — it is often dismissed. Your presence matters.</a:t>
            </a:r>
            <a:endParaRPr sz="1150" b="0" i="0" u="none" strike="noStrike" cap="none">
              <a:solidFill>
                <a:schemeClr val="dk1"/>
              </a:solidFill>
              <a:latin typeface="Calibri"/>
              <a:ea typeface="Calibri"/>
              <a:cs typeface="Calibri"/>
              <a:sym typeface="Calibri"/>
            </a:endParaRPr>
          </a:p>
        </p:txBody>
      </p:sp>
      <p:sp>
        <p:nvSpPr>
          <p:cNvPr id="829" name="Google Shape;829;p45"/>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5"/>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6"/>
        <p:cNvGrpSpPr/>
        <p:nvPr/>
      </p:nvGrpSpPr>
      <p:grpSpPr>
        <a:xfrm>
          <a:off x="0" y="0"/>
          <a:ext cx="0" cy="0"/>
          <a:chOff x="0" y="0"/>
          <a:chExt cx="0" cy="0"/>
        </a:xfrm>
      </p:grpSpPr>
      <p:sp>
        <p:nvSpPr>
          <p:cNvPr id="837" name="Google Shape;837;p46"/>
          <p:cNvSpPr/>
          <p:nvPr/>
        </p:nvSpPr>
        <p:spPr>
          <a:xfrm>
            <a:off x="411480" y="164592"/>
            <a:ext cx="8321040"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900"/>
              <a:buFont typeface=" Arial"/>
              <a:buNone/>
            </a:pPr>
            <a:r>
              <a:rPr lang="en-US" sz="900" b="0" i="0" u="none" strike="noStrike" cap="none">
                <a:solidFill>
                  <a:srgbClr val="DB2777"/>
                </a:solidFill>
                <a:latin typeface=" Arial"/>
                <a:ea typeface=" Arial"/>
                <a:cs typeface=" Arial"/>
                <a:sym typeface=" Arial"/>
              </a:rPr>
              <a:t>CASE STUDY  ·  BREAKOUT DISCUSSION  ·  10 MINUTES</a:t>
            </a:r>
            <a:endParaRPr sz="900" b="0" i="0" u="none" strike="noStrike" cap="none">
              <a:solidFill>
                <a:schemeClr val="dk1"/>
              </a:solidFill>
              <a:latin typeface="Calibri"/>
              <a:ea typeface="Calibri"/>
              <a:cs typeface="Calibri"/>
              <a:sym typeface="Calibri"/>
            </a:endParaRPr>
          </a:p>
        </p:txBody>
      </p:sp>
      <p:sp>
        <p:nvSpPr>
          <p:cNvPr id="838" name="Google Shape;838;p46"/>
          <p:cNvSpPr/>
          <p:nvPr/>
        </p:nvSpPr>
        <p:spPr>
          <a:xfrm>
            <a:off x="393193" y="489210"/>
            <a:ext cx="8321100" cy="658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E376C"/>
              </a:buClr>
              <a:buSzPts val="2000"/>
              <a:buFont typeface="Georgia"/>
              <a:buNone/>
            </a:pPr>
            <a:r>
              <a:rPr lang="en-US" sz="2000" b="1" i="0" u="none" strike="noStrike" cap="none">
                <a:solidFill>
                  <a:srgbClr val="5E376C"/>
                </a:solidFill>
                <a:latin typeface="Georgia"/>
                <a:ea typeface="Georgia"/>
                <a:cs typeface="Georgia"/>
                <a:sym typeface="Georgia"/>
              </a:rPr>
              <a:t>What Would You Do?</a:t>
            </a:r>
            <a:endParaRPr sz="2000" b="0" i="0" u="none" strike="noStrike" cap="none">
              <a:solidFill>
                <a:schemeClr val="dk1"/>
              </a:solidFill>
              <a:latin typeface="Calibri"/>
              <a:ea typeface="Calibri"/>
              <a:cs typeface="Calibri"/>
              <a:sym typeface="Calibri"/>
            </a:endParaRPr>
          </a:p>
        </p:txBody>
      </p:sp>
      <p:sp>
        <p:nvSpPr>
          <p:cNvPr id="839" name="Google Shape;839;p46"/>
          <p:cNvSpPr/>
          <p:nvPr/>
        </p:nvSpPr>
        <p:spPr>
          <a:xfrm>
            <a:off x="274325" y="1024126"/>
            <a:ext cx="8595300" cy="1920240"/>
          </a:xfrm>
          <a:prstGeom prst="rect">
            <a:avLst/>
          </a:prstGeom>
          <a:solidFill>
            <a:srgbClr val="FDF2F8"/>
          </a:solidFill>
          <a:ln w="12700" cap="flat" cmpd="sng">
            <a:solidFill>
              <a:srgbClr val="DB2777"/>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6"/>
          <p:cNvSpPr/>
          <p:nvPr/>
        </p:nvSpPr>
        <p:spPr>
          <a:xfrm>
            <a:off x="274324" y="1024126"/>
            <a:ext cx="73200" cy="1920240"/>
          </a:xfrm>
          <a:prstGeom prst="rect">
            <a:avLst/>
          </a:prstGeom>
          <a:solidFill>
            <a:srgbClr val="DB2777"/>
          </a:solidFill>
          <a:ln w="12700" cap="flat" cmpd="sng">
            <a:solidFill>
              <a:srgbClr val="DB27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6"/>
          <p:cNvSpPr/>
          <p:nvPr/>
        </p:nvSpPr>
        <p:spPr>
          <a:xfrm>
            <a:off x="475488" y="1115568"/>
            <a:ext cx="8229600"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B2777"/>
              </a:buClr>
              <a:buSzPts val="1300"/>
              <a:buFont typeface="Georgia"/>
              <a:buNone/>
            </a:pPr>
            <a:r>
              <a:rPr lang="en-US" sz="1300" b="1" i="0" u="none" strike="noStrike" cap="none">
                <a:solidFill>
                  <a:srgbClr val="DB2777"/>
                </a:solidFill>
                <a:latin typeface="Georgia"/>
                <a:ea typeface="Georgia"/>
                <a:cs typeface="Georgia"/>
                <a:sym typeface="Georgia"/>
              </a:rPr>
              <a:t>The Scenario</a:t>
            </a:r>
            <a:endParaRPr sz="1300" b="0" i="0" u="none" strike="noStrike" cap="none">
              <a:solidFill>
                <a:schemeClr val="dk1"/>
              </a:solidFill>
              <a:latin typeface="Calibri"/>
              <a:ea typeface="Calibri"/>
              <a:cs typeface="Calibri"/>
              <a:sym typeface="Calibri"/>
            </a:endParaRPr>
          </a:p>
        </p:txBody>
      </p:sp>
      <p:sp>
        <p:nvSpPr>
          <p:cNvPr id="842" name="Google Shape;842;p46"/>
          <p:cNvSpPr/>
          <p:nvPr/>
        </p:nvSpPr>
        <p:spPr>
          <a:xfrm>
            <a:off x="475500" y="1408175"/>
            <a:ext cx="8229600" cy="1417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D1040"/>
              </a:buClr>
              <a:buSzPts val="1450"/>
              <a:buFont typeface="Georgia"/>
              <a:buNone/>
            </a:pPr>
            <a:r>
              <a:rPr lang="en-US" sz="1450" b="0" i="1" u="none" strike="noStrike" cap="none">
                <a:solidFill>
                  <a:srgbClr val="3D1040"/>
                </a:solidFill>
                <a:latin typeface="Georgia"/>
                <a:ea typeface="Georgia"/>
                <a:cs typeface="Georgia"/>
                <a:sym typeface="Georgia"/>
              </a:rPr>
              <a:t>Your client is 34 weeks pregnant. She texts you at 9:00 PM: "I have a terrible headache and my face looks puffy. It came on fast. Should I be worried?" Her sister had preeclampsia last year.</a:t>
            </a:r>
            <a:endParaRPr sz="1450" b="0" i="0" u="none" strike="noStrike" cap="none">
              <a:solidFill>
                <a:schemeClr val="dk1"/>
              </a:solidFill>
              <a:latin typeface="Calibri"/>
              <a:ea typeface="Calibri"/>
              <a:cs typeface="Calibri"/>
              <a:sym typeface="Calibri"/>
            </a:endParaRPr>
          </a:p>
        </p:txBody>
      </p:sp>
      <p:sp>
        <p:nvSpPr>
          <p:cNvPr id="843" name="Google Shape;843;p46"/>
          <p:cNvSpPr/>
          <p:nvPr/>
        </p:nvSpPr>
        <p:spPr>
          <a:xfrm>
            <a:off x="347472" y="3154680"/>
            <a:ext cx="8412480"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350"/>
              <a:buFont typeface=" Arial"/>
              <a:buNone/>
            </a:pPr>
            <a:r>
              <a:rPr lang="en-US" sz="1350" b="1" i="0" u="none" strike="noStrike" cap="none">
                <a:solidFill>
                  <a:srgbClr val="5E376C"/>
                </a:solidFill>
                <a:latin typeface=" Arial"/>
                <a:ea typeface=" Arial"/>
                <a:cs typeface=" Arial"/>
                <a:sym typeface=" Arial"/>
              </a:rPr>
              <a:t>In your group, discuss:</a:t>
            </a:r>
            <a:endParaRPr sz="1350" b="0" i="0" u="none" strike="noStrike" cap="none">
              <a:solidFill>
                <a:schemeClr val="dk1"/>
              </a:solidFill>
              <a:latin typeface="Calibri"/>
              <a:ea typeface="Calibri"/>
              <a:cs typeface="Calibri"/>
              <a:sym typeface="Calibri"/>
            </a:endParaRPr>
          </a:p>
        </p:txBody>
      </p:sp>
      <p:sp>
        <p:nvSpPr>
          <p:cNvPr id="844" name="Google Shape;844;p46"/>
          <p:cNvSpPr/>
          <p:nvPr/>
        </p:nvSpPr>
        <p:spPr>
          <a:xfrm>
            <a:off x="347472" y="3456432"/>
            <a:ext cx="8412480" cy="109728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2D2D2D"/>
              </a:buClr>
              <a:buSzPts val="1450"/>
              <a:buFont typeface=" Arial"/>
              <a:buChar char="–"/>
            </a:pPr>
            <a:r>
              <a:rPr lang="en-US" sz="1450" b="0" i="0" u="none" strike="noStrike" cap="none">
                <a:solidFill>
                  <a:srgbClr val="2D2D2D"/>
                </a:solidFill>
                <a:latin typeface=" Arial"/>
                <a:ea typeface=" Arial"/>
                <a:cs typeface=" Arial"/>
                <a:sym typeface=" Arial"/>
              </a:rPr>
              <a:t>What do you text back — word for word?</a:t>
            </a:r>
            <a:endParaRPr sz="1450" b="0" i="0" u="none" strike="noStrike" cap="none">
              <a:solidFill>
                <a:schemeClr val="dk1"/>
              </a:solidFill>
              <a:latin typeface="Calibri"/>
              <a:ea typeface="Calibri"/>
              <a:cs typeface="Calibri"/>
              <a:sym typeface="Calibri"/>
            </a:endParaRPr>
          </a:p>
          <a:p>
            <a:pPr marL="177800" marR="0" lvl="0" indent="-177800" algn="l" rtl="0">
              <a:spcBef>
                <a:spcPts val="900"/>
              </a:spcBef>
              <a:spcAft>
                <a:spcPts val="0"/>
              </a:spcAft>
              <a:buClr>
                <a:srgbClr val="2D2D2D"/>
              </a:buClr>
              <a:buSzPts val="1450"/>
              <a:buFont typeface=" Arial"/>
              <a:buChar char="–"/>
            </a:pPr>
            <a:r>
              <a:rPr lang="en-US" sz="1450" b="0" i="0" u="none" strike="noStrike" cap="none">
                <a:solidFill>
                  <a:srgbClr val="2D2D2D"/>
                </a:solidFill>
                <a:latin typeface=" Arial"/>
                <a:ea typeface=" Arial"/>
                <a:cs typeface=" Arial"/>
                <a:sym typeface=" Arial"/>
              </a:rPr>
              <a:t>What would change if she said the headache started yesterday?</a:t>
            </a:r>
            <a:endParaRPr sz="1450" b="0" i="0" u="none" strike="noStrike" cap="none">
              <a:solidFill>
                <a:schemeClr val="dk1"/>
              </a:solidFill>
              <a:latin typeface="Calibri"/>
              <a:ea typeface="Calibri"/>
              <a:cs typeface="Calibri"/>
              <a:sym typeface="Calibri"/>
            </a:endParaRPr>
          </a:p>
          <a:p>
            <a:pPr marL="177800" marR="0" lvl="0" indent="-177800" algn="l" rtl="0">
              <a:spcBef>
                <a:spcPts val="900"/>
              </a:spcBef>
              <a:spcAft>
                <a:spcPts val="0"/>
              </a:spcAft>
              <a:buClr>
                <a:srgbClr val="2D2D2D"/>
              </a:buClr>
              <a:buSzPts val="1450"/>
              <a:buFont typeface=" Arial"/>
              <a:buChar char="–"/>
            </a:pPr>
            <a:r>
              <a:rPr lang="en-US" sz="1450" b="0" i="0" u="none" strike="noStrike" cap="none">
                <a:solidFill>
                  <a:srgbClr val="2D2D2D"/>
                </a:solidFill>
                <a:latin typeface=" Arial"/>
                <a:ea typeface=" Arial"/>
                <a:cs typeface=" Arial"/>
                <a:sym typeface=" Arial"/>
              </a:rPr>
              <a:t>She already called her provider and was told to "just rest and drink water" — what now?</a:t>
            </a:r>
            <a:endParaRPr sz="1450" b="0" i="0" u="none" strike="noStrike" cap="none">
              <a:solidFill>
                <a:schemeClr val="dk1"/>
              </a:solidFill>
              <a:latin typeface="Calibri"/>
              <a:ea typeface="Calibri"/>
              <a:cs typeface="Calibri"/>
              <a:sym typeface="Calibri"/>
            </a:endParaRPr>
          </a:p>
        </p:txBody>
      </p:sp>
      <p:sp>
        <p:nvSpPr>
          <p:cNvPr id="845" name="Google Shape;845;p46"/>
          <p:cNvSpPr/>
          <p:nvPr/>
        </p:nvSpPr>
        <p:spPr>
          <a:xfrm>
            <a:off x="0" y="4507992"/>
            <a:ext cx="9144000" cy="530352"/>
          </a:xfrm>
          <a:prstGeom prst="rect">
            <a:avLst/>
          </a:prstGeom>
          <a:solidFill>
            <a:srgbClr val="845995"/>
          </a:solidFill>
          <a:ln w="12700" cap="flat" cmpd="sng">
            <a:solidFill>
              <a:srgbClr val="8459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6"/>
          <p:cNvSpPr/>
          <p:nvPr/>
        </p:nvSpPr>
        <p:spPr>
          <a:xfrm>
            <a:off x="274320" y="4562856"/>
            <a:ext cx="8595360" cy="4389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50"/>
              <a:buFont typeface=" Arial"/>
              <a:buNone/>
            </a:pPr>
            <a:r>
              <a:rPr lang="en-US" sz="1250" b="1" i="0" u="none" strike="noStrike" cap="none">
                <a:solidFill>
                  <a:srgbClr val="FFFFFF"/>
                </a:solidFill>
                <a:latin typeface=" Arial"/>
                <a:ea typeface=" Arial"/>
                <a:cs typeface=" Arial"/>
                <a:sym typeface=" Arial"/>
              </a:rPr>
              <a:t>WHAT IF she also mentions seeing spots?  →  911 or immediate drive to L&amp;D. Do not wait.</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1"/>
        <p:cNvGrpSpPr/>
        <p:nvPr/>
      </p:nvGrpSpPr>
      <p:grpSpPr>
        <a:xfrm>
          <a:off x="0" y="0"/>
          <a:ext cx="0" cy="0"/>
          <a:chOff x="0" y="0"/>
          <a:chExt cx="0" cy="0"/>
        </a:xfrm>
      </p:grpSpPr>
      <p:sp>
        <p:nvSpPr>
          <p:cNvPr id="852" name="Google Shape;852;p47"/>
          <p:cNvSpPr/>
          <p:nvPr/>
        </p:nvSpPr>
        <p:spPr>
          <a:xfrm>
            <a:off x="0" y="0"/>
            <a:ext cx="9144000" cy="841248"/>
          </a:xfrm>
          <a:prstGeom prst="rect">
            <a:avLst/>
          </a:prstGeom>
          <a:solidFill>
            <a:srgbClr val="F0FDF4"/>
          </a:solidFill>
          <a:ln w="12700" cap="flat" cmpd="sng">
            <a:solidFill>
              <a:srgbClr val="F0FD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7"/>
          <p:cNvSpPr/>
          <p:nvPr/>
        </p:nvSpPr>
        <p:spPr>
          <a:xfrm>
            <a:off x="0" y="0"/>
            <a:ext cx="73152" cy="841248"/>
          </a:xfrm>
          <a:prstGeom prst="rect">
            <a:avLst/>
          </a:prstGeom>
          <a:solidFill>
            <a:srgbClr val="059669"/>
          </a:solidFill>
          <a:ln w="12700"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7"/>
          <p:cNvSpPr/>
          <p:nvPr/>
        </p:nvSpPr>
        <p:spPr>
          <a:xfrm>
            <a:off x="201168" y="91440"/>
            <a:ext cx="8686800" cy="219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9669"/>
              </a:buClr>
              <a:buSzPts val="1000"/>
              <a:buFont typeface=" Arial"/>
              <a:buNone/>
            </a:pPr>
            <a:r>
              <a:rPr lang="en-US" sz="1000" b="1" i="0" u="none" strike="noStrike" cap="none">
                <a:solidFill>
                  <a:srgbClr val="059669"/>
                </a:solidFill>
                <a:latin typeface=" Arial"/>
                <a:ea typeface=" Arial"/>
                <a:cs typeface=" Arial"/>
                <a:sym typeface=" Arial"/>
              </a:rPr>
              <a:t>KEY TAKEAWAYS  ·  NIGHT 1</a:t>
            </a:r>
            <a:endParaRPr sz="1000" b="0" i="0" u="none" strike="noStrike" cap="none">
              <a:solidFill>
                <a:schemeClr val="dk1"/>
              </a:solidFill>
              <a:latin typeface="Calibri"/>
              <a:ea typeface="Calibri"/>
              <a:cs typeface="Calibri"/>
              <a:sym typeface="Calibri"/>
            </a:endParaRPr>
          </a:p>
        </p:txBody>
      </p:sp>
      <p:sp>
        <p:nvSpPr>
          <p:cNvPr id="855" name="Google Shape;855;p47"/>
          <p:cNvSpPr/>
          <p:nvPr/>
        </p:nvSpPr>
        <p:spPr>
          <a:xfrm>
            <a:off x="201168" y="384048"/>
            <a:ext cx="868680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5E376C"/>
              </a:buClr>
              <a:buSzPts val="1900"/>
              <a:buFont typeface="Georgia"/>
              <a:buNone/>
            </a:pPr>
            <a:r>
              <a:rPr lang="en-US" sz="1900" b="1" i="0" u="none" strike="noStrike" cap="none">
                <a:solidFill>
                  <a:srgbClr val="5E376C"/>
                </a:solidFill>
                <a:latin typeface="Georgia"/>
                <a:ea typeface="Georgia"/>
                <a:cs typeface="Georgia"/>
                <a:sym typeface="Georgia"/>
              </a:rPr>
              <a:t>What to carry with you from tonight</a:t>
            </a:r>
            <a:endParaRPr sz="1900" b="0" i="0" u="none" strike="noStrike" cap="none">
              <a:solidFill>
                <a:schemeClr val="dk1"/>
              </a:solidFill>
              <a:latin typeface="Calibri"/>
              <a:ea typeface="Calibri"/>
              <a:cs typeface="Calibri"/>
              <a:sym typeface="Calibri"/>
            </a:endParaRPr>
          </a:p>
        </p:txBody>
      </p:sp>
      <p:sp>
        <p:nvSpPr>
          <p:cNvPr id="856" name="Google Shape;856;p47"/>
          <p:cNvSpPr/>
          <p:nvPr/>
        </p:nvSpPr>
        <p:spPr>
          <a:xfrm>
            <a:off x="256032" y="868680"/>
            <a:ext cx="4261104" cy="1261872"/>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7"/>
          <p:cNvSpPr/>
          <p:nvPr/>
        </p:nvSpPr>
        <p:spPr>
          <a:xfrm>
            <a:off x="384048" y="978408"/>
            <a:ext cx="502920"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01</a:t>
            </a:r>
            <a:endParaRPr sz="2200" b="0" i="0" u="none" strike="noStrike" cap="none">
              <a:solidFill>
                <a:schemeClr val="dk1"/>
              </a:solidFill>
              <a:latin typeface="Calibri"/>
              <a:ea typeface="Calibri"/>
              <a:cs typeface="Calibri"/>
              <a:sym typeface="Calibri"/>
            </a:endParaRPr>
          </a:p>
        </p:txBody>
      </p:sp>
      <p:sp>
        <p:nvSpPr>
          <p:cNvPr id="858" name="Google Shape;858;p47"/>
          <p:cNvSpPr/>
          <p:nvPr/>
        </p:nvSpPr>
        <p:spPr>
          <a:xfrm>
            <a:off x="1005840" y="978408"/>
            <a:ext cx="3383280" cy="1024128"/>
          </a:xfrm>
          <a:prstGeom prst="rect">
            <a:avLst/>
          </a:prstGeom>
          <a:noFill/>
          <a:ln>
            <a:noFill/>
          </a:ln>
        </p:spPr>
        <p:txBody>
          <a:bodyPr spcFirstLastPara="1" wrap="square" lIns="0" tIns="0" rIns="0" bIns="0" anchor="ctr" anchorCtr="0">
            <a:noAutofit/>
          </a:bodyPr>
          <a:lstStyle/>
          <a:p>
            <a:pPr marL="0" marR="0" lvl="0" indent="0" algn="l" rtl="0">
              <a:lnSpc>
                <a:spcPct val="135000"/>
              </a:lnSpc>
              <a:spcBef>
                <a:spcPts val="0"/>
              </a:spcBef>
              <a:spcAft>
                <a:spcPts val="0"/>
              </a:spcAft>
              <a:buClr>
                <a:srgbClr val="2D2D2D"/>
              </a:buClr>
              <a:buSzPts val="1250"/>
              <a:buFont typeface=" Arial"/>
              <a:buNone/>
            </a:pPr>
            <a:r>
              <a:rPr lang="en-US" sz="1250" b="0" i="0" u="none" strike="noStrike" cap="none">
                <a:solidFill>
                  <a:srgbClr val="2D2D2D"/>
                </a:solidFill>
                <a:latin typeface=" Arial"/>
                <a:ea typeface=" Arial"/>
                <a:cs typeface=" Arial"/>
                <a:sym typeface=" Arial"/>
              </a:rPr>
              <a:t>A 40-week transformation. Understand it to support it.</a:t>
            </a:r>
            <a:endParaRPr sz="1250" b="0" i="0" u="none" strike="noStrike" cap="none">
              <a:solidFill>
                <a:schemeClr val="dk1"/>
              </a:solidFill>
              <a:latin typeface="Calibri"/>
              <a:ea typeface="Calibri"/>
              <a:cs typeface="Calibri"/>
              <a:sym typeface="Calibri"/>
            </a:endParaRPr>
          </a:p>
        </p:txBody>
      </p:sp>
      <p:sp>
        <p:nvSpPr>
          <p:cNvPr id="859" name="Google Shape;859;p47"/>
          <p:cNvSpPr/>
          <p:nvPr/>
        </p:nvSpPr>
        <p:spPr>
          <a:xfrm>
            <a:off x="4700016" y="868680"/>
            <a:ext cx="4261104" cy="1261872"/>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7"/>
          <p:cNvSpPr/>
          <p:nvPr/>
        </p:nvSpPr>
        <p:spPr>
          <a:xfrm>
            <a:off x="4828032" y="978408"/>
            <a:ext cx="502920"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02</a:t>
            </a:r>
            <a:endParaRPr sz="2200" b="0" i="0" u="none" strike="noStrike" cap="none">
              <a:solidFill>
                <a:schemeClr val="dk1"/>
              </a:solidFill>
              <a:latin typeface="Calibri"/>
              <a:ea typeface="Calibri"/>
              <a:cs typeface="Calibri"/>
              <a:sym typeface="Calibri"/>
            </a:endParaRPr>
          </a:p>
        </p:txBody>
      </p:sp>
      <p:sp>
        <p:nvSpPr>
          <p:cNvPr id="861" name="Google Shape;861;p47"/>
          <p:cNvSpPr/>
          <p:nvPr/>
        </p:nvSpPr>
        <p:spPr>
          <a:xfrm>
            <a:off x="5449824" y="978408"/>
            <a:ext cx="3383280" cy="1024128"/>
          </a:xfrm>
          <a:prstGeom prst="rect">
            <a:avLst/>
          </a:prstGeom>
          <a:noFill/>
          <a:ln>
            <a:noFill/>
          </a:ln>
        </p:spPr>
        <p:txBody>
          <a:bodyPr spcFirstLastPara="1" wrap="square" lIns="0" tIns="0" rIns="0" bIns="0" anchor="ctr" anchorCtr="0">
            <a:noAutofit/>
          </a:bodyPr>
          <a:lstStyle/>
          <a:p>
            <a:pPr marL="0" marR="0" lvl="0" indent="0" algn="l" rtl="0">
              <a:lnSpc>
                <a:spcPct val="135000"/>
              </a:lnSpc>
              <a:spcBef>
                <a:spcPts val="0"/>
              </a:spcBef>
              <a:spcAft>
                <a:spcPts val="0"/>
              </a:spcAft>
              <a:buClr>
                <a:srgbClr val="2D2D2D"/>
              </a:buClr>
              <a:buSzPts val="1250"/>
              <a:buFont typeface=" Arial"/>
              <a:buNone/>
            </a:pPr>
            <a:r>
              <a:rPr lang="en-US" sz="1250" b="0" i="0" u="none" strike="noStrike" cap="none">
                <a:solidFill>
                  <a:srgbClr val="2D2D2D"/>
                </a:solidFill>
                <a:latin typeface=" Arial"/>
                <a:ea typeface=" Arial"/>
                <a:cs typeface=" Arial"/>
                <a:sym typeface=" Arial"/>
              </a:rPr>
              <a:t>Prenatal period is where trust is built.</a:t>
            </a:r>
            <a:endParaRPr sz="1250" b="0" i="0" u="none" strike="noStrike" cap="none">
              <a:solidFill>
                <a:schemeClr val="dk1"/>
              </a:solidFill>
              <a:latin typeface="Calibri"/>
              <a:ea typeface="Calibri"/>
              <a:cs typeface="Calibri"/>
              <a:sym typeface="Calibri"/>
            </a:endParaRPr>
          </a:p>
        </p:txBody>
      </p:sp>
      <p:sp>
        <p:nvSpPr>
          <p:cNvPr id="862" name="Google Shape;862;p47"/>
          <p:cNvSpPr/>
          <p:nvPr/>
        </p:nvSpPr>
        <p:spPr>
          <a:xfrm>
            <a:off x="256032" y="2148840"/>
            <a:ext cx="4261104" cy="1261872"/>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7"/>
          <p:cNvSpPr/>
          <p:nvPr/>
        </p:nvSpPr>
        <p:spPr>
          <a:xfrm>
            <a:off x="384048" y="2258568"/>
            <a:ext cx="502920"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03</a:t>
            </a:r>
            <a:endParaRPr sz="2200" b="0" i="0" u="none" strike="noStrike" cap="none">
              <a:solidFill>
                <a:schemeClr val="dk1"/>
              </a:solidFill>
              <a:latin typeface="Calibri"/>
              <a:ea typeface="Calibri"/>
              <a:cs typeface="Calibri"/>
              <a:sym typeface="Calibri"/>
            </a:endParaRPr>
          </a:p>
        </p:txBody>
      </p:sp>
      <p:sp>
        <p:nvSpPr>
          <p:cNvPr id="864" name="Google Shape;864;p47"/>
          <p:cNvSpPr/>
          <p:nvPr/>
        </p:nvSpPr>
        <p:spPr>
          <a:xfrm>
            <a:off x="1005840" y="2258568"/>
            <a:ext cx="3383280" cy="1024128"/>
          </a:xfrm>
          <a:prstGeom prst="rect">
            <a:avLst/>
          </a:prstGeom>
          <a:noFill/>
          <a:ln>
            <a:noFill/>
          </a:ln>
        </p:spPr>
        <p:txBody>
          <a:bodyPr spcFirstLastPara="1" wrap="square" lIns="0" tIns="0" rIns="0" bIns="0" anchor="ctr" anchorCtr="0">
            <a:noAutofit/>
          </a:bodyPr>
          <a:lstStyle/>
          <a:p>
            <a:pPr marL="0" marR="0" lvl="0" indent="0" algn="l" rtl="0">
              <a:lnSpc>
                <a:spcPct val="135000"/>
              </a:lnSpc>
              <a:spcBef>
                <a:spcPts val="0"/>
              </a:spcBef>
              <a:spcAft>
                <a:spcPts val="0"/>
              </a:spcAft>
              <a:buClr>
                <a:srgbClr val="2D2D2D"/>
              </a:buClr>
              <a:buSzPts val="1250"/>
              <a:buFont typeface=" Arial"/>
              <a:buNone/>
            </a:pPr>
            <a:r>
              <a:rPr lang="en-US" sz="1250" b="0" i="0" u="none" strike="noStrike" cap="none">
                <a:solidFill>
                  <a:srgbClr val="2D2D2D"/>
                </a:solidFill>
                <a:latin typeface=" Arial"/>
                <a:ea typeface=" Arial"/>
                <a:cs typeface=" Arial"/>
                <a:sym typeface=" Arial"/>
              </a:rPr>
              <a:t>Normalize discomforts. Evidence-based strategies are clinical skills.</a:t>
            </a:r>
            <a:endParaRPr sz="1250" b="0" i="0" u="none" strike="noStrike" cap="none">
              <a:solidFill>
                <a:schemeClr val="dk1"/>
              </a:solidFill>
              <a:latin typeface="Calibri"/>
              <a:ea typeface="Calibri"/>
              <a:cs typeface="Calibri"/>
              <a:sym typeface="Calibri"/>
            </a:endParaRPr>
          </a:p>
        </p:txBody>
      </p:sp>
      <p:sp>
        <p:nvSpPr>
          <p:cNvPr id="865" name="Google Shape;865;p47"/>
          <p:cNvSpPr/>
          <p:nvPr/>
        </p:nvSpPr>
        <p:spPr>
          <a:xfrm>
            <a:off x="4700016" y="2148840"/>
            <a:ext cx="4261104" cy="1261872"/>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7"/>
          <p:cNvSpPr/>
          <p:nvPr/>
        </p:nvSpPr>
        <p:spPr>
          <a:xfrm>
            <a:off x="4828032" y="2258568"/>
            <a:ext cx="502920"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04</a:t>
            </a:r>
            <a:endParaRPr sz="2200" b="0" i="0" u="none" strike="noStrike" cap="none">
              <a:solidFill>
                <a:schemeClr val="dk1"/>
              </a:solidFill>
              <a:latin typeface="Calibri"/>
              <a:ea typeface="Calibri"/>
              <a:cs typeface="Calibri"/>
              <a:sym typeface="Calibri"/>
            </a:endParaRPr>
          </a:p>
        </p:txBody>
      </p:sp>
      <p:sp>
        <p:nvSpPr>
          <p:cNvPr id="867" name="Google Shape;867;p47"/>
          <p:cNvSpPr/>
          <p:nvPr/>
        </p:nvSpPr>
        <p:spPr>
          <a:xfrm>
            <a:off x="5449824" y="2258568"/>
            <a:ext cx="3383280" cy="1024128"/>
          </a:xfrm>
          <a:prstGeom prst="rect">
            <a:avLst/>
          </a:prstGeom>
          <a:noFill/>
          <a:ln>
            <a:noFill/>
          </a:ln>
        </p:spPr>
        <p:txBody>
          <a:bodyPr spcFirstLastPara="1" wrap="square" lIns="0" tIns="0" rIns="0" bIns="0" anchor="ctr" anchorCtr="0">
            <a:noAutofit/>
          </a:bodyPr>
          <a:lstStyle/>
          <a:p>
            <a:pPr marL="0" marR="0" lvl="0" indent="0" algn="l" rtl="0">
              <a:lnSpc>
                <a:spcPct val="135000"/>
              </a:lnSpc>
              <a:spcBef>
                <a:spcPts val="0"/>
              </a:spcBef>
              <a:spcAft>
                <a:spcPts val="0"/>
              </a:spcAft>
              <a:buClr>
                <a:srgbClr val="2D2D2D"/>
              </a:buClr>
              <a:buSzPts val="1250"/>
              <a:buFont typeface=" Arial"/>
              <a:buNone/>
            </a:pPr>
            <a:r>
              <a:rPr lang="en-US" sz="1250" b="0" i="0" u="none" strike="noStrike" cap="none">
                <a:solidFill>
                  <a:srgbClr val="2D2D2D"/>
                </a:solidFill>
                <a:latin typeface=" Arial"/>
                <a:ea typeface=" Arial"/>
                <a:cs typeface=" Arial"/>
                <a:sym typeface=" Arial"/>
              </a:rPr>
              <a:t>Memorize warning signs. Preeclampsia can develop postpartum.</a:t>
            </a:r>
            <a:endParaRPr sz="1250" b="0" i="0" u="none" strike="noStrike" cap="none">
              <a:solidFill>
                <a:schemeClr val="dk1"/>
              </a:solidFill>
              <a:latin typeface="Calibri"/>
              <a:ea typeface="Calibri"/>
              <a:cs typeface="Calibri"/>
              <a:sym typeface="Calibri"/>
            </a:endParaRPr>
          </a:p>
        </p:txBody>
      </p:sp>
      <p:sp>
        <p:nvSpPr>
          <p:cNvPr id="868" name="Google Shape;868;p47"/>
          <p:cNvSpPr/>
          <p:nvPr/>
        </p:nvSpPr>
        <p:spPr>
          <a:xfrm>
            <a:off x="256032" y="3429000"/>
            <a:ext cx="4261104" cy="1261872"/>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7"/>
          <p:cNvSpPr/>
          <p:nvPr/>
        </p:nvSpPr>
        <p:spPr>
          <a:xfrm>
            <a:off x="384048" y="3538728"/>
            <a:ext cx="502920"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05</a:t>
            </a:r>
            <a:endParaRPr sz="2200" b="0" i="0" u="none" strike="noStrike" cap="none">
              <a:solidFill>
                <a:schemeClr val="dk1"/>
              </a:solidFill>
              <a:latin typeface="Calibri"/>
              <a:ea typeface="Calibri"/>
              <a:cs typeface="Calibri"/>
              <a:sym typeface="Calibri"/>
            </a:endParaRPr>
          </a:p>
        </p:txBody>
      </p:sp>
      <p:sp>
        <p:nvSpPr>
          <p:cNvPr id="870" name="Google Shape;870;p47"/>
          <p:cNvSpPr/>
          <p:nvPr/>
        </p:nvSpPr>
        <p:spPr>
          <a:xfrm>
            <a:off x="1005840" y="3538728"/>
            <a:ext cx="3383280" cy="1024128"/>
          </a:xfrm>
          <a:prstGeom prst="rect">
            <a:avLst/>
          </a:prstGeom>
          <a:noFill/>
          <a:ln>
            <a:noFill/>
          </a:ln>
        </p:spPr>
        <p:txBody>
          <a:bodyPr spcFirstLastPara="1" wrap="square" lIns="0" tIns="0" rIns="0" bIns="0" anchor="ctr" anchorCtr="0">
            <a:noAutofit/>
          </a:bodyPr>
          <a:lstStyle/>
          <a:p>
            <a:pPr marL="0" marR="0" lvl="0" indent="0" algn="l" rtl="0">
              <a:lnSpc>
                <a:spcPct val="135000"/>
              </a:lnSpc>
              <a:spcBef>
                <a:spcPts val="0"/>
              </a:spcBef>
              <a:spcAft>
                <a:spcPts val="0"/>
              </a:spcAft>
              <a:buClr>
                <a:srgbClr val="2D2D2D"/>
              </a:buClr>
              <a:buSzPts val="1250"/>
              <a:buFont typeface=" Arial"/>
              <a:buNone/>
            </a:pPr>
            <a:r>
              <a:rPr lang="en-US" sz="1250" b="0" i="0" u="none" strike="noStrike" cap="none">
                <a:solidFill>
                  <a:srgbClr val="2D2D2D"/>
                </a:solidFill>
                <a:latin typeface=" Arial"/>
                <a:ea typeface=" Arial"/>
                <a:cs typeface=" Arial"/>
                <a:sym typeface=" Arial"/>
              </a:rPr>
              <a:t>Maternal disparities are systemic. Your advocacy matters.</a:t>
            </a:r>
            <a:endParaRPr sz="1250" b="0" i="0" u="none" strike="noStrike" cap="none">
              <a:solidFill>
                <a:schemeClr val="dk1"/>
              </a:solidFill>
              <a:latin typeface="Calibri"/>
              <a:ea typeface="Calibri"/>
              <a:cs typeface="Calibri"/>
              <a:sym typeface="Calibri"/>
            </a:endParaRPr>
          </a:p>
        </p:txBody>
      </p:sp>
      <p:sp>
        <p:nvSpPr>
          <p:cNvPr id="871" name="Google Shape;871;p47"/>
          <p:cNvSpPr/>
          <p:nvPr/>
        </p:nvSpPr>
        <p:spPr>
          <a:xfrm>
            <a:off x="4700016" y="3429000"/>
            <a:ext cx="4261104" cy="1261872"/>
          </a:xfrm>
          <a:prstGeom prst="rect">
            <a:avLst/>
          </a:prstGeom>
          <a:solidFill>
            <a:srgbClr val="F8F5FA"/>
          </a:solidFill>
          <a:ln w="12700" cap="flat" cmpd="sng">
            <a:solidFill>
              <a:srgbClr val="D4BADD"/>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7"/>
          <p:cNvSpPr/>
          <p:nvPr/>
        </p:nvSpPr>
        <p:spPr>
          <a:xfrm>
            <a:off x="4828032" y="3538728"/>
            <a:ext cx="502920"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4BADD"/>
              </a:buClr>
              <a:buSzPts val="2200"/>
              <a:buFont typeface="Georgia"/>
              <a:buNone/>
            </a:pPr>
            <a:r>
              <a:rPr lang="en-US" sz="2200" b="1" i="0" u="none" strike="noStrike" cap="none">
                <a:solidFill>
                  <a:srgbClr val="D4BADD"/>
                </a:solidFill>
                <a:latin typeface="Georgia"/>
                <a:ea typeface="Georgia"/>
                <a:cs typeface="Georgia"/>
                <a:sym typeface="Georgia"/>
              </a:rPr>
              <a:t>06</a:t>
            </a:r>
            <a:endParaRPr sz="2200" b="0" i="0" u="none" strike="noStrike" cap="none">
              <a:solidFill>
                <a:schemeClr val="dk1"/>
              </a:solidFill>
              <a:latin typeface="Calibri"/>
              <a:ea typeface="Calibri"/>
              <a:cs typeface="Calibri"/>
              <a:sym typeface="Calibri"/>
            </a:endParaRPr>
          </a:p>
        </p:txBody>
      </p:sp>
      <p:sp>
        <p:nvSpPr>
          <p:cNvPr id="873" name="Google Shape;873;p47"/>
          <p:cNvSpPr/>
          <p:nvPr/>
        </p:nvSpPr>
        <p:spPr>
          <a:xfrm>
            <a:off x="5449824" y="3538728"/>
            <a:ext cx="3383280" cy="1024128"/>
          </a:xfrm>
          <a:prstGeom prst="rect">
            <a:avLst/>
          </a:prstGeom>
          <a:noFill/>
          <a:ln>
            <a:noFill/>
          </a:ln>
        </p:spPr>
        <p:txBody>
          <a:bodyPr spcFirstLastPara="1" wrap="square" lIns="0" tIns="0" rIns="0" bIns="0" anchor="ctr" anchorCtr="0">
            <a:noAutofit/>
          </a:bodyPr>
          <a:lstStyle/>
          <a:p>
            <a:pPr marL="0" marR="0" lvl="0" indent="0" algn="l" rtl="0">
              <a:lnSpc>
                <a:spcPct val="135000"/>
              </a:lnSpc>
              <a:spcBef>
                <a:spcPts val="0"/>
              </a:spcBef>
              <a:spcAft>
                <a:spcPts val="0"/>
              </a:spcAft>
              <a:buClr>
                <a:srgbClr val="2D2D2D"/>
              </a:buClr>
              <a:buSzPts val="1250"/>
              <a:buFont typeface=" Arial"/>
              <a:buNone/>
            </a:pPr>
            <a:r>
              <a:rPr lang="en-US" sz="1250" b="0" i="0" u="none" strike="noStrike" cap="none">
                <a:solidFill>
                  <a:srgbClr val="2D2D2D"/>
                </a:solidFill>
                <a:latin typeface=" Arial"/>
                <a:ea typeface=" Arial"/>
                <a:cs typeface=" Arial"/>
                <a:sym typeface=" Arial"/>
              </a:rPr>
              <a:t>Your scope: observe, educate, advocate, support — never diagnose.</a:t>
            </a:r>
            <a:endParaRPr sz="1250" b="0" i="0" u="none" strike="noStrike" cap="none">
              <a:solidFill>
                <a:schemeClr val="dk1"/>
              </a:solidFill>
              <a:latin typeface="Calibri"/>
              <a:ea typeface="Calibri"/>
              <a:cs typeface="Calibri"/>
              <a:sym typeface="Calibri"/>
            </a:endParaRPr>
          </a:p>
        </p:txBody>
      </p:sp>
      <p:sp>
        <p:nvSpPr>
          <p:cNvPr id="874" name="Google Shape;874;p47"/>
          <p:cNvSpPr/>
          <p:nvPr/>
        </p:nvSpPr>
        <p:spPr>
          <a:xfrm>
            <a:off x="0" y="4887468"/>
            <a:ext cx="9144000" cy="256032"/>
          </a:xfrm>
          <a:prstGeom prst="rect">
            <a:avLst/>
          </a:prstGeom>
          <a:solidFill>
            <a:srgbClr val="5E376C"/>
          </a:solidFill>
          <a:ln w="12700" cap="flat" cmpd="sng">
            <a:solidFill>
              <a:srgbClr val="5E37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7"/>
          <p:cNvSpPr/>
          <p:nvPr/>
        </p:nvSpPr>
        <p:spPr>
          <a:xfrm>
            <a:off x="0" y="4896612"/>
            <a:ext cx="886968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D4BADD"/>
              </a:buClr>
              <a:buSzPts val="800"/>
              <a:buFont typeface=" Arial"/>
              <a:buNone/>
            </a:pPr>
            <a:r>
              <a:rPr lang="en-US" sz="800" b="0" i="0" u="none" strike="noStrike" cap="none">
                <a:solidFill>
                  <a:srgbClr val="D4BADD"/>
                </a:solidFill>
                <a:latin typeface=" Arial"/>
                <a:ea typeface=" Arial"/>
                <a:cs typeface=" Arial"/>
                <a:sym typeface=" Arial"/>
              </a:rPr>
              <a:t>Mary's Hands Network  ·  ICBD Hybrid Training  ·  Night 1</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8F37F813C2C9408C606DF61D003BBB" ma:contentTypeVersion="12" ma:contentTypeDescription="Create a new document." ma:contentTypeScope="" ma:versionID="c7d550912683b2666c998548ab3a797b">
  <xsd:schema xmlns:xsd="http://www.w3.org/2001/XMLSchema" xmlns:xs="http://www.w3.org/2001/XMLSchema" xmlns:p="http://schemas.microsoft.com/office/2006/metadata/properties" xmlns:ns2="f9cf175a-52c4-4d9a-b10b-1b73b60e10eb" xmlns:ns3="d797d26f-9713-467f-b3fe-84ac0e5e8f9e" targetNamespace="http://schemas.microsoft.com/office/2006/metadata/properties" ma:root="true" ma:fieldsID="95eac179afbb9c4e8c282a1d71f73d98" ns2:_="" ns3:_="">
    <xsd:import namespace="f9cf175a-52c4-4d9a-b10b-1b73b60e10eb"/>
    <xsd:import namespace="d797d26f-9713-467f-b3fe-84ac0e5e8f9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cf175a-52c4-4d9a-b10b-1b73b60e10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75dca9c-106c-4ae2-9548-35d2173e47f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797d26f-9713-467f-b3fe-84ac0e5e8f9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e6e897e-50b3-42c4-897f-37cc1add5eeb}" ma:internalName="TaxCatchAll" ma:showField="CatchAllData" ma:web="d797d26f-9713-467f-b3fe-84ac0e5e8f9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9cf175a-52c4-4d9a-b10b-1b73b60e10eb">
      <Terms xmlns="http://schemas.microsoft.com/office/infopath/2007/PartnerControls"/>
    </lcf76f155ced4ddcb4097134ff3c332f>
    <TaxCatchAll xmlns="d797d26f-9713-467f-b3fe-84ac0e5e8f9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C92A0E-F65D-43BB-BDC7-6C211AA1D71C}">
  <ds:schemaRefs>
    <ds:schemaRef ds:uri="d797d26f-9713-467f-b3fe-84ac0e5e8f9e"/>
    <ds:schemaRef ds:uri="f9cf175a-52c4-4d9a-b10b-1b73b60e10e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F6069C3-EC8B-45FB-83BC-D612676EE633}">
  <ds:schemaRefs>
    <ds:schemaRef ds:uri="d797d26f-9713-467f-b3fe-84ac0e5e8f9e"/>
    <ds:schemaRef ds:uri="f9cf175a-52c4-4d9a-b10b-1b73b60e10e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9E2E919-8416-49D8-B365-5C1F273378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46</Slides>
  <Notes>46</Notes>
  <HiddenSlides>0</HiddenSlide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Madeline LeBlanc</dc:creator>
  <cp:revision>3</cp:revision>
  <dcterms:created xsi:type="dcterms:W3CDTF">2026-03-26T18:23:16Z</dcterms:created>
  <dcterms:modified xsi:type="dcterms:W3CDTF">2026-05-11T01:22:32Z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0x010100118F37F813C2C9408C606DF61D003BBB</vt:lpwstr>
  </property>
  <property fmtid="{D5CDD505-2E9C-101B-9397-08002B2CF9AE}" pid="3" name="MediaServiceImageTags">
    <vt:lpwstr/>
  </property>
</Properties>
</file>