
<file path=[Content_Types].xml><?xml version="1.0" encoding="utf-8"?>
<Types xmlns="http://schemas.openxmlformats.org/package/2006/content-types">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309" r:id="rId63"/>
    <p:sldId id="274" r:id="rId23"/>
    <p:sldId id="275" r:id="rId24"/>
    <p:sldId id="276" r:id="rId25"/>
    <p:sldId id="277" r:id="rId26"/>
    <p:sldId id="278" r:id="rId27"/>
    <p:sldId id="279" r:id="rId28"/>
    <p:sldId id="280" r:id="rId29"/>
    <p:sldId id="281" r:id="rId30"/>
    <p:sldId id="282" r:id="rId31"/>
    <p:sldId id="283" r:id="rId32"/>
    <p:sldId id="284" r:id="rId33"/>
    <p:sldId id="285" r:id="rId34"/>
    <p:sldId id="287" r:id="rId36"/>
    <p:sldId id="288" r:id="rId37"/>
    <p:sldId id="289" r:id="rId38"/>
    <p:sldId id="290" r:id="rId39"/>
    <p:sldId id="291" r:id="rId40"/>
    <p:sldId id="292" r:id="rId41"/>
    <p:sldId id="286" r:id="rId35"/>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8.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 Id="rId6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A362C68A-8A56-4CC3-A022-E549B370349D}" type="datetimeFigureOut">
              <a:t>5/10/2026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5E590ECF-4133-4C7E-88B3-23A8634F4717}" type="slidenum">
              <a:t>‹#›</a:t>
            </a:fld>
            <a:endParaRPr lang="en-US"/>
          </a:p>
        </p:txBody>
      </p:sp>
    </p:spTree>
    <p:extLst>
      <p:ext uri="{BB962C8B-B14F-4D97-AF65-F5344CB8AC3E}">
        <p14:creationId xmlns:p14="http://schemas.microsoft.com/office/powerpoint/2010/main" val="2529413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Distinguish between the four stages and three phases of labor and describe what happens in each</a:t>
            </a:r>
          </a:p>
          <a:p>
            <a:r>
              <a:t>–  Explain how labor hormones support physiological birth — and how a doula's presence influences them</a:t>
            </a:r>
          </a:p>
          <a:p>
            <a:r>
              <a:t>–  Identify the Six P's that determine labor progress</a:t>
            </a:r>
          </a:p>
          <a:p>
            <a:r>
              <a:t>–  Describe methods of induction and augmentation, including the evidence behind the ARRIVE trial</a:t>
            </a:r>
          </a:p>
          <a:p>
            <a:r>
              <a:t>–  Explain the doula's role with a medicated client, including appropriate scope with an epiduralized client</a:t>
            </a:r>
          </a:p>
          <a:p>
            <a:r>
              <a:t>–  Recognize complications including OP positioning, prolonged labor, shoulder dystocia, and cesarean birth</a:t>
            </a:r>
          </a:p>
          <a:p>
            <a:r>
              <a:t>–  Describe the doula's role when birth becomes loss — language, presence, and memory-making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Stage 1: Labor (0–10 cm dilation)</a:t>
            </a:r>
          </a:p>
          <a:p>
            <a:r>
              <a:t>–  Stage 2: Pushing &amp; birth (10 cm to baby born)</a:t>
            </a:r>
          </a:p>
          <a:p>
            <a:r>
              <a:t>–  Stage 3: Placenta delivery</a:t>
            </a:r>
          </a:p>
          <a:p>
            <a:r>
              <a:t>–  Stage 4: Recovery — the Golden Hour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Cervix softening, thinning (effacing), and beginning to open</a:t>
            </a:r>
          </a:p>
          <a:p>
            <a:r>
              <a:t>–  Dilation: roughly 0–6 cm</a:t>
            </a:r>
          </a:p>
          <a:p>
            <a:r>
              <a:t>–  Contractions: irregular, 30–45 sec, spaced 5–20 min apart</a:t>
            </a:r>
          </a:p>
          <a:p>
            <a:r>
              <a:t>–  Manageable at home — rest, eat, hydrate</a:t>
            </a:r>
          </a:p>
          <a:p>
            <a:r>
              <a:t>–  Often chatty, restless, excited; nesting burst is common</a:t>
            </a:r>
          </a:p>
          <a:p>
            <a:r>
              <a:t>–  Duration: 8–24 hours for first babies, sometimes longer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Contractions that may be regular and painful but stop and start without cervical change</a:t>
            </a:r>
          </a:p>
          <a:p>
            <a:r>
              <a:t>–  Hospital may send her home — this is demoralizing and real</a:t>
            </a:r>
          </a:p>
          <a:p>
            <a:r>
              <a:t>–  Happens because baby needs to shift position, or the cervix needs more time to ripen</a:t>
            </a:r>
          </a:p>
          <a:p>
            <a:r>
              <a:t>–  Sometimes fear or stress is keeping hormones from triggering active labor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Dilation: roughly 6–8 cm</a:t>
            </a:r>
          </a:p>
          <a:p>
            <a:r>
              <a:t>–  Contractions every 3–5 min, lasting 45–90 sec</a:t>
            </a:r>
          </a:p>
          <a:p>
            <a:r>
              <a:t>–  Strong enough that talking stops — coping begins</a:t>
            </a:r>
          </a:p>
          <a:p>
            <a:r>
              <a:t>–  Hospital typically admits at or near this phase</a:t>
            </a:r>
          </a:p>
          <a:p>
            <a:r>
              <a:t>–  Cervix dilating 1–2 cm/hour on average (varies widely)</a:t>
            </a:r>
          </a:p>
          <a:p>
            <a:r>
              <a:t>–  Client turns inward — protect her focus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Dilation: 8–10 cm</a:t>
            </a:r>
          </a:p>
          <a:p>
            <a:r>
              <a:t>–  Contractions every 1–3 min, lasting 60–90 sec</a:t>
            </a:r>
          </a:p>
          <a:p>
            <a:r>
              <a:t>–  Shaking, nausea, vomiting are all normal</a:t>
            </a:r>
          </a:p>
          <a:p>
            <a:r>
              <a:t>–  Client enters “labor land” — altered consciousness</a:t>
            </a:r>
          </a:p>
          <a:p>
            <a:r>
              <a:t>–  Two presentations: introspective (quiet) or primal (loud) — both normal</a:t>
            </a:r>
          </a:p>
          <a:p>
            <a:r>
              <a:t>–  Duration: usually 20–90 minutes</a:t>
            </a:r>
          </a:p>
          <a:p>
            <a:r>
              <a:t>–  If she says “I can’t do this” — she’s almost there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Starts at full dilation (10 cm), ends when baby is born</a:t>
            </a:r>
          </a:p>
          <a:p>
            <a:r>
              <a:t>–  Duration: minutes to 3 hours (avg 30 min–2 hrs for first babies)</a:t>
            </a:r>
          </a:p>
          <a:p>
            <a:r>
              <a:t>–  Urge to push feels like intense pressure — like a bowel movement</a:t>
            </a:r>
          </a:p>
          <a:p>
            <a:r>
              <a:t>–  Fetal ejection reflex may occur — the body pushes involuntarily</a:t>
            </a:r>
          </a:p>
          <a:p>
            <a:r>
              <a:t>–  Ring of fire: burning sensation as head crowns</a:t>
            </a:r>
          </a:p>
          <a:p>
            <a:r>
              <a:t>–  Upright, hands-and-knees, side-lying, or squatting positions all valid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Starts when baby is born, ends when placenta is fully delivered</a:t>
            </a:r>
          </a:p>
          <a:p>
            <a:r>
              <a:t>–  Duration: typically 5–30 minutes</a:t>
            </a:r>
          </a:p>
          <a:p>
            <a:r>
              <a:t>–  Uterus contracts to separate and expel the placenta</a:t>
            </a:r>
          </a:p>
          <a:p>
            <a:r>
              <a:t>–  Signs of separation: gush of blood, cord lengthens, urge to push</a:t>
            </a:r>
          </a:p>
          <a:p>
            <a:r>
              <a:t>–  Two management types: physiological (wait) or active (Pitocin + cord traction)</a:t>
            </a:r>
          </a:p>
          <a:p>
            <a:r>
              <a:t>–  Retained placenta (&gt;30 min) = alert the provider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First 1–2 hours postpartum — the most critical window for bonding</a:t>
            </a:r>
          </a:p>
          <a:p>
            <a:r>
              <a:t>–  Oxytocin floods the body during skin-to-skin — drives bonding and uterine contraction</a:t>
            </a:r>
          </a:p>
          <a:p>
            <a:r>
              <a:t>–  Prolactin spikes — prepares the body for milk production</a:t>
            </a:r>
          </a:p>
          <a:p>
            <a:r>
              <a:t>–  Endorphins create the “birth high” — natural euphoria and relief</a:t>
            </a:r>
          </a:p>
          <a:p>
            <a:r>
              <a:t>–  Skin-to-skin stabilizes baby’s temperature, heart rate, and blood sugar</a:t>
            </a:r>
          </a:p>
          <a:p>
            <a:r>
              <a:t>–  Interrupting this time unnecessarily disrupts biological processes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Triggers and sustains uterine contractions throughout labor</a:t>
            </a:r>
          </a:p>
          <a:p>
            <a:r>
              <a:t>–  Released in response to touch, eye contact, warm skin contact, dim lights, and feeling emotionally safe</a:t>
            </a:r>
          </a:p>
          <a:p>
            <a:r>
              <a:t>–  Pitocin is synthetic oxytocin — same molecule, but without the endorphin co-release or physiological feedback loop</a:t>
            </a:r>
          </a:p>
          <a:p>
            <a:r>
              <a:t>–  Drops sharply when a person feels afraid, observed, or unsafe — labor can stall or slow</a:t>
            </a:r>
          </a:p>
          <a:p>
            <a:r>
              <a:t>–  Floods the body during skin-to-skin after birth — drives bonding and helps the uterus contract to reduce bleeding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Beta-endorphins are natural opioids produced by the brain — structurally similar to morphine</a:t>
            </a:r>
          </a:p>
          <a:p>
            <a:r>
              <a:t>–  Rise progressively with contraction intensity — the body self-medicates as labor gets harder</a:t>
            </a:r>
          </a:p>
          <a:p>
            <a:r>
              <a:t>–  Create the dissociative, time-altered state known as “labor land” — this is protective, not pathological</a:t>
            </a:r>
          </a:p>
          <a:p>
            <a:r>
              <a:t>–  Responsible for the “birth high” — the wave of euphoria that floods the body immediately after birth</a:t>
            </a:r>
          </a:p>
          <a:p>
            <a:r>
              <a:t>–  Suppressed when adrenaline is high — fear, cold, bright lights, and feeling observed block endorphin action</a:t>
            </a:r>
          </a:p>
          <a:p>
            <a:r>
              <a:t>–  Epidurals block the pain but also block the endorphin rise — your emotional role remains essential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Epinephrine (adrenaline) is the body’s threat-response hormone</a:t>
            </a:r>
          </a:p>
          <a:p>
            <a:r>
              <a:t>–  Triggers fight-or-flight: blood rushes to limbs, away from the uterus</a:t>
            </a:r>
          </a:p>
          <a:p>
            <a:r>
              <a:t>–  Directly suppresses oxytocin — contractions slow or stop</a:t>
            </a:r>
          </a:p>
          <a:p>
            <a:r>
              <a:t>–  Also blocks endorphins — pain increases without natural relief</a:t>
            </a:r>
          </a:p>
          <a:p>
            <a:r>
              <a:t>–  Late labor surge is normal: floods the body and gives energy to push</a:t>
            </a:r>
          </a:p>
          <a:p>
            <a:r>
              <a:t>–  Chronic elevation from fear stalls labor and increases pain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Primary function: initiates and sustains milk production after birth</a:t>
            </a:r>
          </a:p>
          <a:p>
            <a:r>
              <a:t>–  Spikes dramatically in the first hour after birth — highest levels occur during the Golden Hour</a:t>
            </a:r>
          </a:p>
          <a:p>
            <a:r>
              <a:t>–  Stimulated by nipple stimulation and skin-to-skin contact with the baby</a:t>
            </a:r>
          </a:p>
          <a:p>
            <a:r>
              <a:t>–  Also plays a role in shaping the transition into parenthood — drives attentiveness and responsiveness to baby’s cues</a:t>
            </a:r>
          </a:p>
          <a:p>
            <a:r>
              <a:t>–  Disrupted by formula supplementation without medical necessity in the early hours</a:t>
            </a:r>
          </a:p>
          <a:p>
            <a:r>
              <a:t>–  Thrives in the same conditions as oxytocin: dim light, quiet, undisturbed skin-to-skin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Involuntary — the uterus contracts without conscious control</a:t>
            </a:r>
          </a:p>
          <a:p>
            <a:r>
              <a:t>–  Contractions measured by frequency, duration, and intensity</a:t>
            </a:r>
          </a:p>
          <a:p>
            <a:r>
              <a:t>–  Goal: efface and dilate the cervix from 0 to 10 cm</a:t>
            </a:r>
          </a:p>
          <a:p>
            <a:r>
              <a:t>–  Adequate powers = contractions every 2–3 min, lasting 60–90 sec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pelvis has multiple diameters the baby must navigate through</a:t>
            </a:r>
          </a:p>
          <a:p>
            <a:r>
              <a:t>–  Pelvic shape varies: gynecoid is most favorable for vaginal birth</a:t>
            </a:r>
          </a:p>
          <a:p>
            <a:r>
              <a:t>–  Soft tissues (cervix, vagina) must also soften, stretch, and open</a:t>
            </a:r>
          </a:p>
          <a:p>
            <a:r>
              <a:t>–  Position changes can optimize the angle the baby enters the pelvis</a:t>
            </a:r>
          </a:p>
          <a:p>
            <a:r>
              <a:t>–  Squatting increases pelvic outlet diameter by up to 28%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most modifiable P — change it every 20–30 minutes</a:t>
            </a:r>
          </a:p>
          <a:p>
            <a:r>
              <a:t>–  Upright positions use gravity and open the pelvis</a:t>
            </a:r>
          </a:p>
          <a:p>
            <a:r>
              <a:t>–  Hands-and-knees relieves back labor and helps OP babies rotate</a:t>
            </a:r>
          </a:p>
          <a:p>
            <a:r>
              <a:t>–  Side-lying conserves energy and works well for epiduralized clients</a:t>
            </a:r>
          </a:p>
          <a:p>
            <a:r>
              <a:t>–  Walking, swaying, and stair-climbing all encourage descent</a:t>
            </a:r>
          </a:p>
          <a:p>
            <a:r>
              <a:t>–  No single position is best — movement is what matters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A client who trusts her care team is less fearful — psyche improves</a:t>
            </a:r>
          </a:p>
          <a:p>
            <a:r>
              <a:t>–  Clear communication reduces the unknown — adrenaline drops</a:t>
            </a:r>
          </a:p>
          <a:p>
            <a:r>
              <a:t>–  Rushed or dismissive care raises cortisol and adrenaline</a:t>
            </a:r>
          </a:p>
          <a:p>
            <a:r>
              <a:t>–  A supportive nurse is a force multiplier for everything you do</a:t>
            </a:r>
          </a:p>
          <a:p>
            <a:r>
              <a:t>–  You work alongside the provider — never against them</a:t>
            </a:r>
          </a:p>
          <a:p>
            <a:r>
              <a:t>–  Your role: bridge communication, never undermine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Body is not yet in labor</a:t>
            </a:r>
          </a:p>
          <a:p>
            <a:r>
              <a:t>–  Methods used to GET labor started</a:t>
            </a:r>
          </a:p>
          <a:p>
            <a:r>
              <a:t>–  Going from zero contractions to active labor</a:t>
            </a:r>
          </a:p>
          <a:p>
            <a:r>
              <a:t>–  Requires cervical readiness (Bishop Score)</a:t>
            </a:r>
          </a:p>
          <a:p>
            <a:r>
              <a:t>–  May need ripening before Pitocin can 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Pregnancy past 41–42 weeks (post-dates)</a:t>
            </a:r>
          </a:p>
          <a:p>
            <a:r>
              <a:t>–  Water broke but labor hasn't started (PROM)</a:t>
            </a:r>
          </a:p>
          <a:p>
            <a:r>
              <a:t>–  Preeclampsia or dangerous blood pressure</a:t>
            </a:r>
          </a:p>
          <a:p>
            <a:r>
              <a:t>–  Baby not growing adequately (IUGR)</a:t>
            </a:r>
          </a:p>
          <a:p>
            <a:r>
              <a:t>–  Gestational diabetes with concerns</a:t>
            </a:r>
          </a:p>
          <a:p>
            <a:r>
              <a:t>–  Other health concerns for birthing person or baby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Breathing &amp; vocalization</a:t>
            </a:r>
          </a:p>
          <a:p>
            <a:r>
              <a:t>–  Hydrotherapy (shower/tub)</a:t>
            </a:r>
          </a:p>
          <a:p>
            <a:r>
              <a:t>–  Counter-pressure &amp; massage</a:t>
            </a:r>
          </a:p>
          <a:p>
            <a:r>
              <a:t>–  Movement &amp; position changes</a:t>
            </a:r>
          </a:p>
          <a:p>
            <a:r>
              <a:t>–  Heat &amp; cold therapy</a:t>
            </a:r>
          </a:p>
          <a:p>
            <a:r>
              <a:t>–  Acupressure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Catheter placed in the epidural space of the lower back</a:t>
            </a:r>
          </a:p>
          <a:p>
            <a:r>
              <a:t>–  Medication flows continuously — numbness below the waist</a:t>
            </a:r>
          </a:p>
          <a:p>
            <a:r>
              <a:t>–  Takes 15–20 minutes to fully take effect</a:t>
            </a:r>
          </a:p>
          <a:p>
            <a:r>
              <a:t>–  Client must stay still through contractions during placement</a:t>
            </a:r>
          </a:p>
          <a:p>
            <a:r>
              <a:t>–  Requires continuous fetal monitoring and IV fluids</a:t>
            </a:r>
          </a:p>
          <a:p>
            <a:r>
              <a:t>–  BP may drop initially — nurse monitors closely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Peanut-shaped ball placed between the knees while side-lying</a:t>
            </a:r>
          </a:p>
          <a:p>
            <a:r>
              <a:t>–  Holds pelvis in an open, asymmetrical position</a:t>
            </a:r>
          </a:p>
          <a:p>
            <a:r>
              <a:t>–  Mimics squatting &amp; walking for a client who can't move independently</a:t>
            </a:r>
          </a:p>
          <a:p>
            <a:r>
              <a:t>–  Research shows it reduces labor length and lowers cesarean rates</a:t>
            </a:r>
          </a:p>
          <a:p>
            <a:r>
              <a:t>–  Works best with regular position alternation — left, right, semi-reclined, repeat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Occiput posterior (OP): baby faces mom’s front instead of her back</a:t>
            </a:r>
          </a:p>
          <a:p>
            <a:r>
              <a:t>–  Baby’s hard skull presses directly against the sacrum and nerve roots</a:t>
            </a:r>
          </a:p>
          <a:p>
            <a:r>
              <a:t>–  Creates intense, unrelenting back pain that doesn’t ease between contractions</a:t>
            </a:r>
          </a:p>
          <a:p>
            <a:r>
              <a:t>–  Labor often takes longer — larger head diameter navigating the pelvis</a:t>
            </a:r>
          </a:p>
          <a:p>
            <a:r>
              <a:t>–  Stop-start labor pattern is a key sign</a:t>
            </a:r>
          </a:p>
          <a:p>
            <a:r>
              <a:t>–  Only 5–8% remain posterior at delivery — most rotate on their own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uterus is a muscle — after hours of contracting, it can become exhausted</a:t>
            </a:r>
          </a:p>
          <a:p>
            <a:r>
              <a:t>–  Maternal exhaustion increases hemorrhage risk after birth</a:t>
            </a:r>
          </a:p>
          <a:p>
            <a:r>
              <a:t>–  Risk of infection rises when labor extends, especially after membranes rupture</a:t>
            </a:r>
          </a:p>
          <a:p>
            <a:r>
              <a:t>–  Baby tolerates prolonged labor less well over time</a:t>
            </a:r>
          </a:p>
          <a:p>
            <a:r>
              <a:t>–  Fatigue erodes coping ability — this is where interventions become mercy, not failure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Baby’s head delivers, but the shoulders become stuck behind the pubic bone</a:t>
            </a:r>
          </a:p>
          <a:p>
            <a:r>
              <a:t>–  Head is out but body cannot follow — baby cannot breathe</a:t>
            </a:r>
          </a:p>
          <a:p>
            <a:r>
              <a:t>–  Umbilical cord is compressed between baby’s body and the pelvis</a:t>
            </a:r>
          </a:p>
          <a:p>
            <a:r>
              <a:t>–  Baby needs to be delivered within 4–5 minutes to avoid harm</a:t>
            </a:r>
          </a:p>
          <a:p>
            <a:r>
              <a:t>–  The “turtle sign”: head delivers, then retracts back against the perineum</a:t>
            </a:r>
          </a:p>
          <a:p>
            <a:r>
              <a:t>–  Providers recognize this within seconds and will move FAST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Miscarriage — loss before 20 weeks</a:t>
            </a:r>
          </a:p>
          <a:p>
            <a:r>
              <a:t>–  Stillbirth — fetal death at 20 weeks or later</a:t>
            </a:r>
          </a:p>
          <a:p>
            <a:r>
              <a:t>–  Neonatal death — a baby who dies within 28 days of birth</a:t>
            </a:r>
          </a:p>
          <a:p>
            <a:r>
              <a:t>–  Life-limiting diagnosis — conditions incompatible with life</a:t>
            </a:r>
          </a:p>
          <a:p>
            <a:r>
              <a:t>–  Termination for medical reasons (TFMR) — a devastating and often invisible grief</a:t>
            </a:r>
          </a:p>
          <a:p>
            <a:r>
              <a:t>–  Loss of a twin or multiple — grief while continuing a pregnancy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Use the baby’s name — every time, without hesitation</a:t>
            </a:r>
          </a:p>
          <a:p>
            <a:r>
              <a:t>–  Sit quietly while they hold their baby — be comfortable with silence</a:t>
            </a:r>
          </a:p>
          <a:p>
            <a:r>
              <a:t>–  Stay even when there’s nothing to do or say</a:t>
            </a:r>
          </a:p>
          <a:p>
            <a:r>
              <a:t>–  Do not check your phone or look at the clock</a:t>
            </a:r>
          </a:p>
          <a:p>
            <a:r>
              <a:t>–  Ask before touching — “Can I hold your hand?"</a:t>
            </a:r>
          </a:p>
          <a:p>
            <a:r>
              <a:t>–  Follow their lead on how long to stay</a:t>
            </a:r>
          </a:p>
          <a:p>
            <a:r>
              <a:t>–  Years later, they will remember you weren’t afraid to say their baby’s name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Do not process alone in the first 24 hours — call your mentor or another doula</a:t>
            </a:r>
          </a:p>
          <a:p>
            <a:r>
              <a:t>–  Do NOT immediately reach out to the grieving family to process your feelings</a:t>
            </a:r>
          </a:p>
          <a:p>
            <a:r>
              <a:t>–  Write privately if you need to — journal, not social media</a:t>
            </a:r>
          </a:p>
          <a:p>
            <a:r>
              <a:t>–  Rest. Eat. Be cared for. You witnessed something enormous.</a:t>
            </a:r>
          </a:p>
          <a:p>
            <a:r>
              <a:t>–  Within the week: debrief with a mentor or supervisor</a:t>
            </a:r>
          </a:p>
          <a:p>
            <a:r>
              <a:t>–  MHN monthly debriefs exist for exactly this — use them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0" y="475488"/>
            <a:ext cx="9144000" cy="274320"/>
          </a:xfrm>
          <a:prstGeom prst="rect">
            <a:avLst/>
          </a:prstGeom>
          <a:noFill/>
          <a:ln/>
        </p:spPr>
        <p:txBody>
          <a:bodyPr wrap="square" lIns="0" tIns="0" rIns="0" bIns="0" rtlCol="0" anchor="ctr"/>
          <a:lstStyle/>
          <a:p>
            <a:pPr marL="0" indent="0" algn="ctr">
              <a:buNone/>
            </a:pPr>
            <a:r>
              <a:rPr lang="en-US" sz="1100" kern="0" spc="200" dirty="0">
                <a:solidFill>
                  <a:srgbClr val="C9B8D8"/>
                </a:solidFill>
                <a:latin typeface="Arial" pitchFamily="34" charset="0"/>
                <a:ea typeface="Arial" pitchFamily="34" charset="-122"/>
                <a:cs typeface="Arial" pitchFamily="34" charset="-120"/>
              </a:rPr>
              <a:t>ONLINE NIGHT 2  ·  5:30 PM – 8:00 PM CST</a:t>
            </a:r>
            <a:endParaRPr lang="en-US" sz="1100" dirty="0"/>
          </a:p>
        </p:txBody>
      </p:sp>
      <p:sp>
        <p:nvSpPr>
          <p:cNvPr id="3" name="Text 1"/>
          <p:cNvSpPr/>
          <p:nvPr/>
        </p:nvSpPr>
        <p:spPr>
          <a:xfrm>
            <a:off x="457200" y="960120"/>
            <a:ext cx="8229600" cy="1691640"/>
          </a:xfrm>
          <a:prstGeom prst="rect">
            <a:avLst/>
          </a:prstGeom>
          <a:noFill/>
          <a:ln/>
        </p:spPr>
        <p:txBody>
          <a:bodyPr wrap="square" lIns="0" tIns="0" rIns="0" bIns="0" rtlCol="0" anchor="ctr"/>
          <a:lstStyle/>
          <a:p>
            <a:pPr marL="0" indent="0" algn="ctr">
              <a:lnSpc>
                <a:spcPct val="115000"/>
              </a:lnSpc>
              <a:buNone/>
            </a:pPr>
            <a:r>
              <a:rPr lang="en-US" sz="4000" b="1" dirty="0">
                <a:solidFill>
                  <a:srgbClr val="FFFFFF"/>
                </a:solidFill>
                <a:latin typeface="Georgia" pitchFamily="34" charset="0"/>
                <a:ea typeface="Georgia" pitchFamily="34" charset="-122"/>
                <a:cs typeface="Georgia" pitchFamily="34" charset="-120"/>
              </a:rPr>
              <a:t>Labor, Birth &amp;</a:t>
            </a:r>
            <a:endParaRPr lang="en-US" sz="4000" dirty="0"/>
          </a:p>
          <a:p>
            <a:pPr marL="0" indent="0" algn="ctr">
              <a:lnSpc>
                <a:spcPct val="115000"/>
              </a:lnSpc>
              <a:buNone/>
            </a:pPr>
            <a:r>
              <a:rPr lang="en-US" sz="4000" b="1" dirty="0">
                <a:solidFill>
                  <a:srgbClr val="FFFFFF"/>
                </a:solidFill>
                <a:latin typeface="Georgia" pitchFamily="34" charset="0"/>
                <a:ea typeface="Georgia" pitchFamily="34" charset="-122"/>
                <a:cs typeface="Georgia" pitchFamily="34" charset="-120"/>
              </a:rPr>
              <a:t>When Things Get Complex</a:t>
            </a:r>
            <a:endParaRPr lang="en-US" sz="4000" dirty="0"/>
          </a:p>
        </p:txBody>
      </p:sp>
      <p:sp>
        <p:nvSpPr>
          <p:cNvPr id="4" name="Shape 2"/>
          <p:cNvSpPr/>
          <p:nvPr/>
        </p:nvSpPr>
        <p:spPr>
          <a:xfrm>
            <a:off x="2743200" y="2788920"/>
            <a:ext cx="36576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0" y="2944368"/>
            <a:ext cx="9144000" cy="347472"/>
          </a:xfrm>
          <a:prstGeom prst="rect">
            <a:avLst/>
          </a:prstGeom>
          <a:noFill/>
          <a:ln/>
        </p:spPr>
        <p:txBody>
          <a:bodyPr wrap="square" lIns="0" tIns="0" rIns="0" bIns="0" rtlCol="0" anchor="ctr"/>
          <a:lstStyle/>
          <a:p>
            <a:pPr marL="0" indent="0" algn="ctr">
              <a:buNone/>
            </a:pPr>
            <a:r>
              <a:rPr lang="en-US" sz="1800" b="1" dirty="0">
                <a:solidFill>
                  <a:srgbClr val="C9B8D8"/>
                </a:solidFill>
                <a:latin typeface="Georgia" pitchFamily="34" charset="0"/>
                <a:ea typeface="Georgia" pitchFamily="34" charset="-122"/>
                <a:cs typeface="Georgia" pitchFamily="34" charset="-120"/>
              </a:rPr>
              <a:t>Mary's Hands Network</a:t>
            </a:r>
            <a:endParaRPr lang="en-US" sz="1800" dirty="0"/>
          </a:p>
        </p:txBody>
      </p:sp>
      <p:sp>
        <p:nvSpPr>
          <p:cNvPr id="6" name="Text 4"/>
          <p:cNvSpPr/>
          <p:nvPr/>
        </p:nvSpPr>
        <p:spPr>
          <a:xfrm>
            <a:off x="0" y="3364992"/>
            <a:ext cx="9144000" cy="566928"/>
          </a:xfrm>
          <a:prstGeom prst="rect">
            <a:avLst/>
          </a:prstGeom>
          <a:noFill/>
          <a:ln/>
        </p:spPr>
        <p:txBody>
          <a:bodyPr wrap="square" lIns="0" tIns="0" rIns="0" bIns="0" rtlCol="0" anchor="ctr"/>
          <a:lstStyle/>
          <a:p>
            <a:pPr marL="0" indent="0" algn="ctr">
              <a:lnSpc>
                <a:spcPct val="130000"/>
              </a:lnSpc>
              <a:buNone/>
            </a:pPr>
            <a:r>
              <a:rPr lang="en-US" sz="1300" i="1" dirty="0">
                <a:solidFill>
                  <a:srgbClr val="C9B8D8"/>
                </a:solidFill>
                <a:latin typeface="Georgia" pitchFamily="34" charset="0"/>
                <a:ea typeface="Georgia" pitchFamily="34" charset="-122"/>
                <a:cs typeface="Georgia" pitchFamily="34" charset="-120"/>
              </a:rPr>
              <a:t>ICEA Certified Birth Doula</a:t>
            </a:r>
            <a:endParaRPr lang="en-US" sz="1300" dirty="0"/>
          </a:p>
          <a:p>
            <a:pPr marL="0" indent="0" algn="ctr">
              <a:lnSpc>
                <a:spcPct val="130000"/>
              </a:lnSpc>
              <a:buNone/>
            </a:pPr>
            <a:r>
              <a:rPr lang="en-US" sz="1300" i="1" dirty="0">
                <a:solidFill>
                  <a:srgbClr val="C9B8D8"/>
                </a:solidFill>
                <a:latin typeface="Georgia" pitchFamily="34" charset="0"/>
                <a:ea typeface="Georgia" pitchFamily="34" charset="-122"/>
                <a:cs typeface="Georgia" pitchFamily="34" charset="-120"/>
              </a:rPr>
              <a:t>Hybrid Training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TONIGHT'S FOCUS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Learning Objectives</a:t>
            </a:r>
            <a:endParaRPr lang="en-US" sz="2800" dirty="0"/>
          </a:p>
        </p:txBody>
      </p:sp>
      <p:sp>
        <p:nvSpPr>
          <p:cNvPr id="6" name="Text 4"/>
          <p:cNvSpPr/>
          <p:nvPr/>
        </p:nvSpPr>
        <p:spPr>
          <a:xfrm>
            <a:off x="502920" y="1060704"/>
            <a:ext cx="8229600" cy="3749040"/>
          </a:xfrm>
          <a:prstGeom prst="rect">
            <a:avLst/>
          </a:prstGeom>
          <a:noFill/>
          <a:ln/>
        </p:spPr>
        <p:txBody>
          <a:bodyPr wrap="square" lIns="0" tIns="0" rIns="0" bIns="0" rtlCol="0" anchor="t"/>
          <a:lstStyle/>
          <a:p>
            <a:pPr marL="0" indent="0">
              <a:spcAft>
                <a:spcPts val="700"/>
              </a:spcAft>
              <a:buNone/>
            </a:pPr>
            <a:r>
              <a:rPr lang="en-US" sz="2000" dirty="0">
                <a:solidFill>
                  <a:srgbClr val="2D2D2D"/>
                </a:solidFill>
                <a:latin typeface="Arial" pitchFamily="34" charset="0"/>
                <a:ea typeface="Arial" pitchFamily="34" charset="-122"/>
                <a:cs typeface="Arial" pitchFamily="34" charset="-120"/>
              </a:rPr>
              <a:t>Four stages, three phases — get the language right</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How labor hormones respond to your presence</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The Six P's of labor progress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Induction &amp; augmentation — ARRIVE trial</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Doula scope with medicated clients &amp; complications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Doula role when birth becomes loss</a:t>
            </a:r>
            <a:endParaRPr lang="en-US" sz="1350" dirty="0"/>
          </a:p>
        </p:txBody>
      </p:sp>
      <p:sp>
        <p:nvSpPr>
          <p:cNvPr id="8" name="Text 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ONE</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Stages &amp; Phases</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Birth doesn’t unfold in neat boxes — it flows like a river.</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Our job is to help families navigate 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STAGES &amp; PHASES  ·  THE DISTINCTION</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Four Stages. Three Phases. One Common Confusion.</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This distinction is tested on the ICEA certification exam — and it matters in the clinical setting.</a:t>
            </a:r>
            <a:endParaRPr lang="en-US" sz="1350" dirty="0"/>
          </a:p>
        </p:txBody>
      </p:sp>
      <p:sp>
        <p:nvSpPr>
          <p:cNvPr id="7" name="Text 5"/>
          <p:cNvSpPr/>
          <p:nvPr/>
        </p:nvSpPr>
        <p:spPr>
          <a:xfrm>
            <a:off x="475488" y="1664208"/>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Four Stages of Birth</a:t>
            </a:r>
            <a:endParaRPr lang="en-US" sz="1200" dirty="0"/>
          </a:p>
        </p:txBody>
      </p:sp>
      <p:sp>
        <p:nvSpPr>
          <p:cNvPr id="8" name="Text 6"/>
          <p:cNvSpPr/>
          <p:nvPr/>
        </p:nvSpPr>
        <p:spPr>
          <a:xfrm>
            <a:off x="475488" y="1984248"/>
            <a:ext cx="3840480" cy="2194560"/>
          </a:xfrm>
          <a:prstGeom prst="rect">
            <a:avLst/>
          </a:prstGeom>
          <a:noFill/>
          <a:ln/>
        </p:spPr>
        <p:txBody>
          <a:bodyPr wrap="square" lIns="0" tIns="0" rIns="0" bIns="0" rtlCol="0" anchor="t"/>
          <a:lstStyle/>
          <a:p>
            <a:pPr marL="0" indent="0">
              <a:spcAft>
                <a:spcPts val="1000"/>
              </a:spcAft>
              <a:buNone/>
            </a:pPr>
            <a:r>
              <a:rPr lang="en-US" sz="1300" dirty="0">
                <a:solidFill>
                  <a:srgbClr val="2D2D2D"/>
                </a:solidFill>
                <a:latin typeface="Arial" pitchFamily="34" charset="0"/>
                <a:ea typeface="Arial" pitchFamily="34" charset="-122"/>
                <a:cs typeface="Arial" pitchFamily="34" charset="-120"/>
              </a:rPr>
              <a:t>Stage 1: Labor (0–10 cm)</a:t>
            </a:r>
            <a:endParaRPr lang="en-US" sz="1300" dirty="0"/>
          </a:p>
          <a:p>
            <a:pPr marL="0" indent="0">
              <a:spcAft>
                <a:spcPts val="1000"/>
              </a:spcAft>
              <a:buNone/>
            </a:pPr>
            <a:r>
              <a:rPr lang="en-US" sz="1300" dirty="0">
                <a:solidFill>
                  <a:srgbClr val="2D2D2D"/>
                </a:solidFill>
                <a:latin typeface="Arial" pitchFamily="34" charset="0"/>
                <a:ea typeface="Arial" pitchFamily="34" charset="-122"/>
                <a:cs typeface="Arial" pitchFamily="34" charset="-120"/>
              </a:rPr>
              <a:t>Stage 2: Pushing &amp; birth</a:t>
            </a:r>
            <a:endParaRPr lang="en-US" sz="1300" dirty="0"/>
          </a:p>
          <a:p>
            <a:pPr marL="0" indent="0">
              <a:spcAft>
                <a:spcPts val="1000"/>
              </a:spcAft>
              <a:buNone/>
            </a:pPr>
            <a:r>
              <a:rPr lang="en-US" sz="1300" dirty="0">
                <a:solidFill>
                  <a:srgbClr val="2D2D2D"/>
                </a:solidFill>
                <a:latin typeface="Arial" pitchFamily="34" charset="0"/>
                <a:ea typeface="Arial" pitchFamily="34" charset="-122"/>
                <a:cs typeface="Arial" pitchFamily="34" charset="-120"/>
              </a:rPr>
              <a:t>Stage 3: Placenta delivery</a:t>
            </a:r>
            <a:endParaRPr lang="en-US" sz="1300" dirty="0"/>
          </a:p>
          <a:p>
            <a:pPr marL="0" indent="0">
              <a:spcAft>
                <a:spcPts val="1000"/>
              </a:spcAft>
              <a:buNone/>
            </a:pPr>
            <a:r>
              <a:rPr lang="en-US" sz="1300" dirty="0">
                <a:solidFill>
                  <a:srgbClr val="2D2D2D"/>
                </a:solidFill>
                <a:latin typeface="Arial" pitchFamily="34" charset="0"/>
                <a:ea typeface="Arial" pitchFamily="34" charset="-122"/>
                <a:cs typeface="Arial" pitchFamily="34" charset="-120"/>
              </a:rPr>
              <a:t>Stage 4: Recovery — the Golden Hour</a:t>
            </a:r>
            <a:endParaRPr lang="en-US" sz="1300" dirty="0"/>
          </a:p>
        </p:txBody>
      </p:sp>
      <p:sp>
        <p:nvSpPr>
          <p:cNvPr id="9" name="Text 7"/>
          <p:cNvSpPr/>
          <p:nvPr/>
        </p:nvSpPr>
        <p:spPr>
          <a:xfrm>
            <a:off x="475488" y="4590288"/>
            <a:ext cx="3840480" cy="201168"/>
          </a:xfrm>
          <a:prstGeom prst="rect">
            <a:avLst/>
          </a:prstGeom>
          <a:noFill/>
          <a:ln/>
        </p:spPr>
        <p:txBody>
          <a:bodyPr wrap="square" lIns="0" tIns="0" rIns="0" bIns="0" rtlCol="0" anchor="ctr"/>
          <a:lstStyle/>
          <a:p>
            <a:pPr marL="0" indent="0">
              <a:buNone/>
            </a:pPr>
            <a:r>
              <a:rPr lang="en-US" sz="1000" i="1" dirty="0">
                <a:solidFill>
                  <a:srgbClr val="845995"/>
                </a:solidFill>
                <a:latin typeface="Georgia" pitchFamily="34" charset="0"/>
                <a:ea typeface="Georgia" pitchFamily="34" charset="-122"/>
                <a:cs typeface="Georgia" pitchFamily="34" charset="-120"/>
              </a:rPr>
              <a:t>Stages have distinct start/end points. Clinical language.</a:t>
            </a:r>
            <a:endParaRPr lang="en-US" sz="1000" dirty="0"/>
          </a:p>
        </p:txBody>
      </p:sp>
      <p:sp>
        <p:nvSpPr>
          <p:cNvPr id="12" name="Text 10"/>
          <p:cNvSpPr/>
          <p:nvPr/>
        </p:nvSpPr>
        <p:spPr>
          <a:xfrm>
            <a:off x="4846320" y="1664208"/>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Three Phases of Stage 1</a:t>
            </a:r>
            <a:endParaRPr lang="en-US" sz="1200" dirty="0"/>
          </a:p>
        </p:txBody>
      </p:sp>
      <p:sp>
        <p:nvSpPr>
          <p:cNvPr id="13" name="Text 11"/>
          <p:cNvSpPr/>
          <p:nvPr/>
        </p:nvSpPr>
        <p:spPr>
          <a:xfrm>
            <a:off x="4846320" y="1984248"/>
            <a:ext cx="3840480" cy="2194560"/>
          </a:xfrm>
          <a:prstGeom prst="rect">
            <a:avLst/>
          </a:prstGeom>
          <a:noFill/>
          <a:ln/>
        </p:spPr>
        <p:txBody>
          <a:bodyPr wrap="square" lIns="0" tIns="0" rIns="0" bIns="0" rtlCol="0" anchor="t"/>
          <a:lstStyle/>
          <a:p>
            <a:pPr marL="0" indent="0">
              <a:spcAft>
                <a:spcPts val="1200"/>
              </a:spcAft>
              <a:buNone/>
            </a:pPr>
            <a:r>
              <a:rPr lang="en-US" sz="2000" dirty="0">
                <a:solidFill>
                  <a:srgbClr val="2D2D2D"/>
                </a:solidFill>
                <a:latin typeface="Arial" pitchFamily="34" charset="0"/>
                <a:ea typeface="Arial" pitchFamily="34" charset="-122"/>
                <a:cs typeface="Arial" pitchFamily="34" charset="-120"/>
              </a:rPr>
              <a:t>–  Early/Latent phase (roughly 0–6 cm)</a:t>
            </a:r>
            <a:endParaRPr lang="en-US" sz="1300" dirty="0"/>
          </a:p>
          <a:p>
            <a:pPr marL="0" indent="0">
              <a:spcAft>
                <a:spcPts val="1200"/>
              </a:spcAft>
              <a:buNone/>
            </a:pPr>
            <a:r>
              <a:rPr lang="en-US" sz="2000" dirty="0">
                <a:solidFill>
                  <a:srgbClr val="2D2D2D"/>
                </a:solidFill>
                <a:latin typeface="Arial" pitchFamily="34" charset="0"/>
                <a:ea typeface="Arial" pitchFamily="34" charset="-122"/>
                <a:cs typeface="Arial" pitchFamily="34" charset="-120"/>
              </a:rPr>
              <a:t>–  Active phase (roughly 6–8 cm)</a:t>
            </a:r>
            <a:endParaRPr lang="en-US" sz="1300" dirty="0"/>
          </a:p>
          <a:p>
            <a:pPr marL="0" indent="0">
              <a:spcAft>
                <a:spcPts val="1200"/>
              </a:spcAft>
              <a:buNone/>
            </a:pPr>
            <a:r>
              <a:rPr lang="en-US" sz="2000" dirty="0">
                <a:solidFill>
                  <a:srgbClr val="2D2D2D"/>
                </a:solidFill>
                <a:latin typeface="Arial" pitchFamily="34" charset="0"/>
                <a:ea typeface="Arial" pitchFamily="34" charset="-122"/>
                <a:cs typeface="Arial" pitchFamily="34" charset="-120"/>
              </a:rPr>
              <a:t>–  Transition phase (8–10 cm)</a:t>
            </a:r>
            <a:endParaRPr lang="en-US" sz="1300" dirty="0"/>
          </a:p>
        </p:txBody>
      </p:sp>
      <p:sp>
        <p:nvSpPr>
          <p:cNvPr id="14" name="Text 12"/>
          <p:cNvSpPr/>
          <p:nvPr/>
        </p:nvSpPr>
        <p:spPr>
          <a:xfrm>
            <a:off x="4846320" y="4590288"/>
            <a:ext cx="3840480" cy="201168"/>
          </a:xfrm>
          <a:prstGeom prst="rect">
            <a:avLst/>
          </a:prstGeom>
          <a:noFill/>
          <a:ln/>
        </p:spPr>
        <p:txBody>
          <a:bodyPr wrap="square" lIns="0" tIns="0" rIns="0" bIns="0" rtlCol="0" anchor="ctr"/>
          <a:lstStyle/>
          <a:p>
            <a:pPr marL="0" indent="0">
              <a:buNone/>
            </a:pPr>
            <a:r>
              <a:rPr lang="en-US" sz="1000" i="1" dirty="0">
                <a:solidFill>
                  <a:srgbClr val="845995"/>
                </a:solidFill>
                <a:latin typeface="Georgia" pitchFamily="34" charset="0"/>
                <a:ea typeface="Georgia" pitchFamily="34" charset="-122"/>
                <a:cs typeface="Georgia" pitchFamily="34" charset="-120"/>
              </a:rPr>
              <a:t>Phases flow into each other gradually — like a dimmer switch, not on/off.</a:t>
            </a:r>
            <a:endParaRPr lang="en-US" sz="100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1  ·  PHASE 1</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Early / Latent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The longest phase — and often the hardest to support because it can last hours or days.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What's happening</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Cervix softening, thinning, opening</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Dilation: 0–6 cm</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Contractions: 30–45 sec, 5–20 min apart</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Manageable at home — rest, eat, hydrate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Nesting burst, chatty, excited</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Duration: 8–24 hours for first babies</a:t>
            </a:r>
            <a:endParaRPr lang="en-US" sz="1250" dirty="0"/>
          </a:p>
        </p:txBody>
      </p:sp>
      <p:sp>
        <p:nvSpPr>
          <p:cNvPr id="9" name="Shape 7"/>
          <p:cNvSpPr/>
          <p:nvPr/>
        </p:nvSpPr>
        <p:spPr>
          <a:xfrm>
            <a:off x="4663440" y="1536192"/>
            <a:ext cx="4224528" cy="3364992"/>
          </a:xfrm>
          <a:prstGeom prst="rect">
            <a:avLst/>
          </a:prstGeom>
          <a:solidFill>
            <a:srgbClr val="FDF0F7"/>
          </a:solidFill>
          <a:ln w="12700">
            <a:solidFill>
              <a:srgbClr val="B5166B"/>
            </a:solidFill>
            <a:prstDash val="solid"/>
          </a:ln>
        </p:spPr>
        <p:txBody>
          <a:bodyPr/>
          <a:p/>
        </p:txBody>
      </p:sp>
      <p:sp>
        <p:nvSpPr>
          <p:cNvPr id="10" name="Shape 8"/>
          <p:cNvSpPr/>
          <p:nvPr/>
        </p:nvSpPr>
        <p:spPr>
          <a:xfrm>
            <a:off x="4663440" y="1536192"/>
            <a:ext cx="64008" cy="3364992"/>
          </a:xfrm>
          <a:prstGeom prst="rect">
            <a:avLst/>
          </a:prstGeom>
          <a:solidFill>
            <a:srgbClr val="B5166B"/>
          </a:solidFill>
          <a:ln w="12700">
            <a:solidFill>
              <a:srgbClr val="B5166B"/>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a:t>
            </a:r>
            <a:endParaRPr lang="en-US" sz="1100" dirty="0"/>
          </a:p>
        </p:txBody>
      </p:sp>
      <p:sp>
        <p:nvSpPr>
          <p:cNvPr id="12" name="Text 10"/>
          <p:cNvSpPr/>
          <p:nvPr/>
        </p:nvSpPr>
        <p:spPr>
          <a:xfrm>
            <a:off x="4828032" y="1975104"/>
            <a:ext cx="3877056" cy="2011680"/>
          </a:xfrm>
          <a:prstGeom prst="rect">
            <a:avLst/>
          </a:prstGeom>
          <a:noFill/>
          <a:ln/>
        </p:spPr>
        <p:txBody>
          <a:bodyPr wrap="square" lIns="0" tIns="0" rIns="0" bIns="0" rtlCol="0" anchor="t"/>
          <a:lstStyle/>
          <a:p>
            <a:pPr marL="0" indent="0" algn="l">
              <a:lnSpc>
                <a:spcPct val="140000"/>
              </a:lnSpc>
              <a:buNone/>
            </a:pPr>
            <a:r>
              <a:rPr lang="en-US" sz="1250" i="1" dirty="0">
                <a:solidFill>
                  <a:srgbClr val="2D2D2D"/>
                </a:solidFill>
                <a:latin typeface="Georgia" pitchFamily="34" charset="0"/>
                <a:ea typeface="Georgia" pitchFamily="34" charset="-122"/>
                <a:cs typeface="Georgia" pitchFamily="34" charset="-120"/>
              </a:rPr>
              <a:t>“You’re in early labor — this is real and it’s happening. Right now, the best thing you can do is rest, eat something light, and let your body do its work. Don’t time every contraction yet. Try to sleep if it’s nighttime. Call me when they’re regular and strong enough that you need to focus through them.”</a:t>
            </a:r>
            <a:endParaRPr lang="en-US" sz="1250" dirty="0"/>
          </a:p>
        </p:txBody>
      </p:sp>
      <p:sp>
        <p:nvSpPr>
          <p:cNvPr id="13" name="Text 11"/>
          <p:cNvSpPr/>
          <p:nvPr/>
        </p:nvSpPr>
        <p:spPr>
          <a:xfrm>
            <a:off x="4828032" y="4114800"/>
            <a:ext cx="3877056" cy="676656"/>
          </a:xfrm>
          <a:prstGeom prst="rect">
            <a:avLst/>
          </a:prstGeom>
          <a:noFill/>
          <a:ln/>
        </p:spPr>
        <p:txBody>
          <a:bodyPr wrap="square" lIns="0" tIns="0" rIns="0" bIns="0" rtlCol="0" anchor="t"/>
          <a:lstStyle/>
          <a:p>
            <a:pPr marL="0" indent="0" algn="l">
              <a:lnSpc>
                <a:spcPct val="135000"/>
              </a:lnSpc>
              <a:buNone/>
            </a:pPr>
            <a:r>
              <a:rPr lang="en-US" sz="1150" dirty="0">
                <a:solidFill>
                  <a:srgbClr val="2D2D2D"/>
                </a:solidFill>
                <a:latin typeface="Arial" pitchFamily="34" charset="0"/>
                <a:ea typeface="Arial" pitchFamily="34" charset="-122"/>
                <a:cs typeface="Arial" pitchFamily="34" charset="-120"/>
              </a:rPr>
              <a:t>Doula task: Conserve energy. Prevent early hospital arrival. Normalize the wait.</a:t>
            </a:r>
            <a:endParaRPr lang="en-US" sz="1150" dirty="0"/>
          </a:p>
        </p:txBody>
      </p:sp>
      <p:sp>
        <p:nvSpPr>
          <p:cNvPr id="15" name="Text 13"/>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1  ·  A DETOUR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Prodromal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Real contractions. Real pain. No measurable cervical progress — yet. One of the hardest things to support.</a:t>
            </a:r>
            <a:endParaRPr lang="en-US" sz="1350" dirty="0"/>
          </a:p>
        </p:txBody>
      </p:sp>
      <p:sp>
        <p:nvSpPr>
          <p:cNvPr id="5" name="Shape 3"/>
          <p:cNvSpPr/>
          <p:nvPr/>
        </p:nvSpPr>
        <p:spPr>
          <a:xfrm>
            <a:off x="292608" y="1536192"/>
            <a:ext cx="8558784" cy="1554480"/>
          </a:xfrm>
          <a:prstGeom prst="rect">
            <a:avLst/>
          </a:prstGeom>
          <a:solidFill>
            <a:srgbClr val="FEFAE0"/>
          </a:solidFill>
          <a:ln w="12700">
            <a:solidFill>
              <a:srgbClr val="C8960C"/>
            </a:solidFill>
            <a:prstDash val="solid"/>
          </a:ln>
        </p:spPr>
        <p:txBody>
          <a:bodyPr/>
          <a:p/>
        </p:txBody>
      </p:sp>
      <p:sp>
        <p:nvSpPr>
          <p:cNvPr id="6" name="Shape 4"/>
          <p:cNvSpPr/>
          <p:nvPr/>
        </p:nvSpPr>
        <p:spPr>
          <a:xfrm>
            <a:off x="292608" y="1536192"/>
            <a:ext cx="64008" cy="1554480"/>
          </a:xfrm>
          <a:prstGeom prst="rect">
            <a:avLst/>
          </a:prstGeom>
          <a:solidFill>
            <a:srgbClr val="C8960C"/>
          </a:solidFill>
          <a:ln w="12700">
            <a:solidFill>
              <a:srgbClr val="C8960C"/>
            </a:solidFill>
            <a:prstDash val="solid"/>
          </a:ln>
        </p:spPr>
        <p:txBody>
          <a:bodyPr/>
          <a:p/>
        </p:txBody>
      </p:sp>
      <p:sp>
        <p:nvSpPr>
          <p:cNvPr id="7" name="Text 5"/>
          <p:cNvSpPr/>
          <p:nvPr/>
        </p:nvSpPr>
        <p:spPr>
          <a:xfrm>
            <a:off x="457200" y="1645920"/>
            <a:ext cx="8229600" cy="256032"/>
          </a:xfrm>
          <a:prstGeom prst="rect">
            <a:avLst/>
          </a:prstGeom>
          <a:noFill/>
          <a:ln/>
        </p:spPr>
        <p:txBody>
          <a:bodyPr wrap="square" lIns="0" tIns="0" rIns="0" bIns="0" rtlCol="0" anchor="ctr"/>
          <a:lstStyle/>
          <a:p>
            <a:pPr marL="0" indent="0" algn="l">
              <a:buNone/>
            </a:pPr>
            <a:r>
              <a:rPr lang="en-US" sz="1100" b="1" dirty="0">
                <a:solidFill>
                  <a:srgbClr val="C8960C"/>
                </a:solidFill>
                <a:latin typeface="Arial" pitchFamily="34" charset="0"/>
                <a:ea typeface="Arial" pitchFamily="34" charset="-122"/>
                <a:cs typeface="Arial" pitchFamily="34" charset="-120"/>
              </a:rPr>
              <a:t>What It Is</a:t>
            </a:r>
            <a:endParaRPr lang="en-US" sz="1100" dirty="0"/>
          </a:p>
        </p:txBody>
      </p:sp>
      <p:sp>
        <p:nvSpPr>
          <p:cNvPr id="8" name="Text 6"/>
          <p:cNvSpPr/>
          <p:nvPr/>
        </p:nvSpPr>
        <p:spPr>
          <a:xfrm>
            <a:off x="475488" y="1956816"/>
            <a:ext cx="8229600" cy="1060704"/>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Regular painful contractions — no cervical change</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Hospital may send her home (demoralizing)</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Baby may need to shift position</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Stress can be blocking active labor</a:t>
            </a:r>
            <a:endParaRPr lang="en-US" sz="1250" dirty="0"/>
          </a:p>
        </p:txBody>
      </p:sp>
      <p:sp>
        <p:nvSpPr>
          <p:cNvPr id="9" name="Shape 7"/>
          <p:cNvSpPr/>
          <p:nvPr/>
        </p:nvSpPr>
        <p:spPr>
          <a:xfrm>
            <a:off x="292608" y="3200400"/>
            <a:ext cx="8558784" cy="1572768"/>
          </a:xfrm>
          <a:prstGeom prst="rect">
            <a:avLst/>
          </a:prstGeom>
          <a:solidFill>
            <a:srgbClr val="FDF0F7"/>
          </a:solidFill>
          <a:ln w="12700">
            <a:solidFill>
              <a:srgbClr val="B5166B"/>
            </a:solidFill>
            <a:prstDash val="solid"/>
          </a:ln>
        </p:spPr>
        <p:txBody>
          <a:bodyPr/>
          <a:p/>
        </p:txBody>
      </p:sp>
      <p:sp>
        <p:nvSpPr>
          <p:cNvPr id="10" name="Shape 8"/>
          <p:cNvSpPr/>
          <p:nvPr/>
        </p:nvSpPr>
        <p:spPr>
          <a:xfrm>
            <a:off x="292608" y="3200400"/>
            <a:ext cx="64008" cy="1572768"/>
          </a:xfrm>
          <a:prstGeom prst="rect">
            <a:avLst/>
          </a:prstGeom>
          <a:solidFill>
            <a:srgbClr val="B5166B"/>
          </a:solidFill>
          <a:ln w="12700">
            <a:solidFill>
              <a:srgbClr val="B5166B"/>
            </a:solidFill>
            <a:prstDash val="solid"/>
          </a:ln>
        </p:spPr>
        <p:txBody>
          <a:bodyPr/>
          <a:p/>
        </p:txBody>
      </p:sp>
      <p:sp>
        <p:nvSpPr>
          <p:cNvPr id="11" name="Text 9"/>
          <p:cNvSpPr/>
          <p:nvPr/>
        </p:nvSpPr>
        <p:spPr>
          <a:xfrm>
            <a:off x="457200" y="3310128"/>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a:t>
            </a:r>
            <a:endParaRPr lang="en-US" sz="1100" dirty="0"/>
          </a:p>
        </p:txBody>
      </p:sp>
      <p:sp>
        <p:nvSpPr>
          <p:cNvPr id="12" name="Text 10"/>
          <p:cNvSpPr/>
          <p:nvPr/>
        </p:nvSpPr>
        <p:spPr>
          <a:xfrm>
            <a:off x="475488" y="3621024"/>
            <a:ext cx="8229600" cy="1078992"/>
          </a:xfrm>
          <a:prstGeom prst="rect">
            <a:avLst/>
          </a:prstGeom>
          <a:noFill/>
          <a:ln/>
        </p:spPr>
        <p:txBody>
          <a:bodyPr wrap="square" lIns="0" tIns="0" rIns="0" bIns="0" rtlCol="0" anchor="t"/>
          <a:lstStyle/>
          <a:p>
            <a:pPr marL="0" indent="0" algn="l">
              <a:lnSpc>
                <a:spcPct val="135000"/>
              </a:lnSpc>
              <a:buNone/>
            </a:pPr>
            <a:r>
              <a:rPr lang="en-US" sz="1250" i="1" dirty="0">
                <a:solidFill>
                  <a:srgbClr val="2D2D2D"/>
                </a:solidFill>
                <a:latin typeface="Georgia" pitchFamily="34" charset="0"/>
                <a:ea typeface="Georgia" pitchFamily="34" charset="-122"/>
                <a:cs typeface="Georgia" pitchFamily="34" charset="-120"/>
              </a:rPr>
              <a:t>“I know this is so frustrating. These contractions are real and they hurt, and you’ve been doing this work for hours. What’s happening is your body is preparing — softening your cervix, helping your baby get into position. This isn’t wasted effort. Every contraction is doing something important, even if we can’t measure it in centimeters yet. Let’s focus on rest between contractions and conserving your energy for when things really pick up.”</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1  ·  PHASE 2</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Active Labor — When Things Get Real</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She can no longer talk through contractions. This is when she needs you most.</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What’s happening</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Dilation: 6–8 cm</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Contractions every 3–5 min, 45–90 sec</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Talking stops — coping begins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Hospital typically admits now</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Average 1–2 cm/hour (varies)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Client turns inward — protect her focus</a:t>
            </a:r>
            <a:endParaRPr lang="en-US" sz="1250" dirty="0"/>
          </a:p>
        </p:txBody>
      </p:sp>
      <p:sp>
        <p:nvSpPr>
          <p:cNvPr id="9" name="Shape 7"/>
          <p:cNvSpPr/>
          <p:nvPr/>
        </p:nvSpPr>
        <p:spPr>
          <a:xfrm>
            <a:off x="4663440" y="1536192"/>
            <a:ext cx="4224528" cy="1737360"/>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1737360"/>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The ACOG 2014 Update</a:t>
            </a:r>
            <a:endParaRPr lang="en-US" sz="1100" dirty="0"/>
          </a:p>
        </p:txBody>
      </p:sp>
      <p:sp>
        <p:nvSpPr>
          <p:cNvPr id="12" name="Text 10"/>
          <p:cNvSpPr/>
          <p:nvPr/>
        </p:nvSpPr>
        <p:spPr>
          <a:xfrm>
            <a:off x="4828032" y="1956816"/>
            <a:ext cx="3877056" cy="124358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Active labor does not reliably begin until 6 cm. Before 2014, the threshold was 4 cm. This change was made to reduce unnecessary “failure to progress” diagnoses and cesareans. When a provider says she’s “not in active labor,” ask: is the cervix changing at all?</a:t>
            </a:r>
            <a:endParaRPr lang="en-US" sz="1200" dirty="0"/>
          </a:p>
        </p:txBody>
      </p:sp>
      <p:sp>
        <p:nvSpPr>
          <p:cNvPr id="15" name="Text 13"/>
          <p:cNvSpPr/>
          <p:nvPr/>
        </p:nvSpPr>
        <p:spPr>
          <a:xfrm>
            <a:off x="4846320" y="3493008"/>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Your doula role</a:t>
            </a:r>
            <a:endParaRPr lang="en-US" sz="1100" dirty="0"/>
          </a:p>
        </p:txBody>
      </p:sp>
      <p:sp>
        <p:nvSpPr>
          <p:cNvPr id="16" name="Text 14"/>
          <p:cNvSpPr/>
          <p:nvPr/>
        </p:nvSpPr>
        <p:spPr>
          <a:xfrm>
            <a:off x="4846320" y="3785616"/>
            <a:ext cx="3840480" cy="1078992"/>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Continuous presence — don’t leave the room</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Rhythm: breathe with her, move with her</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Counter-pressure, position changes every 20–30 min</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Partner coaching: quiet, calm, hands-on</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1  ·  PHASE 3</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Transition — The Peak</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Shortest phase. Most intense. Your anchor matters more here than anywhere else.</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it looks like</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Dilation: 8–10 cm</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Contractions every 1–3 min, 60–90 sec</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Shaking, nausea, vomiting are normal</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"Labor land" — altered consciousness</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Duration: 20–90 minutes</a:t>
            </a:r>
            <a:endParaRPr lang="en-US" sz="12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"I can't do this" = almost there</a:t>
            </a:r>
            <a:endParaRPr lang="en-US" sz="1250" dirty="0"/>
          </a:p>
        </p:txBody>
      </p:sp>
      <p:sp>
        <p:nvSpPr>
          <p:cNvPr id="9" name="Shape 7"/>
          <p:cNvSpPr/>
          <p:nvPr/>
        </p:nvSpPr>
        <p:spPr>
          <a:xfrm>
            <a:off x="4663440" y="1536192"/>
            <a:ext cx="4224528" cy="3364992"/>
          </a:xfrm>
          <a:prstGeom prst="rect">
            <a:avLst/>
          </a:prstGeom>
          <a:solidFill>
            <a:srgbClr val="FDF0F7"/>
          </a:solidFill>
          <a:ln w="12700">
            <a:solidFill>
              <a:srgbClr val="B5166B"/>
            </a:solidFill>
            <a:prstDash val="solid"/>
          </a:ln>
        </p:spPr>
        <p:txBody>
          <a:bodyPr/>
          <a:p/>
        </p:txBody>
      </p:sp>
      <p:sp>
        <p:nvSpPr>
          <p:cNvPr id="10" name="Shape 8"/>
          <p:cNvSpPr/>
          <p:nvPr/>
        </p:nvSpPr>
        <p:spPr>
          <a:xfrm>
            <a:off x="4663440" y="1536192"/>
            <a:ext cx="64008" cy="3364992"/>
          </a:xfrm>
          <a:prstGeom prst="rect">
            <a:avLst/>
          </a:prstGeom>
          <a:solidFill>
            <a:srgbClr val="B5166B"/>
          </a:solidFill>
          <a:ln w="12700">
            <a:solidFill>
              <a:srgbClr val="B5166B"/>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Scripts — The Transition Anchor</a:t>
            </a:r>
            <a:endParaRPr lang="en-US" sz="1100" dirty="0"/>
          </a:p>
        </p:txBody>
      </p:sp>
      <p:sp>
        <p:nvSpPr>
          <p:cNvPr id="12" name="Text 10"/>
          <p:cNvSpPr/>
          <p:nvPr/>
        </p:nvSpPr>
        <p:spPr>
          <a:xfrm>
            <a:off x="4828032" y="1993392"/>
            <a:ext cx="3877056" cy="1280160"/>
          </a:xfrm>
          <a:prstGeom prst="rect">
            <a:avLst/>
          </a:prstGeom>
          <a:noFill/>
          <a:ln/>
        </p:spPr>
        <p:txBody>
          <a:bodyPr wrap="square" lIns="0" tIns="0" rIns="0" bIns="0" rtlCol="0" anchor="t"/>
          <a:lstStyle/>
          <a:p>
            <a:pPr marL="0" indent="0" algn="l">
              <a:lnSpc>
                <a:spcPct val="140000"/>
              </a:lnSpc>
              <a:buNone/>
            </a:pPr>
            <a:r>
              <a:rPr lang="en-US" sz="1300" i="1" dirty="0">
                <a:solidFill>
                  <a:srgbClr val="2D2D2D"/>
                </a:solidFill>
                <a:latin typeface="Georgia" pitchFamily="34" charset="0"/>
                <a:ea typeface="Georgia" pitchFamily="34" charset="-122"/>
                <a:cs typeface="Georgia" pitchFamily="34" charset="-120"/>
              </a:rPr>
              <a:t>“You are doing it. Right now. This is the hardest part and you are already in it. Look at me. Breathe with me. One contraction at a time. You don’t have to get through all of them. Just this one.”</a:t>
            </a:r>
            <a:endParaRPr lang="en-US" sz="1300" dirty="0"/>
          </a:p>
        </p:txBody>
      </p:sp>
      <p:sp>
        <p:nvSpPr>
          <p:cNvPr id="13" name="Text 11"/>
          <p:cNvSpPr/>
          <p:nvPr/>
        </p:nvSpPr>
        <p:spPr>
          <a:xfrm>
            <a:off x="4828032" y="3364992"/>
            <a:ext cx="3877056" cy="237744"/>
          </a:xfrm>
          <a:prstGeom prst="rect">
            <a:avLst/>
          </a:prstGeom>
          <a:noFill/>
          <a:ln/>
        </p:spPr>
        <p:txBody>
          <a:bodyPr wrap="square" lIns="0" tIns="0" rIns="0" bIns="0" rtlCol="0" anchor="ctr"/>
          <a:lstStyle/>
          <a:p>
            <a:pPr marL="0" indent="0">
              <a:buNone/>
            </a:pPr>
            <a:r>
              <a:rPr lang="en-US" sz="1100" b="1" dirty="0">
                <a:solidFill>
                  <a:srgbClr val="B5166B"/>
                </a:solidFill>
                <a:latin typeface="Arial" pitchFamily="34" charset="0"/>
                <a:ea typeface="Arial" pitchFamily="34" charset="-122"/>
                <a:cs typeface="Arial" pitchFamily="34" charset="-120"/>
              </a:rPr>
              <a:t>When she says “I can’t do this”:</a:t>
            </a:r>
            <a:endParaRPr lang="en-US" sz="1100" dirty="0"/>
          </a:p>
        </p:txBody>
      </p:sp>
      <p:sp>
        <p:nvSpPr>
          <p:cNvPr id="14" name="Text 12"/>
          <p:cNvSpPr/>
          <p:nvPr/>
        </p:nvSpPr>
        <p:spPr>
          <a:xfrm>
            <a:off x="4828032" y="3639312"/>
            <a:ext cx="3877056" cy="1133856"/>
          </a:xfrm>
          <a:prstGeom prst="rect">
            <a:avLst/>
          </a:prstGeom>
          <a:noFill/>
          <a:ln/>
        </p:spPr>
        <p:txBody>
          <a:bodyPr wrap="square" lIns="0" tIns="0" rIns="0" bIns="0" rtlCol="0" anchor="t"/>
          <a:lstStyle/>
          <a:p>
            <a:pPr marL="0" indent="0" algn="l">
              <a:lnSpc>
                <a:spcPct val="140000"/>
              </a:lnSpc>
              <a:buNone/>
            </a:pPr>
            <a:r>
              <a:rPr lang="en-US" sz="1300" i="1" dirty="0">
                <a:solidFill>
                  <a:srgbClr val="2D2D2D"/>
                </a:solidFill>
                <a:latin typeface="Georgia" pitchFamily="34" charset="0"/>
                <a:ea typeface="Georgia" pitchFamily="34" charset="-122"/>
                <a:cs typeface="Georgia" pitchFamily="34" charset="-120"/>
              </a:rPr>
              <a:t>“I know. I hear you. And you already are doing it. This is transition — which means you are almost there. Your baby is almost here.”</a:t>
            </a:r>
            <a:endParaRPr lang="en-US" sz="130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2  ·  PUSHING &amp; BIRTH</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Stage 2 — Pushing &amp; Birth</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10 cm to baby in arms. A rush of relief — or the hardest work yet.</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What’s happening</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Full dilation (10 cm) → baby born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Duration: 30 min – 2 hrs (first babies)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Urge to push = intense pressure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Fetal ejection reflex may occur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"Ring of fire" as head crowns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Upright, hands-knees, side-lying all valid</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Your doula role</a:t>
            </a:r>
            <a:endParaRPr lang="en-US" sz="1100" dirty="0"/>
          </a:p>
        </p:txBody>
      </p:sp>
      <p:sp>
        <p:nvSpPr>
          <p:cNvPr id="12" name="Text 10"/>
          <p:cNvSpPr/>
          <p:nvPr/>
        </p:nvSpPr>
        <p:spPr>
          <a:xfrm>
            <a:off x="4846320" y="1938528"/>
            <a:ext cx="3858768" cy="1097280"/>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  Hold her leg or support position if needed</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Mirror breathing if panic-pushing</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Coach the partner: where to stand, what to say</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Dim lights, minimize chatter — protect the space</a:t>
            </a:r>
            <a:endParaRPr lang="en-US" sz="1200" dirty="0"/>
          </a:p>
        </p:txBody>
      </p:sp>
      <p:sp>
        <p:nvSpPr>
          <p:cNvPr id="13" name="Shape 11"/>
          <p:cNvSpPr/>
          <p:nvPr/>
        </p:nvSpPr>
        <p:spPr>
          <a:xfrm>
            <a:off x="4663440" y="3200400"/>
            <a:ext cx="4224528" cy="1700784"/>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200400"/>
            <a:ext cx="64008" cy="1700784"/>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310128"/>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 — At Crowning</a:t>
            </a:r>
            <a:endParaRPr lang="en-US" sz="1100" dirty="0"/>
          </a:p>
        </p:txBody>
      </p:sp>
      <p:sp>
        <p:nvSpPr>
          <p:cNvPr id="16" name="Text 14"/>
          <p:cNvSpPr/>
          <p:nvPr/>
        </p:nvSpPr>
        <p:spPr>
          <a:xfrm>
            <a:off x="4828032" y="3657600"/>
            <a:ext cx="3877056" cy="1152144"/>
          </a:xfrm>
          <a:prstGeom prst="rect">
            <a:avLst/>
          </a:prstGeom>
          <a:noFill/>
          <a:ln/>
        </p:spPr>
        <p:txBody>
          <a:bodyPr wrap="square" lIns="0" tIns="0" rIns="0" bIns="0" rtlCol="0" anchor="t"/>
          <a:lstStyle/>
          <a:p>
            <a:pPr marL="0" indent="0" algn="l">
              <a:lnSpc>
                <a:spcPct val="140000"/>
              </a:lnSpc>
              <a:buNone/>
            </a:pPr>
            <a:r>
              <a:rPr lang="en-US" sz="1250" i="1" dirty="0">
                <a:solidFill>
                  <a:srgbClr val="2D2D2D"/>
                </a:solidFill>
                <a:latin typeface="Georgia" pitchFamily="34" charset="0"/>
                <a:ea typeface="Georgia" pitchFamily="34" charset="-122"/>
                <a:cs typeface="Georgia" pitchFamily="34" charset="-120"/>
              </a:rPr>
              <a:t>“You’re almost there. Your baby’s head is right here. Slow breath now — just breathe your baby out. You’re going to meet them in the next few pushes.”</a:t>
            </a:r>
            <a:endParaRPr lang="en-US" sz="12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3  ·  PLACENTA DELIVERY</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Stage 3 — The Placenta</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The only organ the body grows for nine months — and then releases.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What’s happening</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From birth to placenta delivery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Duration: 5–30 minutes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Uterus contracts to expel placenta</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Signs: blood gush, cord lengthens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Two types: physiological or active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Retained &gt;30 min → alert provider</a:t>
            </a:r>
            <a:endParaRPr lang="en-US" sz="1250" dirty="0"/>
          </a:p>
        </p:txBody>
      </p:sp>
      <p:sp>
        <p:nvSpPr>
          <p:cNvPr id="9" name="Shape 7"/>
          <p:cNvSpPr/>
          <p:nvPr/>
        </p:nvSpPr>
        <p:spPr>
          <a:xfrm>
            <a:off x="4663440" y="1536192"/>
            <a:ext cx="4224528" cy="1664208"/>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1664208"/>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Delayed Cord Clamping</a:t>
            </a:r>
            <a:endParaRPr lang="en-US" sz="1100" dirty="0"/>
          </a:p>
        </p:txBody>
      </p:sp>
      <p:sp>
        <p:nvSpPr>
          <p:cNvPr id="12" name="Text 10"/>
          <p:cNvSpPr/>
          <p:nvPr/>
        </p:nvSpPr>
        <p:spPr>
          <a:xfrm>
            <a:off x="4828032" y="1901952"/>
            <a:ext cx="3877056" cy="1225296"/>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ACOG (2020) and WHO recommend waiting at least 30–60 seconds before clamping — ideally until the cord stops pulsing (3–5 min). This transfers up to 30% more blood volume to the baby and reduces neonatal anemia risk. Advocate for this in the birth plan.</a:t>
            </a:r>
            <a:endParaRPr lang="en-US" sz="1200" dirty="0"/>
          </a:p>
        </p:txBody>
      </p:sp>
      <p:sp>
        <p:nvSpPr>
          <p:cNvPr id="15" name="Text 13"/>
          <p:cNvSpPr/>
          <p:nvPr/>
        </p:nvSpPr>
        <p:spPr>
          <a:xfrm>
            <a:off x="4846320" y="3419856"/>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Your doula role</a:t>
            </a:r>
            <a:endParaRPr lang="en-US" sz="1100" dirty="0"/>
          </a:p>
        </p:txBody>
      </p:sp>
      <p:sp>
        <p:nvSpPr>
          <p:cNvPr id="16" name="Text 14"/>
          <p:cNvSpPr/>
          <p:nvPr/>
        </p:nvSpPr>
        <p:spPr>
          <a:xfrm>
            <a:off x="4846320" y="3712464"/>
            <a:ext cx="3858768" cy="1152144"/>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  Client is focused on baby — you watch for heavy bleeding</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Remind her: a few more pushes, almost done</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Advocate for cord clamping timing per birth plan</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Begin protecting the Golden Hour from this moment</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STAGE 4  ·  THE GOLDEN HOUR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Stage 4 — The Golden Hour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 are the guardian of this time. Your job is to protect it.</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Why it matters</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First 1–2 hours postpartum — bonding window</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Oxytocin flood from skin-to-skin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Prolactin spike → milk production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Endorphins → "birth high"</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Stabilizes baby temp, HR, blood sugar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Don't interrupt this physiology</a:t>
            </a:r>
            <a:endParaRPr lang="en-US" sz="1250" dirty="0"/>
          </a:p>
        </p:txBody>
      </p:sp>
      <p:sp>
        <p:nvSpPr>
          <p:cNvPr id="9" name="Shape 7"/>
          <p:cNvSpPr/>
          <p:nvPr/>
        </p:nvSpPr>
        <p:spPr>
          <a:xfrm>
            <a:off x="4663440" y="1536192"/>
            <a:ext cx="4224528" cy="1847088"/>
          </a:xfrm>
          <a:prstGeom prst="rect">
            <a:avLst/>
          </a:prstGeom>
          <a:solidFill>
            <a:srgbClr val="FDF0F7"/>
          </a:solidFill>
          <a:ln w="12700">
            <a:solidFill>
              <a:srgbClr val="B5166B"/>
            </a:solidFill>
            <a:prstDash val="solid"/>
          </a:ln>
        </p:spPr>
        <p:txBody>
          <a:bodyPr/>
          <a:p/>
        </p:txBody>
      </p:sp>
      <p:sp>
        <p:nvSpPr>
          <p:cNvPr id="10" name="Shape 8"/>
          <p:cNvSpPr/>
          <p:nvPr/>
        </p:nvSpPr>
        <p:spPr>
          <a:xfrm>
            <a:off x="4663440" y="1536192"/>
            <a:ext cx="64008" cy="1847088"/>
          </a:xfrm>
          <a:prstGeom prst="rect">
            <a:avLst/>
          </a:prstGeom>
          <a:solidFill>
            <a:srgbClr val="B5166B"/>
          </a:solidFill>
          <a:ln w="12700">
            <a:solidFill>
              <a:srgbClr val="B5166B"/>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Scripts — Protecting the Hour</a:t>
            </a:r>
            <a:endParaRPr lang="en-US" sz="1100" dirty="0"/>
          </a:p>
        </p:txBody>
      </p:sp>
      <p:sp>
        <p:nvSpPr>
          <p:cNvPr id="12" name="Text 10"/>
          <p:cNvSpPr/>
          <p:nvPr/>
        </p:nvSpPr>
        <p:spPr>
          <a:xfrm>
            <a:off x="4828032" y="1993392"/>
            <a:ext cx="3877056" cy="1316736"/>
          </a:xfrm>
          <a:prstGeom prst="rect">
            <a:avLst/>
          </a:prstGeom>
          <a:noFill/>
          <a:ln/>
        </p:spPr>
        <p:txBody>
          <a:bodyPr wrap="square" lIns="0" tIns="0" rIns="0" bIns="0" rtlCol="0" anchor="t"/>
          <a:lstStyle/>
          <a:p>
            <a:pPr marL="0" indent="0" algn="l">
              <a:lnSpc>
                <a:spcPct val="142000"/>
              </a:lnSpc>
              <a:buNone/>
            </a:pPr>
            <a:r>
              <a:rPr lang="en-US" sz="1200" i="1" dirty="0">
                <a:solidFill>
                  <a:srgbClr val="2D2D2D"/>
                </a:solidFill>
                <a:latin typeface="Georgia" pitchFamily="34" charset="0"/>
                <a:ea typeface="Georgia" pitchFamily="34" charset="-122"/>
                <a:cs typeface="Georgia" pitchFamily="34" charset="-120"/>
              </a:rPr>
              <a:t>To staff: “Is there anything that absolutely has to happen right now, or can we let them have some uninterrupted time first?”</a:t>
            </a:r>
            <a:endParaRPr lang="en-US" sz="1200" dirty="0"/>
          </a:p>
          <a:p>
            <a:pPr marL="0" indent="0" algn="l">
              <a:lnSpc>
                <a:spcPct val="142000"/>
              </a:lnSpc>
              <a:buNone/>
            </a:pPr>
            <a:endParaRPr lang="en-US" sz="1200" dirty="0"/>
          </a:p>
          <a:p>
            <a:pPr marL="0" indent="0" algn="l">
              <a:lnSpc>
                <a:spcPct val="142000"/>
              </a:lnSpc>
              <a:buNone/>
            </a:pPr>
            <a:r>
              <a:rPr lang="en-US" sz="1200" i="1" dirty="0">
                <a:solidFill>
                  <a:srgbClr val="2D2D2D"/>
                </a:solidFill>
                <a:latin typeface="Georgia" pitchFamily="34" charset="0"/>
                <a:ea typeface="Georgia" pitchFamily="34" charset="-122"/>
                <a:cs typeface="Georgia" pitchFamily="34" charset="-120"/>
              </a:rPr>
              <a:t>To partner: “Tell her how amazing she is. She just did something extraordinary.”</a:t>
            </a:r>
            <a:endParaRPr lang="en-US" sz="1200" dirty="0"/>
          </a:p>
          <a:p>
            <a:pPr marL="0" indent="0" algn="l">
              <a:lnSpc>
                <a:spcPct val="142000"/>
              </a:lnSpc>
              <a:buNone/>
            </a:pPr>
            <a:endParaRPr lang="en-US" sz="1200" dirty="0"/>
          </a:p>
          <a:p>
            <a:pPr marL="0" indent="0" algn="l">
              <a:lnSpc>
                <a:spcPct val="142000"/>
              </a:lnSpc>
              <a:buNone/>
            </a:pPr>
            <a:r>
              <a:rPr lang="en-US" sz="1200" i="1" dirty="0">
                <a:solidFill>
                  <a:srgbClr val="2D2D2D"/>
                </a:solidFill>
                <a:latin typeface="Georgia" pitchFamily="34" charset="0"/>
                <a:ea typeface="Georgia" pitchFamily="34" charset="-122"/>
                <a:cs typeface="Georgia" pitchFamily="34" charset="-120"/>
              </a:rPr>
              <a:t>To family: “Visitors can wait. This hour is theirs.”</a:t>
            </a:r>
            <a:endParaRPr lang="en-US" sz="1200" dirty="0"/>
          </a:p>
        </p:txBody>
      </p:sp>
      <p:sp>
        <p:nvSpPr>
          <p:cNvPr id="15" name="Text 13"/>
          <p:cNvSpPr/>
          <p:nvPr/>
        </p:nvSpPr>
        <p:spPr>
          <a:xfrm>
            <a:off x="4846320" y="3602736"/>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Routine procedures that CAN wait</a:t>
            </a:r>
            <a:endParaRPr lang="en-US" sz="1100" dirty="0"/>
          </a:p>
        </p:txBody>
      </p:sp>
      <p:sp>
        <p:nvSpPr>
          <p:cNvPr id="16" name="Text 14"/>
          <p:cNvSpPr/>
          <p:nvPr/>
        </p:nvSpPr>
        <p:spPr>
          <a:xfrm>
            <a:off x="4846320" y="3895344"/>
            <a:ext cx="3858768" cy="969264"/>
          </a:xfrm>
          <a:prstGeom prst="rect">
            <a:avLst/>
          </a:prstGeom>
          <a:noFill/>
          <a:ln/>
        </p:spPr>
        <p:txBody>
          <a:bodyPr wrap="square" lIns="0" tIns="0" rIns="0" bIns="0" rtlCol="0" anchor="t"/>
          <a:lstStyle/>
          <a:p>
            <a:pPr marL="0" indent="0">
              <a:spcAft>
                <a:spcPts val="300"/>
              </a:spcAft>
              <a:buNone/>
            </a:pPr>
            <a:r>
              <a:rPr lang="en-US" sz="2000" dirty="0">
                <a:solidFill>
                  <a:srgbClr val="2D2D2D"/>
                </a:solidFill>
                <a:latin typeface="Arial" pitchFamily="34" charset="0"/>
                <a:ea typeface="Arial" pitchFamily="34" charset="-122"/>
                <a:cs typeface="Arial" pitchFamily="34" charset="-120"/>
              </a:rPr>
              <a:t>–  Weight &amp; measurements: 1–2 hours</a:t>
            </a:r>
            <a:endParaRPr lang="en-US" sz="120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First bath: up to 24 hours (vernix is protective)</a:t>
            </a:r>
            <a:endParaRPr lang="en-US" sz="120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Eye ointment &amp; Vitamin K: up to 1 hour</a:t>
            </a:r>
            <a:endParaRPr lang="en-US" sz="120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Newborn exam: can be done on parent’s chest</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900" b="1" kern="0" spc="200" dirty="0">
                <a:solidFill>
                  <a:srgbClr val="5E376C"/>
                </a:solidFill>
                <a:latin typeface="Arial" pitchFamily="34" charset="0"/>
                <a:ea typeface="Arial" pitchFamily="34" charset="-122"/>
                <a:cs typeface="Arial" pitchFamily="34" charset="-120"/>
              </a:rPr>
              <a:t>ACTIVITY  ·  10 MINUTES</a:t>
            </a:r>
            <a:endParaRPr lang="en-US" sz="900" dirty="0"/>
          </a:p>
        </p:txBody>
      </p:sp>
      <p:sp>
        <p:nvSpPr>
          <p:cNvPr id="5" name="Text 3"/>
          <p:cNvSpPr/>
          <p:nvPr/>
        </p:nvSpPr>
        <p:spPr>
          <a:xfrm>
            <a:off x="457200" y="493776"/>
            <a:ext cx="8229600" cy="621792"/>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Doula Task Mapping</a:t>
            </a:r>
            <a:endParaRPr lang="en-US" sz="3200" dirty="0"/>
          </a:p>
        </p:txBody>
      </p:sp>
      <p:sp>
        <p:nvSpPr>
          <p:cNvPr id="6" name="Shape 4"/>
          <p:cNvSpPr/>
          <p:nvPr/>
        </p:nvSpPr>
        <p:spPr>
          <a:xfrm>
            <a:off x="457200" y="1225296"/>
            <a:ext cx="8229600" cy="1225296"/>
          </a:xfrm>
          <a:prstGeom prst="rect">
            <a:avLst/>
          </a:prstGeom>
          <a:solidFill>
            <a:srgbClr val="F5F1F8"/>
          </a:solidFill>
          <a:ln w="12700">
            <a:solidFill>
              <a:srgbClr val="C9B8D8"/>
            </a:solidFill>
            <a:prstDash val="solid"/>
          </a:ln>
        </p:spPr>
        <p:txBody>
          <a:bodyPr/>
          <a:p/>
        </p:txBody>
      </p:sp>
      <p:sp>
        <p:nvSpPr>
          <p:cNvPr id="7" name="Shape 5"/>
          <p:cNvSpPr/>
          <p:nvPr/>
        </p:nvSpPr>
        <p:spPr>
          <a:xfrm>
            <a:off x="457200" y="1225296"/>
            <a:ext cx="64008" cy="1225296"/>
          </a:xfrm>
          <a:prstGeom prst="rect">
            <a:avLst/>
          </a:prstGeom>
          <a:solidFill>
            <a:srgbClr val="5E376C"/>
          </a:solidFill>
          <a:ln w="12700">
            <a:solidFill>
              <a:srgbClr val="5E376C"/>
            </a:solidFill>
            <a:prstDash val="solid"/>
          </a:ln>
        </p:spPr>
        <p:txBody>
          <a:bodyPr/>
          <a:p/>
        </p:txBody>
      </p:sp>
      <p:sp>
        <p:nvSpPr>
          <p:cNvPr id="8" name="Text 6"/>
          <p:cNvSpPr/>
          <p:nvPr/>
        </p:nvSpPr>
        <p:spPr>
          <a:xfrm>
            <a:off x="640080" y="1335024"/>
            <a:ext cx="7863840" cy="1042416"/>
          </a:xfrm>
          <a:prstGeom prst="rect">
            <a:avLst/>
          </a:prstGeom>
          <a:noFill/>
          <a:ln/>
        </p:spPr>
        <p:txBody>
          <a:bodyPr wrap="square" lIns="0" tIns="0" rIns="0" bIns="0" rtlCol="0" anchor="t"/>
          <a:lstStyle/>
          <a:p>
            <a:pPr marL="0" indent="0" algn="l">
              <a:lnSpc>
                <a:spcPct val="145000"/>
              </a:lnSpc>
              <a:buNone/>
            </a:pPr>
            <a:r>
              <a:rPr lang="en-US" sz="1300" dirty="0">
                <a:solidFill>
                  <a:srgbClr val="2D2D2D"/>
                </a:solidFill>
                <a:latin typeface="Arial" pitchFamily="34" charset="0"/>
                <a:ea typeface="Arial" pitchFamily="34" charset="-122"/>
                <a:cs typeface="Arial" pitchFamily="34" charset="-120"/>
              </a:rPr>
              <a:t>In the chat, drop your answer: You’ve just arrived at the hospital with your client. She’s 5 cm. Thirty minutes later she’s still 5 cm. Two hours after that she’s 7 cm and shaking. What’s your doula role at each of those three moments — and what changes?</a:t>
            </a:r>
            <a:endParaRPr lang="en-US" sz="1300" dirty="0"/>
          </a:p>
        </p:txBody>
      </p:sp>
      <p:sp>
        <p:nvSpPr>
          <p:cNvPr id="9" name="Text 7"/>
          <p:cNvSpPr/>
          <p:nvPr/>
        </p:nvSpPr>
        <p:spPr>
          <a:xfrm>
            <a:off x="457200" y="2596896"/>
            <a:ext cx="8229600" cy="274320"/>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Discuss with your group:</a:t>
            </a:r>
            <a:endParaRPr lang="en-US" sz="1200" dirty="0"/>
          </a:p>
        </p:txBody>
      </p:sp>
      <p:sp>
        <p:nvSpPr>
          <p:cNvPr id="10" name="Text 8"/>
          <p:cNvSpPr/>
          <p:nvPr/>
        </p:nvSpPr>
        <p:spPr>
          <a:xfrm>
            <a:off x="457200" y="2907792"/>
            <a:ext cx="8229600" cy="1463040"/>
          </a:xfrm>
          <a:prstGeom prst="rect">
            <a:avLst/>
          </a:prstGeom>
          <a:noFill/>
          <a:ln/>
        </p:spPr>
        <p:txBody>
          <a:bodyPr wrap="square" lIns="0" tIns="0" rIns="0" bIns="0" rtlCol="0" anchor="t"/>
          <a:lstStyle/>
          <a:p>
            <a:pPr marL="0" indent="0">
              <a:spcAft>
                <a:spcPts val="600"/>
              </a:spcAft>
              <a:buNone/>
            </a:pPr>
            <a:r>
              <a:rPr lang="en-US" sz="1300" dirty="0">
                <a:solidFill>
                  <a:srgbClr val="2D2D2D"/>
                </a:solidFill>
                <a:latin typeface="Arial" pitchFamily="34" charset="0"/>
                <a:ea typeface="Arial" pitchFamily="34" charset="-122"/>
                <a:cs typeface="Arial" pitchFamily="34" charset="-120"/>
              </a:rPr>
              <a:t>–  What changes about your role from early labor through transition?</a:t>
            </a:r>
            <a:endParaRPr lang="en-US" sz="1300" dirty="0"/>
          </a:p>
          <a:p>
            <a:pPr marL="0" indent="0">
              <a:spcAft>
                <a:spcPts val="600"/>
              </a:spcAft>
              <a:buNone/>
            </a:pPr>
            <a:r>
              <a:rPr lang="en-US" sz="1300" dirty="0">
                <a:solidFill>
                  <a:srgbClr val="2D2D2D"/>
                </a:solidFill>
                <a:latin typeface="Arial" pitchFamily="34" charset="0"/>
                <a:ea typeface="Arial" pitchFamily="34" charset="-122"/>
                <a:cs typeface="Arial" pitchFamily="34" charset="-120"/>
              </a:rPr>
              <a:t>–  What does “continuous support” actually look like hour by hour?</a:t>
            </a:r>
            <a:endParaRPr lang="en-US" sz="1300" dirty="0"/>
          </a:p>
          <a:p>
            <a:pPr marL="0" indent="0">
              <a:spcAft>
                <a:spcPts val="600"/>
              </a:spcAft>
              <a:buNone/>
            </a:pPr>
            <a:r>
              <a:rPr lang="en-US" sz="1300" dirty="0">
                <a:solidFill>
                  <a:srgbClr val="2D2D2D"/>
                </a:solidFill>
                <a:latin typeface="Arial" pitchFamily="34" charset="0"/>
                <a:ea typeface="Arial" pitchFamily="34" charset="-122"/>
                <a:cs typeface="Arial" pitchFamily="34" charset="-120"/>
              </a:rPr>
              <a:t>–  When is silence more supportive than talking?</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TWO</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The Hormonal</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Symphony 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Labor doesn’t start in the uterus. It starts in the brain.</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The body releases hormones only when it feels safe, supported, and undisturbed.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HORMONES OF LABOR  ·  OVERVIEW</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Labor Hormones — An Overview</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Your calm presence isn’t just emotional support — it is hormonal support.</a:t>
            </a:r>
            <a:endParaRPr lang="en-US" sz="1350" dirty="0"/>
          </a:p>
        </p:txBody>
      </p:sp>
      <p:sp>
        <p:nvSpPr>
          <p:cNvPr id="5" name="Shape 3"/>
          <p:cNvSpPr/>
          <p:nvPr/>
        </p:nvSpPr>
        <p:spPr>
          <a:xfrm>
            <a:off x="292608" y="1554480"/>
            <a:ext cx="201168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54480"/>
            <a:ext cx="64008" cy="3310128"/>
          </a:xfrm>
          <a:prstGeom prst="rect">
            <a:avLst/>
          </a:prstGeom>
          <a:solidFill>
            <a:srgbClr val="5E376C"/>
          </a:solidFill>
          <a:ln w="12700">
            <a:solidFill>
              <a:srgbClr val="5E376C"/>
            </a:solidFill>
            <a:prstDash val="solid"/>
          </a:ln>
        </p:spPr>
        <p:txBody>
          <a:bodyPr/>
          <a:p/>
        </p:txBody>
      </p:sp>
      <p:sp>
        <p:nvSpPr>
          <p:cNvPr id="7" name="Shape 5"/>
          <p:cNvSpPr/>
          <p:nvPr/>
        </p:nvSpPr>
        <p:spPr>
          <a:xfrm>
            <a:off x="886968" y="1737360"/>
            <a:ext cx="822960" cy="822960"/>
          </a:xfrm>
          <a:prstGeom prst="ellipse">
            <a:avLst/>
          </a:prstGeom>
          <a:solidFill>
            <a:srgbClr val="5E376C"/>
          </a:solidFill>
          <a:ln w="12700">
            <a:solidFill>
              <a:srgbClr val="5E376C"/>
            </a:solidFill>
            <a:prstDash val="solid"/>
          </a:ln>
        </p:spPr>
        <p:txBody>
          <a:bodyPr/>
          <a:p/>
        </p:txBody>
      </p:sp>
      <p:sp>
        <p:nvSpPr>
          <p:cNvPr id="8" name="Text 6"/>
          <p:cNvSpPr/>
          <p:nvPr/>
        </p:nvSpPr>
        <p:spPr>
          <a:xfrm>
            <a:off x="40233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Oxytocin</a:t>
            </a:r>
            <a:endParaRPr lang="en-US" sz="1400" dirty="0"/>
          </a:p>
        </p:txBody>
      </p:sp>
      <p:sp>
        <p:nvSpPr>
          <p:cNvPr id="9" name="Text 7"/>
          <p:cNvSpPr/>
          <p:nvPr/>
        </p:nvSpPr>
        <p:spPr>
          <a:xfrm>
            <a:off x="402336" y="3017520"/>
            <a:ext cx="1810512" cy="219456"/>
          </a:xfrm>
          <a:prstGeom prst="rect">
            <a:avLst/>
          </a:prstGeom>
          <a:noFill/>
          <a:ln/>
        </p:spPr>
        <p:txBody>
          <a:bodyPr wrap="square" lIns="0" tIns="0" rIns="0" bIns="0" rtlCol="0" anchor="ctr"/>
          <a:lstStyle/>
          <a:p>
            <a:pPr marL="0" indent="0" algn="l">
              <a:buNone/>
            </a:pPr>
            <a:r>
              <a:rPr lang="en-US" sz="1050" i="1" dirty="0">
                <a:solidFill>
                  <a:srgbClr val="845995"/>
                </a:solidFill>
                <a:latin typeface="Georgia" pitchFamily="34" charset="0"/>
                <a:ea typeface="Georgia" pitchFamily="34" charset="-122"/>
                <a:cs typeface="Georgia" pitchFamily="34" charset="-120"/>
              </a:rPr>
              <a:t>The Love Hormone</a:t>
            </a:r>
            <a:endParaRPr lang="en-US" sz="1050" dirty="0"/>
          </a:p>
        </p:txBody>
      </p:sp>
      <p:sp>
        <p:nvSpPr>
          <p:cNvPr id="10" name="Text 8"/>
          <p:cNvSpPr/>
          <p:nvPr/>
        </p:nvSpPr>
        <p:spPr>
          <a:xfrm>
            <a:off x="402336" y="3291840"/>
            <a:ext cx="1810512" cy="1389888"/>
          </a:xfrm>
          <a:prstGeom prst="rect">
            <a:avLst/>
          </a:prstGeom>
          <a:noFill/>
          <a:ln/>
        </p:spPr>
        <p:txBody>
          <a:bodyPr wrap="square" lIns="0" tIns="0" rIns="0" bIns="0" rtlCol="0" anchor="t"/>
          <a:lstStyle/>
          <a:p>
            <a:pPr marL="0" indent="0" algn="l">
              <a:lnSpc>
                <a:spcPct val="140000"/>
              </a:lnSpc>
              <a:buNone/>
            </a:pPr>
            <a:r>
              <a:rPr lang="en-US" sz="1150" dirty="0">
                <a:solidFill>
                  <a:srgbClr val="2D2D2D"/>
                </a:solidFill>
                <a:latin typeface="Arial" pitchFamily="34" charset="0"/>
                <a:ea typeface="Arial" pitchFamily="34" charset="-122"/>
                <a:cs typeface="Arial" pitchFamily="34" charset="-120"/>
              </a:rPr>
              <a:t>Triggers and sustains contractions. Released by touch, warmth, and safety. Pitocin is its synthetic form.</a:t>
            </a:r>
            <a:endParaRPr lang="en-US" sz="1150" dirty="0"/>
          </a:p>
        </p:txBody>
      </p:sp>
      <p:sp>
        <p:nvSpPr>
          <p:cNvPr id="11" name="Shape 9"/>
          <p:cNvSpPr/>
          <p:nvPr/>
        </p:nvSpPr>
        <p:spPr>
          <a:xfrm>
            <a:off x="2395728" y="1554480"/>
            <a:ext cx="2011680" cy="3310128"/>
          </a:xfrm>
          <a:prstGeom prst="rect">
            <a:avLst/>
          </a:prstGeom>
          <a:solidFill>
            <a:srgbClr val="F5F1F8"/>
          </a:solidFill>
          <a:ln w="12700">
            <a:solidFill>
              <a:srgbClr val="C9B8D8"/>
            </a:solidFill>
            <a:prstDash val="solid"/>
          </a:ln>
        </p:spPr>
        <p:txBody>
          <a:bodyPr/>
          <a:p/>
        </p:txBody>
      </p:sp>
      <p:sp>
        <p:nvSpPr>
          <p:cNvPr id="12" name="Shape 10"/>
          <p:cNvSpPr/>
          <p:nvPr/>
        </p:nvSpPr>
        <p:spPr>
          <a:xfrm>
            <a:off x="2395728" y="1554480"/>
            <a:ext cx="64008" cy="3310128"/>
          </a:xfrm>
          <a:prstGeom prst="rect">
            <a:avLst/>
          </a:prstGeom>
          <a:solidFill>
            <a:srgbClr val="5E376C"/>
          </a:solidFill>
          <a:ln w="12700">
            <a:solidFill>
              <a:srgbClr val="5E376C"/>
            </a:solidFill>
            <a:prstDash val="solid"/>
          </a:ln>
        </p:spPr>
        <p:txBody>
          <a:bodyPr/>
          <a:p/>
        </p:txBody>
      </p:sp>
      <p:sp>
        <p:nvSpPr>
          <p:cNvPr id="13" name="Shape 11"/>
          <p:cNvSpPr/>
          <p:nvPr/>
        </p:nvSpPr>
        <p:spPr>
          <a:xfrm>
            <a:off x="2990088" y="1737360"/>
            <a:ext cx="822960" cy="822960"/>
          </a:xfrm>
          <a:prstGeom prst="ellipse">
            <a:avLst/>
          </a:prstGeom>
          <a:solidFill>
            <a:srgbClr val="5E376C"/>
          </a:solidFill>
          <a:ln w="12700">
            <a:solidFill>
              <a:srgbClr val="5E376C"/>
            </a:solidFill>
            <a:prstDash val="solid"/>
          </a:ln>
        </p:spPr>
        <p:txBody>
          <a:bodyPr/>
          <a:p/>
        </p:txBody>
      </p:sp>
      <p:sp>
        <p:nvSpPr>
          <p:cNvPr id="14" name="Text 12"/>
          <p:cNvSpPr/>
          <p:nvPr/>
        </p:nvSpPr>
        <p:spPr>
          <a:xfrm>
            <a:off x="250545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Endorphins</a:t>
            </a:r>
            <a:endParaRPr lang="en-US" sz="1400" dirty="0"/>
          </a:p>
        </p:txBody>
      </p:sp>
      <p:sp>
        <p:nvSpPr>
          <p:cNvPr id="15" name="Text 13"/>
          <p:cNvSpPr/>
          <p:nvPr/>
        </p:nvSpPr>
        <p:spPr>
          <a:xfrm>
            <a:off x="2505456" y="3017520"/>
            <a:ext cx="1810512" cy="219456"/>
          </a:xfrm>
          <a:prstGeom prst="rect">
            <a:avLst/>
          </a:prstGeom>
          <a:noFill/>
          <a:ln/>
        </p:spPr>
        <p:txBody>
          <a:bodyPr wrap="square" lIns="0" tIns="0" rIns="0" bIns="0" rtlCol="0" anchor="ctr"/>
          <a:lstStyle/>
          <a:p>
            <a:pPr marL="0" indent="0" algn="l">
              <a:buNone/>
            </a:pPr>
            <a:r>
              <a:rPr lang="en-US" sz="1050" i="1" dirty="0">
                <a:solidFill>
                  <a:srgbClr val="845995"/>
                </a:solidFill>
                <a:latin typeface="Georgia" pitchFamily="34" charset="0"/>
                <a:ea typeface="Georgia" pitchFamily="34" charset="-122"/>
                <a:cs typeface="Georgia" pitchFamily="34" charset="-120"/>
              </a:rPr>
              <a:t>Natural Pain Relief</a:t>
            </a:r>
            <a:endParaRPr lang="en-US" sz="1050" dirty="0"/>
          </a:p>
        </p:txBody>
      </p:sp>
      <p:sp>
        <p:nvSpPr>
          <p:cNvPr id="16" name="Text 14"/>
          <p:cNvSpPr/>
          <p:nvPr/>
        </p:nvSpPr>
        <p:spPr>
          <a:xfrm>
            <a:off x="2505456" y="3291840"/>
            <a:ext cx="1810512" cy="1389888"/>
          </a:xfrm>
          <a:prstGeom prst="rect">
            <a:avLst/>
          </a:prstGeom>
          <a:noFill/>
          <a:ln/>
        </p:spPr>
        <p:txBody>
          <a:bodyPr wrap="square" lIns="0" tIns="0" rIns="0" bIns="0" rtlCol="0" anchor="t"/>
          <a:lstStyle/>
          <a:p>
            <a:pPr marL="0" indent="0" algn="l">
              <a:lnSpc>
                <a:spcPct val="140000"/>
              </a:lnSpc>
              <a:buNone/>
            </a:pPr>
            <a:r>
              <a:rPr lang="en-US" sz="1150" dirty="0">
                <a:solidFill>
                  <a:srgbClr val="2D2D2D"/>
                </a:solidFill>
                <a:latin typeface="Arial" pitchFamily="34" charset="0"/>
                <a:ea typeface="Arial" pitchFamily="34" charset="-122"/>
                <a:cs typeface="Arial" pitchFamily="34" charset="-120"/>
              </a:rPr>
              <a:t>Rise with contraction intensity. Create “labor land.” Blocked when adrenaline rises.</a:t>
            </a:r>
            <a:endParaRPr lang="en-US" sz="1150" dirty="0"/>
          </a:p>
        </p:txBody>
      </p:sp>
      <p:sp>
        <p:nvSpPr>
          <p:cNvPr id="17" name="Shape 15"/>
          <p:cNvSpPr/>
          <p:nvPr/>
        </p:nvSpPr>
        <p:spPr>
          <a:xfrm>
            <a:off x="4498848" y="1554480"/>
            <a:ext cx="2011680" cy="3310128"/>
          </a:xfrm>
          <a:prstGeom prst="rect">
            <a:avLst/>
          </a:prstGeom>
          <a:solidFill>
            <a:srgbClr val="F5F1F8"/>
          </a:solidFill>
          <a:ln w="12700">
            <a:solidFill>
              <a:srgbClr val="C9B8D8"/>
            </a:solidFill>
            <a:prstDash val="solid"/>
          </a:ln>
        </p:spPr>
        <p:txBody>
          <a:bodyPr/>
          <a:p/>
        </p:txBody>
      </p:sp>
      <p:sp>
        <p:nvSpPr>
          <p:cNvPr id="18" name="Shape 16"/>
          <p:cNvSpPr/>
          <p:nvPr/>
        </p:nvSpPr>
        <p:spPr>
          <a:xfrm>
            <a:off x="4498848" y="1554480"/>
            <a:ext cx="64008" cy="3310128"/>
          </a:xfrm>
          <a:prstGeom prst="rect">
            <a:avLst/>
          </a:prstGeom>
          <a:solidFill>
            <a:srgbClr val="5E376C"/>
          </a:solidFill>
          <a:ln w="12700">
            <a:solidFill>
              <a:srgbClr val="5E376C"/>
            </a:solidFill>
            <a:prstDash val="solid"/>
          </a:ln>
        </p:spPr>
        <p:txBody>
          <a:bodyPr/>
          <a:p/>
        </p:txBody>
      </p:sp>
      <p:sp>
        <p:nvSpPr>
          <p:cNvPr id="19" name="Shape 17"/>
          <p:cNvSpPr/>
          <p:nvPr/>
        </p:nvSpPr>
        <p:spPr>
          <a:xfrm>
            <a:off x="5093208" y="1737360"/>
            <a:ext cx="822960" cy="822960"/>
          </a:xfrm>
          <a:prstGeom prst="ellipse">
            <a:avLst/>
          </a:prstGeom>
          <a:solidFill>
            <a:srgbClr val="5E376C"/>
          </a:solidFill>
          <a:ln w="12700">
            <a:solidFill>
              <a:srgbClr val="5E376C"/>
            </a:solidFill>
            <a:prstDash val="solid"/>
          </a:ln>
        </p:spPr>
        <p:txBody>
          <a:bodyPr/>
          <a:p/>
        </p:txBody>
      </p:sp>
      <p:sp>
        <p:nvSpPr>
          <p:cNvPr id="20" name="Text 18"/>
          <p:cNvSpPr/>
          <p:nvPr/>
        </p:nvSpPr>
        <p:spPr>
          <a:xfrm>
            <a:off x="460857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Adrenaline</a:t>
            </a:r>
            <a:endParaRPr lang="en-US" sz="1400" dirty="0"/>
          </a:p>
        </p:txBody>
      </p:sp>
      <p:sp>
        <p:nvSpPr>
          <p:cNvPr id="21" name="Text 19"/>
          <p:cNvSpPr/>
          <p:nvPr/>
        </p:nvSpPr>
        <p:spPr>
          <a:xfrm>
            <a:off x="4608576" y="3017520"/>
            <a:ext cx="1810512" cy="219456"/>
          </a:xfrm>
          <a:prstGeom prst="rect">
            <a:avLst/>
          </a:prstGeom>
          <a:noFill/>
          <a:ln/>
        </p:spPr>
        <p:txBody>
          <a:bodyPr wrap="square" lIns="0" tIns="0" rIns="0" bIns="0" rtlCol="0" anchor="ctr"/>
          <a:lstStyle/>
          <a:p>
            <a:pPr marL="0" indent="0" algn="l">
              <a:buNone/>
            </a:pPr>
            <a:r>
              <a:rPr lang="en-US" sz="1050" i="1" dirty="0">
                <a:solidFill>
                  <a:srgbClr val="845995"/>
                </a:solidFill>
                <a:latin typeface="Georgia" pitchFamily="34" charset="0"/>
                <a:ea typeface="Georgia" pitchFamily="34" charset="-122"/>
                <a:cs typeface="Georgia" pitchFamily="34" charset="-120"/>
              </a:rPr>
              <a:t>The Fear Response</a:t>
            </a:r>
            <a:endParaRPr lang="en-US" sz="1050" dirty="0"/>
          </a:p>
        </p:txBody>
      </p:sp>
      <p:sp>
        <p:nvSpPr>
          <p:cNvPr id="22" name="Text 20"/>
          <p:cNvSpPr/>
          <p:nvPr/>
        </p:nvSpPr>
        <p:spPr>
          <a:xfrm>
            <a:off x="4608576" y="3291840"/>
            <a:ext cx="1810512" cy="1389888"/>
          </a:xfrm>
          <a:prstGeom prst="rect">
            <a:avLst/>
          </a:prstGeom>
          <a:noFill/>
          <a:ln/>
        </p:spPr>
        <p:txBody>
          <a:bodyPr wrap="square" lIns="0" tIns="0" rIns="0" bIns="0" rtlCol="0" anchor="t"/>
          <a:lstStyle/>
          <a:p>
            <a:pPr marL="0" indent="0" algn="l">
              <a:lnSpc>
                <a:spcPct val="140000"/>
              </a:lnSpc>
              <a:buNone/>
            </a:pPr>
            <a:r>
              <a:rPr lang="en-US" sz="1150" dirty="0">
                <a:solidFill>
                  <a:srgbClr val="2D2D2D"/>
                </a:solidFill>
                <a:latin typeface="Arial" pitchFamily="34" charset="0"/>
                <a:ea typeface="Arial" pitchFamily="34" charset="-122"/>
                <a:cs typeface="Arial" pitchFamily="34" charset="-120"/>
              </a:rPr>
              <a:t>Slows labor when threat is perceived. Cold, bright lights, fear trigger it. Your job: keep it low.</a:t>
            </a:r>
            <a:endParaRPr lang="en-US" sz="1150" dirty="0"/>
          </a:p>
        </p:txBody>
      </p:sp>
      <p:sp>
        <p:nvSpPr>
          <p:cNvPr id="23" name="Shape 21"/>
          <p:cNvSpPr/>
          <p:nvPr/>
        </p:nvSpPr>
        <p:spPr>
          <a:xfrm>
            <a:off x="6601968" y="1554480"/>
            <a:ext cx="2011680" cy="3310128"/>
          </a:xfrm>
          <a:prstGeom prst="rect">
            <a:avLst/>
          </a:prstGeom>
          <a:solidFill>
            <a:srgbClr val="F5F1F8"/>
          </a:solidFill>
          <a:ln w="12700">
            <a:solidFill>
              <a:srgbClr val="C9B8D8"/>
            </a:solidFill>
            <a:prstDash val="solid"/>
          </a:ln>
        </p:spPr>
        <p:txBody>
          <a:bodyPr/>
          <a:p/>
        </p:txBody>
      </p:sp>
      <p:sp>
        <p:nvSpPr>
          <p:cNvPr id="24" name="Shape 22"/>
          <p:cNvSpPr/>
          <p:nvPr/>
        </p:nvSpPr>
        <p:spPr>
          <a:xfrm>
            <a:off x="6601968" y="1554480"/>
            <a:ext cx="64008" cy="3310128"/>
          </a:xfrm>
          <a:prstGeom prst="rect">
            <a:avLst/>
          </a:prstGeom>
          <a:solidFill>
            <a:srgbClr val="5E376C"/>
          </a:solidFill>
          <a:ln w="12700">
            <a:solidFill>
              <a:srgbClr val="5E376C"/>
            </a:solidFill>
            <a:prstDash val="solid"/>
          </a:ln>
        </p:spPr>
        <p:txBody>
          <a:bodyPr/>
          <a:p/>
        </p:txBody>
      </p:sp>
      <p:sp>
        <p:nvSpPr>
          <p:cNvPr id="25" name="Shape 23"/>
          <p:cNvSpPr/>
          <p:nvPr/>
        </p:nvSpPr>
        <p:spPr>
          <a:xfrm>
            <a:off x="7196328" y="1737360"/>
            <a:ext cx="822960" cy="822960"/>
          </a:xfrm>
          <a:prstGeom prst="ellipse">
            <a:avLst/>
          </a:prstGeom>
          <a:solidFill>
            <a:srgbClr val="5E376C"/>
          </a:solidFill>
          <a:ln w="12700">
            <a:solidFill>
              <a:srgbClr val="5E376C"/>
            </a:solidFill>
            <a:prstDash val="solid"/>
          </a:ln>
        </p:spPr>
        <p:txBody>
          <a:bodyPr/>
          <a:p/>
        </p:txBody>
      </p:sp>
      <p:sp>
        <p:nvSpPr>
          <p:cNvPr id="26" name="Text 24"/>
          <p:cNvSpPr/>
          <p:nvPr/>
        </p:nvSpPr>
        <p:spPr>
          <a:xfrm>
            <a:off x="671169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Prolactin</a:t>
            </a:r>
            <a:endParaRPr lang="en-US" sz="1400" dirty="0"/>
          </a:p>
        </p:txBody>
      </p:sp>
      <p:sp>
        <p:nvSpPr>
          <p:cNvPr id="27" name="Text 25"/>
          <p:cNvSpPr/>
          <p:nvPr/>
        </p:nvSpPr>
        <p:spPr>
          <a:xfrm>
            <a:off x="6711696" y="3017520"/>
            <a:ext cx="1810512" cy="219456"/>
          </a:xfrm>
          <a:prstGeom prst="rect">
            <a:avLst/>
          </a:prstGeom>
          <a:noFill/>
          <a:ln/>
        </p:spPr>
        <p:txBody>
          <a:bodyPr wrap="square" lIns="0" tIns="0" rIns="0" bIns="0" rtlCol="0" anchor="ctr"/>
          <a:lstStyle/>
          <a:p>
            <a:pPr marL="0" indent="0" algn="l">
              <a:buNone/>
            </a:pPr>
            <a:r>
              <a:rPr lang="en-US" sz="1050" i="1" dirty="0">
                <a:solidFill>
                  <a:srgbClr val="845995"/>
                </a:solidFill>
                <a:latin typeface="Georgia" pitchFamily="34" charset="0"/>
                <a:ea typeface="Georgia" pitchFamily="34" charset="-122"/>
                <a:cs typeface="Georgia" pitchFamily="34" charset="-120"/>
              </a:rPr>
              <a:t>The Mothering Hormone</a:t>
            </a:r>
            <a:endParaRPr lang="en-US" sz="1050" dirty="0"/>
          </a:p>
        </p:txBody>
      </p:sp>
      <p:sp>
        <p:nvSpPr>
          <p:cNvPr id="28" name="Text 26"/>
          <p:cNvSpPr/>
          <p:nvPr/>
        </p:nvSpPr>
        <p:spPr>
          <a:xfrm>
            <a:off x="6711696" y="3291840"/>
            <a:ext cx="1810512" cy="1389888"/>
          </a:xfrm>
          <a:prstGeom prst="rect">
            <a:avLst/>
          </a:prstGeom>
          <a:noFill/>
          <a:ln/>
        </p:spPr>
        <p:txBody>
          <a:bodyPr wrap="square" lIns="0" tIns="0" rIns="0" bIns="0" rtlCol="0" anchor="t"/>
          <a:lstStyle/>
          <a:p>
            <a:pPr marL="0" indent="0" algn="l">
              <a:lnSpc>
                <a:spcPct val="140000"/>
              </a:lnSpc>
              <a:buNone/>
            </a:pPr>
            <a:r>
              <a:rPr lang="en-US" sz="1150" dirty="0">
                <a:solidFill>
                  <a:srgbClr val="2D2D2D"/>
                </a:solidFill>
                <a:latin typeface="Arial" pitchFamily="34" charset="0"/>
                <a:ea typeface="Arial" pitchFamily="34" charset="-122"/>
                <a:cs typeface="Arial" pitchFamily="34" charset="-120"/>
              </a:rPr>
              <a:t>Spikes in the Golden Hour. Prepares for milk production and shapes the transition into parenthood.</a:t>
            </a:r>
            <a:endParaRPr lang="en-US" sz="115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HORMONES OF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Oxytocin — “The Love Hormone”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Your calm, warm, reassuring presence is not just emotional support — it is hormonal support.</a:t>
            </a:r>
            <a:endParaRPr lang="en-US" sz="1350" dirty="0"/>
          </a:p>
        </p:txBody>
      </p:sp>
      <p:sp>
        <p:nvSpPr>
          <p:cNvPr id="7" name="Text 5"/>
          <p:cNvSpPr/>
          <p:nvPr/>
        </p:nvSpPr>
        <p:spPr>
          <a:xfrm>
            <a:off x="475488" y="1645920"/>
            <a:ext cx="8229600" cy="1993392"/>
          </a:xfrm>
          <a:prstGeom prst="rect">
            <a:avLst/>
          </a:prstGeom>
          <a:noFill/>
          <a:ln/>
        </p:spPr>
        <p:txBody>
          <a:bodyPr wrap="square" lIns="0" tIns="0" rIns="0" bIns="0" rtlCol="0" anchor="t"/>
          <a:lstStyle/>
          <a:p>
            <a:pPr marL="0" indent="0">
              <a:spcAft>
                <a:spcPts val="700"/>
              </a:spcAft>
              <a:buNone/>
            </a:pPr>
            <a:r>
              <a:rPr lang="en-US" sz="2000" dirty="0">
                <a:solidFill>
                  <a:srgbClr val="2D2D2D"/>
                </a:solidFill>
                <a:latin typeface="Arial" pitchFamily="34" charset="0"/>
                <a:ea typeface="Arial" pitchFamily="34" charset="-122"/>
                <a:cs typeface="Arial" pitchFamily="34" charset="-120"/>
              </a:rPr>
              <a:t>Triggers and sustains contractions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Released by touch, warmth, safety</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Pitocin is synthetic — same molecule, no feedback</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Drops when afraid, observed, unsafe</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Floods at skin-to-skin → bonding + bleeding control</a:t>
            </a:r>
            <a:endParaRPr lang="en-US" sz="1350" dirty="0"/>
          </a:p>
        </p:txBody>
      </p:sp>
      <p:sp>
        <p:nvSpPr>
          <p:cNvPr id="8" name="Shape 6"/>
          <p:cNvSpPr/>
          <p:nvPr/>
        </p:nvSpPr>
        <p:spPr>
          <a:xfrm>
            <a:off x="292608" y="3822192"/>
            <a:ext cx="8558784" cy="1005840"/>
          </a:xfrm>
          <a:prstGeom prst="rect">
            <a:avLst/>
          </a:prstGeom>
          <a:solidFill>
            <a:srgbClr val="F0F7FA"/>
          </a:solidFill>
          <a:ln w="12700">
            <a:solidFill>
              <a:srgbClr val="0D9488"/>
            </a:solidFill>
            <a:prstDash val="solid"/>
          </a:ln>
        </p:spPr>
        <p:txBody>
          <a:bodyPr/>
          <a:p/>
        </p:txBody>
      </p:sp>
      <p:sp>
        <p:nvSpPr>
          <p:cNvPr id="9" name="Shape 7"/>
          <p:cNvSpPr/>
          <p:nvPr/>
        </p:nvSpPr>
        <p:spPr>
          <a:xfrm>
            <a:off x="292608" y="3822192"/>
            <a:ext cx="64008" cy="1005840"/>
          </a:xfrm>
          <a:prstGeom prst="rect">
            <a:avLst/>
          </a:prstGeom>
          <a:solidFill>
            <a:srgbClr val="0D9488"/>
          </a:solidFill>
          <a:ln w="12700">
            <a:solidFill>
              <a:srgbClr val="0D9488"/>
            </a:solidFill>
            <a:prstDash val="solid"/>
          </a:ln>
        </p:spPr>
        <p:txBody>
          <a:bodyPr/>
          <a:p/>
        </p:txBody>
      </p:sp>
      <p:sp>
        <p:nvSpPr>
          <p:cNvPr id="10" name="Text 8"/>
          <p:cNvSpPr/>
          <p:nvPr/>
        </p:nvSpPr>
        <p:spPr>
          <a:xfrm>
            <a:off x="457200" y="3931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What This Means for Your Role</a:t>
            </a:r>
            <a:endParaRPr lang="en-US" sz="1100" dirty="0"/>
          </a:p>
        </p:txBody>
      </p:sp>
      <p:sp>
        <p:nvSpPr>
          <p:cNvPr id="11" name="Text 9"/>
          <p:cNvSpPr/>
          <p:nvPr/>
        </p:nvSpPr>
        <p:spPr>
          <a:xfrm>
            <a:off x="475488" y="4242816"/>
            <a:ext cx="8229600" cy="530352"/>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The 2017 Cochrane Review found continuous doula support leads to shorter labors and fewer cesareans. One mechanism: doulas create the psychological safety that keeps oxytocin flowing. Reducing fear → lowering adrenaline → allowing oxytocin to work. This is the physiology of your presence.</a:t>
            </a:r>
            <a:endParaRPr lang="en-US" sz="1200" dirty="0"/>
          </a:p>
        </p:txBody>
      </p:sp>
      <p:sp>
        <p:nvSpPr>
          <p:cNvPr id="13" name="Text 11"/>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HORMONES OF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Endorphins — The Body’s Own Pain Relief</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“Labor land” is endorphins doing exactly what they’re supposed to do.</a:t>
            </a:r>
            <a:endParaRPr lang="en-US" sz="1350" dirty="0"/>
          </a:p>
        </p:txBody>
      </p:sp>
      <p:sp>
        <p:nvSpPr>
          <p:cNvPr id="7" name="Text 5"/>
          <p:cNvSpPr/>
          <p:nvPr/>
        </p:nvSpPr>
        <p:spPr>
          <a:xfrm>
            <a:off x="475488" y="1645920"/>
            <a:ext cx="8229600" cy="3090672"/>
          </a:xfrm>
          <a:prstGeom prst="rect">
            <a:avLst/>
          </a:prstGeom>
          <a:noFill/>
          <a:ln/>
        </p:spPr>
        <p:txBody>
          <a:bodyPr wrap="square" lIns="0" tIns="0" rIns="0" bIns="0" rtlCol="0" anchor="t"/>
          <a:lstStyle/>
          <a:p>
            <a:pPr marL="0" indent="0">
              <a:spcAft>
                <a:spcPts val="700"/>
              </a:spcAft>
              <a:buNone/>
            </a:pPr>
            <a:r>
              <a:rPr lang="en-US" sz="2000" dirty="0">
                <a:solidFill>
                  <a:srgbClr val="2D2D2D"/>
                </a:solidFill>
                <a:latin typeface="Arial" pitchFamily="34" charset="0"/>
                <a:ea typeface="Arial" pitchFamily="34" charset="-122"/>
                <a:cs typeface="Arial" pitchFamily="34" charset="-120"/>
              </a:rPr>
              <a:t>Natural opioids made by the brain</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Rise progressively with contractions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Create "labor land" dissociation</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Drive the "birth high" after birth</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Suppressed by adrenaline (fear, cold, lights)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Epidural blocks them — emotional support still essential</a:t>
            </a:r>
            <a:endParaRPr lang="en-US" sz="1350" dirty="0"/>
          </a:p>
        </p:txBody>
      </p:sp>
      <p:sp>
        <p:nvSpPr>
          <p:cNvPr id="9" name="Text 7"/>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HORMONES OF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Adrenaline — The Fear Response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A late-labor surge of adrenaline is normal and gives energy to push. Chronic fear-driven elevation stalls labor.</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it does</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Body's threat-response hormone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Triggers fight-or-flight — blood leaves uterus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Directly suppresses oxytocin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Blocks endorphins → pain increases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Late-labor surge is normal — gives push energy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Chronic fear elevation stalls labor</a:t>
            </a:r>
            <a:endParaRPr lang="en-US" sz="1250" dirty="0"/>
          </a:p>
        </p:txBody>
      </p:sp>
      <p:sp>
        <p:nvSpPr>
          <p:cNvPr id="9" name="Shape 7"/>
          <p:cNvSpPr/>
          <p:nvPr/>
        </p:nvSpPr>
        <p:spPr>
          <a:xfrm>
            <a:off x="4663440" y="1536192"/>
            <a:ext cx="4224528" cy="3310128"/>
          </a:xfrm>
          <a:prstGeom prst="rect">
            <a:avLst/>
          </a:prstGeom>
          <a:solidFill>
            <a:srgbClr val="FEFAE0"/>
          </a:solidFill>
          <a:ln w="12700">
            <a:solidFill>
              <a:srgbClr val="C8960C"/>
            </a:solidFill>
            <a:prstDash val="solid"/>
          </a:ln>
        </p:spPr>
        <p:txBody>
          <a:bodyPr/>
          <a:p/>
        </p:txBody>
      </p:sp>
      <p:sp>
        <p:nvSpPr>
          <p:cNvPr id="10" name="Shape 8"/>
          <p:cNvSpPr/>
          <p:nvPr/>
        </p:nvSpPr>
        <p:spPr>
          <a:xfrm>
            <a:off x="4663440" y="1536192"/>
            <a:ext cx="64008" cy="3310128"/>
          </a:xfrm>
          <a:prstGeom prst="rect">
            <a:avLst/>
          </a:prstGeom>
          <a:solidFill>
            <a:srgbClr val="C8960C"/>
          </a:solidFill>
          <a:ln w="12700">
            <a:solidFill>
              <a:srgbClr val="C8960C"/>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C8960C"/>
                </a:solidFill>
                <a:latin typeface="Arial" pitchFamily="34" charset="0"/>
                <a:ea typeface="Arial" pitchFamily="34" charset="-122"/>
                <a:cs typeface="Arial" pitchFamily="34" charset="-120"/>
              </a:rPr>
              <a:t>What Triggers Adrenaline in Labor</a:t>
            </a:r>
            <a:endParaRPr lang="en-US" sz="1100" dirty="0"/>
          </a:p>
        </p:txBody>
      </p:sp>
      <p:sp>
        <p:nvSpPr>
          <p:cNvPr id="12" name="Text 10"/>
          <p:cNvSpPr/>
          <p:nvPr/>
        </p:nvSpPr>
        <p:spPr>
          <a:xfrm>
            <a:off x="4828032" y="1956816"/>
            <a:ext cx="3858768" cy="1956816"/>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Bright lights and cold rooms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Loud voices, too many people, lack of privacy</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Fear of birth, of pain, or of the unknown</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Prior birth trauma or medical trauma</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Being observed or interrupted while coping</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Feeling that something is wrong or is being hidden</a:t>
            </a:r>
            <a:endParaRPr lang="en-US" sz="1250" dirty="0"/>
          </a:p>
        </p:txBody>
      </p:sp>
      <p:sp>
        <p:nvSpPr>
          <p:cNvPr id="13" name="Text 11"/>
          <p:cNvSpPr/>
          <p:nvPr/>
        </p:nvSpPr>
        <p:spPr>
          <a:xfrm>
            <a:off x="4828032" y="3968496"/>
            <a:ext cx="3877056" cy="822960"/>
          </a:xfrm>
          <a:prstGeom prst="rect">
            <a:avLst/>
          </a:prstGeom>
          <a:noFill/>
          <a:ln/>
        </p:spPr>
        <p:txBody>
          <a:bodyPr wrap="square" lIns="0" tIns="0" rIns="0" bIns="0" rtlCol="0" anchor="t"/>
          <a:lstStyle/>
          <a:p>
            <a:pPr marL="0" indent="0" algn="l">
              <a:lnSpc>
                <a:spcPct val="140000"/>
              </a:lnSpc>
              <a:buNone/>
            </a:pPr>
            <a:r>
              <a:rPr lang="en-US" sz="1150" i="1" dirty="0">
                <a:solidFill>
                  <a:srgbClr val="2D2D2D"/>
                </a:solidFill>
                <a:latin typeface="Georgia" pitchFamily="34" charset="0"/>
                <a:ea typeface="Georgia" pitchFamily="34" charset="-122"/>
                <a:cs typeface="Georgia" pitchFamily="34" charset="-120"/>
              </a:rPr>
              <a:t>Doula intervention: Dim the lights. Lower your voice. Reduce foot traffic. Create safety. Every environmental adjustment you make is a hormonal adjustment.</a:t>
            </a:r>
            <a:endParaRPr lang="en-US" sz="1150" dirty="0"/>
          </a:p>
        </p:txBody>
      </p:sp>
      <p:sp>
        <p:nvSpPr>
          <p:cNvPr id="15" name="Text 13"/>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HORMONES OF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Prolactin — The Mothering Hormone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Prolactin thrives in quiet, undisturbed bonding time. Protect it.</a:t>
            </a:r>
            <a:endParaRPr lang="en-US" sz="1350" dirty="0"/>
          </a:p>
        </p:txBody>
      </p:sp>
      <p:sp>
        <p:nvSpPr>
          <p:cNvPr id="7" name="Text 5"/>
          <p:cNvSpPr/>
          <p:nvPr/>
        </p:nvSpPr>
        <p:spPr>
          <a:xfrm>
            <a:off x="475488" y="1645920"/>
            <a:ext cx="8229600" cy="2267712"/>
          </a:xfrm>
          <a:prstGeom prst="rect">
            <a:avLst/>
          </a:prstGeom>
          <a:noFill/>
          <a:ln/>
        </p:spPr>
        <p:txBody>
          <a:bodyPr wrap="square" lIns="0" tIns="0" rIns="0" bIns="0" rtlCol="0" anchor="t"/>
          <a:lstStyle/>
          <a:p>
            <a:pPr marL="0" indent="0">
              <a:spcAft>
                <a:spcPts val="700"/>
              </a:spcAft>
              <a:buNone/>
            </a:pPr>
            <a:r>
              <a:rPr lang="en-US" sz="2000" dirty="0">
                <a:solidFill>
                  <a:srgbClr val="2D2D2D"/>
                </a:solidFill>
                <a:latin typeface="Arial" pitchFamily="34" charset="0"/>
                <a:ea typeface="Arial" pitchFamily="34" charset="-122"/>
                <a:cs typeface="Arial" pitchFamily="34" charset="-120"/>
              </a:rPr>
              <a:t>Initiates and sustains milk production</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Spikes dramatically in the Golden Hour</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Stimulated by skin-to-skin + nipple contact</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Shapes attentiveness to baby's cues</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Disrupted by early formula supplementation</a:t>
            </a:r>
            <a:endParaRPr lang="en-US" sz="1350" dirty="0"/>
          </a:p>
          <a:p>
            <a:pPr marL="0" indent="0">
              <a:spcAft>
                <a:spcPts val="700"/>
              </a:spcAft>
              <a:buNone/>
            </a:pPr>
            <a:r>
              <a:rPr lang="en-US" sz="2000" dirty="0">
                <a:solidFill>
                  <a:srgbClr val="2D2D2D"/>
                </a:solidFill>
                <a:latin typeface="Arial" pitchFamily="34" charset="0"/>
                <a:ea typeface="Arial" pitchFamily="34" charset="-122"/>
                <a:cs typeface="Arial" pitchFamily="34" charset="-120"/>
              </a:rPr>
              <a:t>Thrives in dim, quiet, undisturbed conditions</a:t>
            </a:r>
            <a:endParaRPr lang="en-US" sz="1350" dirty="0"/>
          </a:p>
        </p:txBody>
      </p:sp>
      <p:sp>
        <p:nvSpPr>
          <p:cNvPr id="8" name="Shape 6"/>
          <p:cNvSpPr/>
          <p:nvPr/>
        </p:nvSpPr>
        <p:spPr>
          <a:xfrm>
            <a:off x="292608" y="3931920"/>
            <a:ext cx="8558784" cy="896112"/>
          </a:xfrm>
          <a:prstGeom prst="rect">
            <a:avLst/>
          </a:prstGeom>
          <a:solidFill>
            <a:srgbClr val="F0F7FA"/>
          </a:solidFill>
          <a:ln w="12700">
            <a:solidFill>
              <a:srgbClr val="0D9488"/>
            </a:solidFill>
            <a:prstDash val="solid"/>
          </a:ln>
        </p:spPr>
        <p:txBody>
          <a:bodyPr/>
          <a:p/>
        </p:txBody>
      </p:sp>
      <p:sp>
        <p:nvSpPr>
          <p:cNvPr id="9" name="Shape 7"/>
          <p:cNvSpPr/>
          <p:nvPr/>
        </p:nvSpPr>
        <p:spPr>
          <a:xfrm>
            <a:off x="292608" y="3931920"/>
            <a:ext cx="64008" cy="896112"/>
          </a:xfrm>
          <a:prstGeom prst="rect">
            <a:avLst/>
          </a:prstGeom>
          <a:solidFill>
            <a:srgbClr val="0D9488"/>
          </a:solidFill>
          <a:ln w="12700">
            <a:solidFill>
              <a:srgbClr val="0D9488"/>
            </a:solidFill>
            <a:prstDash val="solid"/>
          </a:ln>
        </p:spPr>
        <p:txBody>
          <a:bodyPr/>
          <a:p/>
        </p:txBody>
      </p:sp>
      <p:sp>
        <p:nvSpPr>
          <p:cNvPr id="10" name="Text 8"/>
          <p:cNvSpPr/>
          <p:nvPr/>
        </p:nvSpPr>
        <p:spPr>
          <a:xfrm>
            <a:off x="457200" y="4041648"/>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Your Role in the Golden Hour</a:t>
            </a:r>
            <a:endParaRPr lang="en-US" sz="1100" dirty="0"/>
          </a:p>
        </p:txBody>
      </p:sp>
      <p:sp>
        <p:nvSpPr>
          <p:cNvPr id="11" name="Text 9"/>
          <p:cNvSpPr/>
          <p:nvPr/>
        </p:nvSpPr>
        <p:spPr>
          <a:xfrm>
            <a:off x="475488" y="4279392"/>
            <a:ext cx="8229600" cy="493776"/>
          </a:xfrm>
          <a:prstGeom prst="rect">
            <a:avLst/>
          </a:prstGeom>
          <a:noFill/>
          <a:ln/>
        </p:spPr>
        <p:txBody>
          <a:bodyPr wrap="square" lIns="0" tIns="0" rIns="0" bIns="0" rtlCol="0" anchor="t"/>
          <a:lstStyle/>
          <a:p>
            <a:pPr marL="0" indent="0" algn="l">
              <a:lnSpc>
                <a:spcPct val="130000"/>
              </a:lnSpc>
              <a:buNone/>
            </a:pPr>
            <a:r>
              <a:rPr lang="en-US" sz="1150" dirty="0">
                <a:solidFill>
                  <a:srgbClr val="2D2D2D"/>
                </a:solidFill>
                <a:latin typeface="Arial" pitchFamily="34" charset="0"/>
                <a:ea typeface="Arial" pitchFamily="34" charset="-122"/>
                <a:cs typeface="Arial" pitchFamily="34" charset="-120"/>
              </a:rPr>
              <a:t>Every routine procedure you delay, every visitor you redirect, every quiet moment you protect is directly supporting prolactin. You are not being difficult. You are protecting physiology.</a:t>
            </a:r>
            <a:endParaRPr lang="en-US" sz="1150" dirty="0"/>
          </a:p>
        </p:txBody>
      </p:sp>
      <p:sp>
        <p:nvSpPr>
          <p:cNvPr id="13" name="Text 11"/>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E376C"/>
        </a:solidFill>
        <a:effectLst/>
      </p:bgPr>
    </p:bg>
    <p:spTree>
      <p:nvGrpSpPr>
        <p:cNvPr id="1" name=""/>
        <p:cNvGrpSpPr/>
        <p:nvPr/>
      </p:nvGrpSpPr>
      <p:grpSpPr/>
      <p:sp>
        <p:nvSpPr>
          <p:cNvPr id="2" name="Text 0"/>
          <p:cNvSpPr/>
          <p:nvPr/>
        </p:nvSpPr>
        <p:spPr>
          <a:xfrm>
            <a:off x="0" y="1371600"/>
            <a:ext cx="9144000" cy="822960"/>
          </a:xfrm>
          <a:prstGeom prst="rect">
            <a:avLst/>
          </a:prstGeom>
          <a:noFill/>
          <a:ln/>
        </p:spPr>
        <p:txBody>
          <a:bodyPr wrap="square" lIns="0" tIns="0" rIns="0" bIns="0" rtlCol="0" anchor="ctr"/>
          <a:lstStyle/>
          <a:p>
            <a:pPr marL="0" indent="0" algn="ctr">
              <a:buNone/>
            </a:pPr>
            <a:r>
              <a:rPr lang="en-US" sz="6000" b="1" dirty="0">
                <a:solidFill>
                  <a:srgbClr val="FFFFFF"/>
                </a:solidFill>
                <a:latin typeface="Georgia" pitchFamily="34" charset="0"/>
                <a:ea typeface="Georgia" pitchFamily="34" charset="-122"/>
                <a:cs typeface="Georgia" pitchFamily="34" charset="-120"/>
              </a:rPr>
              <a:t>BREAK</a:t>
            </a:r>
            <a:endParaRPr lang="en-US" sz="6000" dirty="0"/>
          </a:p>
        </p:txBody>
      </p:sp>
      <p:sp>
        <p:nvSpPr>
          <p:cNvPr id="3" name="Text 1"/>
          <p:cNvSpPr/>
          <p:nvPr/>
        </p:nvSpPr>
        <p:spPr>
          <a:xfrm>
            <a:off x="0" y="2322576"/>
            <a:ext cx="9144000" cy="457200"/>
          </a:xfrm>
          <a:prstGeom prst="rect">
            <a:avLst/>
          </a:prstGeom>
          <a:noFill/>
          <a:ln/>
        </p:spPr>
        <p:txBody>
          <a:bodyPr wrap="square" lIns="0" tIns="0" rIns="0" bIns="0" rtlCol="0" anchor="ctr"/>
          <a:lstStyle/>
          <a:p>
            <a:pPr marL="0" indent="0" algn="ctr">
              <a:buNone/>
            </a:pPr>
            <a:r>
              <a:rPr lang="en-US" sz="2200" dirty="0">
                <a:solidFill>
                  <a:srgbClr val="C9B8D8"/>
                </a:solidFill>
                <a:latin typeface="Georgia" pitchFamily="34" charset="0"/>
                <a:ea typeface="Georgia" pitchFamily="34" charset="-122"/>
                <a:cs typeface="Georgia" pitchFamily="34" charset="-120"/>
              </a:rPr>
              <a:t>6:20 PM — 6:30 PM · 10 minutes</a:t>
            </a:r>
            <a:endParaRPr lang="en-US" sz="2200" dirty="0"/>
          </a:p>
        </p:txBody>
      </p:sp>
      <p:sp>
        <p:nvSpPr>
          <p:cNvPr id="4" name="Shape 2"/>
          <p:cNvSpPr/>
          <p:nvPr/>
        </p:nvSpPr>
        <p:spPr>
          <a:xfrm>
            <a:off x="3200400" y="2926080"/>
            <a:ext cx="27432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457200" y="310896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Step away, stretch, hydrate, reset.</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Back at 6:30 PM — Six P's and Induction up next.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THREE</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The Six P’s 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Labor progress depends on six factors working together.</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Think of them as gears in a machine — if one is off, all of them feel it.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SIX P’S  ·  OVERVIEW</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Six P’s — What Drives Labor Progress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Your continuous presence addresses all six simultaneously.</a:t>
            </a:r>
            <a:endParaRPr lang="en-US" sz="1350" dirty="0"/>
          </a:p>
        </p:txBody>
      </p:sp>
      <p:sp>
        <p:nvSpPr>
          <p:cNvPr id="5" name="Shape 3"/>
          <p:cNvSpPr/>
          <p:nvPr/>
        </p:nvSpPr>
        <p:spPr>
          <a:xfrm>
            <a:off x="292608" y="1536192"/>
            <a:ext cx="2651760" cy="171907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1719072"/>
          </a:xfrm>
          <a:prstGeom prst="rect">
            <a:avLst/>
          </a:prstGeom>
          <a:solidFill>
            <a:srgbClr val="5E376C"/>
          </a:solidFill>
          <a:ln w="12700">
            <a:solidFill>
              <a:srgbClr val="5E376C"/>
            </a:solidFill>
            <a:prstDash val="solid"/>
          </a:ln>
        </p:spPr>
        <p:txBody>
          <a:bodyPr/>
          <a:p/>
        </p:txBody>
      </p:sp>
      <p:sp>
        <p:nvSpPr>
          <p:cNvPr id="7" name="Text 5"/>
          <p:cNvSpPr/>
          <p:nvPr/>
        </p:nvSpPr>
        <p:spPr>
          <a:xfrm>
            <a:off x="438912" y="1664208"/>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Powers</a:t>
            </a:r>
            <a:endParaRPr lang="en-US" sz="1450" dirty="0"/>
          </a:p>
        </p:txBody>
      </p:sp>
      <p:sp>
        <p:nvSpPr>
          <p:cNvPr id="8" name="Text 6"/>
          <p:cNvSpPr/>
          <p:nvPr/>
        </p:nvSpPr>
        <p:spPr>
          <a:xfrm>
            <a:off x="4389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Strength, frequency &amp; coordination of contractions. Involuntary in Stage 1; voluntary pushing added in Stage 2.</a:t>
            </a:r>
            <a:endParaRPr lang="en-US" sz="1200" dirty="0"/>
          </a:p>
        </p:txBody>
      </p:sp>
      <p:sp>
        <p:nvSpPr>
          <p:cNvPr id="9" name="Shape 7"/>
          <p:cNvSpPr/>
          <p:nvPr/>
        </p:nvSpPr>
        <p:spPr>
          <a:xfrm>
            <a:off x="3035808" y="1536192"/>
            <a:ext cx="2651760" cy="1719072"/>
          </a:xfrm>
          <a:prstGeom prst="rect">
            <a:avLst/>
          </a:prstGeom>
          <a:solidFill>
            <a:srgbClr val="F5F1F8"/>
          </a:solidFill>
          <a:ln w="12700">
            <a:solidFill>
              <a:srgbClr val="C9B8D8"/>
            </a:solidFill>
            <a:prstDash val="solid"/>
          </a:ln>
        </p:spPr>
        <p:txBody>
          <a:bodyPr/>
          <a:p/>
        </p:txBody>
      </p:sp>
      <p:sp>
        <p:nvSpPr>
          <p:cNvPr id="10" name="Shape 8"/>
          <p:cNvSpPr/>
          <p:nvPr/>
        </p:nvSpPr>
        <p:spPr>
          <a:xfrm>
            <a:off x="3035808" y="1536192"/>
            <a:ext cx="64008" cy="1719072"/>
          </a:xfrm>
          <a:prstGeom prst="rect">
            <a:avLst/>
          </a:prstGeom>
          <a:solidFill>
            <a:srgbClr val="5E376C"/>
          </a:solidFill>
          <a:ln w="12700">
            <a:solidFill>
              <a:srgbClr val="5E376C"/>
            </a:solidFill>
            <a:prstDash val="solid"/>
          </a:ln>
        </p:spPr>
        <p:txBody>
          <a:bodyPr/>
          <a:p/>
        </p:txBody>
      </p:sp>
      <p:sp>
        <p:nvSpPr>
          <p:cNvPr id="11" name="Text 9"/>
          <p:cNvSpPr/>
          <p:nvPr/>
        </p:nvSpPr>
        <p:spPr>
          <a:xfrm>
            <a:off x="3182112" y="1664208"/>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Passage</a:t>
            </a:r>
            <a:endParaRPr lang="en-US" sz="1450" dirty="0"/>
          </a:p>
        </p:txBody>
      </p:sp>
      <p:sp>
        <p:nvSpPr>
          <p:cNvPr id="12" name="Text 10"/>
          <p:cNvSpPr/>
          <p:nvPr/>
        </p:nvSpPr>
        <p:spPr>
          <a:xfrm>
            <a:off x="31821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bony pelvis and soft tissues (cervix, vagina). Shape, size, and opening all matter.</a:t>
            </a:r>
            <a:endParaRPr lang="en-US" sz="1200" dirty="0"/>
          </a:p>
        </p:txBody>
      </p:sp>
      <p:sp>
        <p:nvSpPr>
          <p:cNvPr id="13" name="Shape 11"/>
          <p:cNvSpPr/>
          <p:nvPr/>
        </p:nvSpPr>
        <p:spPr>
          <a:xfrm>
            <a:off x="5779008" y="1536192"/>
            <a:ext cx="2651760" cy="1719072"/>
          </a:xfrm>
          <a:prstGeom prst="rect">
            <a:avLst/>
          </a:prstGeom>
          <a:solidFill>
            <a:srgbClr val="F5F1F8"/>
          </a:solidFill>
          <a:ln w="12700">
            <a:solidFill>
              <a:srgbClr val="C9B8D8"/>
            </a:solidFill>
            <a:prstDash val="solid"/>
          </a:ln>
        </p:spPr>
        <p:txBody>
          <a:bodyPr/>
          <a:p/>
        </p:txBody>
      </p:sp>
      <p:sp>
        <p:nvSpPr>
          <p:cNvPr id="14" name="Shape 12"/>
          <p:cNvSpPr/>
          <p:nvPr/>
        </p:nvSpPr>
        <p:spPr>
          <a:xfrm>
            <a:off x="5779008" y="1536192"/>
            <a:ext cx="64008" cy="1719072"/>
          </a:xfrm>
          <a:prstGeom prst="rect">
            <a:avLst/>
          </a:prstGeom>
          <a:solidFill>
            <a:srgbClr val="5E376C"/>
          </a:solidFill>
          <a:ln w="12700">
            <a:solidFill>
              <a:srgbClr val="5E376C"/>
            </a:solidFill>
            <a:prstDash val="solid"/>
          </a:ln>
        </p:spPr>
        <p:txBody>
          <a:bodyPr/>
          <a:p/>
        </p:txBody>
      </p:sp>
      <p:sp>
        <p:nvSpPr>
          <p:cNvPr id="15" name="Text 13"/>
          <p:cNvSpPr/>
          <p:nvPr/>
        </p:nvSpPr>
        <p:spPr>
          <a:xfrm>
            <a:off x="5925312" y="1664208"/>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Passenger</a:t>
            </a:r>
            <a:endParaRPr lang="en-US" sz="1450" dirty="0"/>
          </a:p>
        </p:txBody>
      </p:sp>
      <p:sp>
        <p:nvSpPr>
          <p:cNvPr id="16" name="Text 14"/>
          <p:cNvSpPr/>
          <p:nvPr/>
        </p:nvSpPr>
        <p:spPr>
          <a:xfrm>
            <a:off x="59253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baby: size, position, and how well the head can flex and rotate to navigate the pelvis.</a:t>
            </a:r>
            <a:endParaRPr lang="en-US" sz="1200" dirty="0"/>
          </a:p>
        </p:txBody>
      </p:sp>
      <p:sp>
        <p:nvSpPr>
          <p:cNvPr id="17" name="Shape 15"/>
          <p:cNvSpPr/>
          <p:nvPr/>
        </p:nvSpPr>
        <p:spPr>
          <a:xfrm>
            <a:off x="292608" y="3346704"/>
            <a:ext cx="2651760" cy="1719072"/>
          </a:xfrm>
          <a:prstGeom prst="rect">
            <a:avLst/>
          </a:prstGeom>
          <a:solidFill>
            <a:srgbClr val="F5F1F8"/>
          </a:solidFill>
          <a:ln w="12700">
            <a:solidFill>
              <a:srgbClr val="C9B8D8"/>
            </a:solidFill>
            <a:prstDash val="solid"/>
          </a:ln>
        </p:spPr>
        <p:txBody>
          <a:bodyPr/>
          <a:p/>
        </p:txBody>
      </p:sp>
      <p:sp>
        <p:nvSpPr>
          <p:cNvPr id="18" name="Shape 16"/>
          <p:cNvSpPr/>
          <p:nvPr/>
        </p:nvSpPr>
        <p:spPr>
          <a:xfrm>
            <a:off x="292608" y="3346704"/>
            <a:ext cx="64008" cy="1719072"/>
          </a:xfrm>
          <a:prstGeom prst="rect">
            <a:avLst/>
          </a:prstGeom>
          <a:solidFill>
            <a:srgbClr val="5E376C"/>
          </a:solidFill>
          <a:ln w="12700">
            <a:solidFill>
              <a:srgbClr val="5E376C"/>
            </a:solidFill>
            <a:prstDash val="solid"/>
          </a:ln>
        </p:spPr>
        <p:txBody>
          <a:bodyPr/>
          <a:p/>
        </p:txBody>
      </p:sp>
      <p:sp>
        <p:nvSpPr>
          <p:cNvPr id="19" name="Text 17"/>
          <p:cNvSpPr/>
          <p:nvPr/>
        </p:nvSpPr>
        <p:spPr>
          <a:xfrm>
            <a:off x="438912" y="3474720"/>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Position</a:t>
            </a:r>
            <a:endParaRPr lang="en-US" sz="1450" dirty="0"/>
          </a:p>
        </p:txBody>
      </p:sp>
      <p:sp>
        <p:nvSpPr>
          <p:cNvPr id="20" name="Text 18"/>
          <p:cNvSpPr/>
          <p:nvPr/>
        </p:nvSpPr>
        <p:spPr>
          <a:xfrm>
            <a:off x="4389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birthing person’s position during labor. Upright and mobile positions optimize all other P’s.</a:t>
            </a:r>
            <a:endParaRPr lang="en-US" sz="1200" dirty="0"/>
          </a:p>
        </p:txBody>
      </p:sp>
      <p:sp>
        <p:nvSpPr>
          <p:cNvPr id="21" name="Shape 19"/>
          <p:cNvSpPr/>
          <p:nvPr/>
        </p:nvSpPr>
        <p:spPr>
          <a:xfrm>
            <a:off x="3035808" y="3346704"/>
            <a:ext cx="2651760" cy="1719072"/>
          </a:xfrm>
          <a:prstGeom prst="rect">
            <a:avLst/>
          </a:prstGeom>
          <a:solidFill>
            <a:srgbClr val="F5F1F8"/>
          </a:solidFill>
          <a:ln w="12700">
            <a:solidFill>
              <a:srgbClr val="C9B8D8"/>
            </a:solidFill>
            <a:prstDash val="solid"/>
          </a:ln>
        </p:spPr>
        <p:txBody>
          <a:bodyPr/>
          <a:p/>
        </p:txBody>
      </p:sp>
      <p:sp>
        <p:nvSpPr>
          <p:cNvPr id="22" name="Shape 20"/>
          <p:cNvSpPr/>
          <p:nvPr/>
        </p:nvSpPr>
        <p:spPr>
          <a:xfrm>
            <a:off x="3035808" y="3346704"/>
            <a:ext cx="64008" cy="1719072"/>
          </a:xfrm>
          <a:prstGeom prst="rect">
            <a:avLst/>
          </a:prstGeom>
          <a:solidFill>
            <a:srgbClr val="5E376C"/>
          </a:solidFill>
          <a:ln w="12700">
            <a:solidFill>
              <a:srgbClr val="5E376C"/>
            </a:solidFill>
            <a:prstDash val="solid"/>
          </a:ln>
        </p:spPr>
        <p:txBody>
          <a:bodyPr/>
          <a:p/>
        </p:txBody>
      </p:sp>
      <p:sp>
        <p:nvSpPr>
          <p:cNvPr id="23" name="Text 21"/>
          <p:cNvSpPr/>
          <p:nvPr/>
        </p:nvSpPr>
        <p:spPr>
          <a:xfrm>
            <a:off x="3182112" y="3474720"/>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Psyche</a:t>
            </a:r>
            <a:endParaRPr lang="en-US" sz="1450" dirty="0"/>
          </a:p>
        </p:txBody>
      </p:sp>
      <p:sp>
        <p:nvSpPr>
          <p:cNvPr id="24" name="Text 22"/>
          <p:cNvSpPr/>
          <p:nvPr/>
        </p:nvSpPr>
        <p:spPr>
          <a:xfrm>
            <a:off x="31821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Emotional state. Fear slows labor. Safety speeds it. This P responds most directly to your presence.</a:t>
            </a:r>
            <a:endParaRPr lang="en-US" sz="1200" dirty="0"/>
          </a:p>
        </p:txBody>
      </p:sp>
      <p:sp>
        <p:nvSpPr>
          <p:cNvPr id="25" name="Shape 23"/>
          <p:cNvSpPr/>
          <p:nvPr/>
        </p:nvSpPr>
        <p:spPr>
          <a:xfrm>
            <a:off x="5779008" y="3346704"/>
            <a:ext cx="2651760" cy="1719072"/>
          </a:xfrm>
          <a:prstGeom prst="rect">
            <a:avLst/>
          </a:prstGeom>
          <a:solidFill>
            <a:srgbClr val="F5F1F8"/>
          </a:solidFill>
          <a:ln w="12700">
            <a:solidFill>
              <a:srgbClr val="C9B8D8"/>
            </a:solidFill>
            <a:prstDash val="solid"/>
          </a:ln>
        </p:spPr>
        <p:txBody>
          <a:bodyPr/>
          <a:p/>
        </p:txBody>
      </p:sp>
      <p:sp>
        <p:nvSpPr>
          <p:cNvPr id="26" name="Shape 24"/>
          <p:cNvSpPr/>
          <p:nvPr/>
        </p:nvSpPr>
        <p:spPr>
          <a:xfrm>
            <a:off x="5779008" y="3346704"/>
            <a:ext cx="64008" cy="1719072"/>
          </a:xfrm>
          <a:prstGeom prst="rect">
            <a:avLst/>
          </a:prstGeom>
          <a:solidFill>
            <a:srgbClr val="5E376C"/>
          </a:solidFill>
          <a:ln w="12700">
            <a:solidFill>
              <a:srgbClr val="5E376C"/>
            </a:solidFill>
            <a:prstDash val="solid"/>
          </a:ln>
        </p:spPr>
        <p:txBody>
          <a:bodyPr/>
          <a:p/>
        </p:txBody>
      </p:sp>
      <p:sp>
        <p:nvSpPr>
          <p:cNvPr id="27" name="Text 25"/>
          <p:cNvSpPr/>
          <p:nvPr/>
        </p:nvSpPr>
        <p:spPr>
          <a:xfrm>
            <a:off x="5925312" y="3474720"/>
            <a:ext cx="2450592" cy="292608"/>
          </a:xfrm>
          <a:prstGeom prst="rect">
            <a:avLst/>
          </a:prstGeom>
          <a:noFill/>
          <a:ln/>
        </p:spPr>
        <p:txBody>
          <a:bodyPr wrap="square" lIns="0" tIns="0" rIns="0" bIns="0" rtlCol="0" anchor="ctr"/>
          <a:lstStyle/>
          <a:p>
            <a:pPr marL="0" indent="0" algn="l">
              <a:buNone/>
            </a:pPr>
            <a:r>
              <a:rPr lang="en-US" sz="1450" b="1" dirty="0">
                <a:solidFill>
                  <a:srgbClr val="5E376C"/>
                </a:solidFill>
                <a:latin typeface="Georgia" pitchFamily="34" charset="0"/>
                <a:ea typeface="Georgia" pitchFamily="34" charset="-122"/>
                <a:cs typeface="Georgia" pitchFamily="34" charset="-120"/>
              </a:rPr>
              <a:t>Provider</a:t>
            </a:r>
            <a:endParaRPr lang="en-US" sz="1450" dirty="0"/>
          </a:p>
        </p:txBody>
      </p:sp>
      <p:sp>
        <p:nvSpPr>
          <p:cNvPr id="28" name="Text 26"/>
          <p:cNvSpPr/>
          <p:nvPr/>
        </p:nvSpPr>
        <p:spPr>
          <a:xfrm>
            <a:off x="59253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support team dynamic. Communication, trust, and shared decision-making all affect progress.</a:t>
            </a:r>
            <a:endParaRPr lang="en-US" sz="120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SIX P’S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Powers — The Contractions That Drive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 cannot make contractions happen. You can only create the conditions that allow them to work.</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Stage 1: Cervical dilation</a:t>
            </a:r>
            <a:endParaRPr lang="en-US" sz="1100" dirty="0"/>
          </a:p>
        </p:txBody>
      </p:sp>
      <p:sp>
        <p:nvSpPr>
          <p:cNvPr id="8" name="Text 6"/>
          <p:cNvSpPr/>
          <p:nvPr/>
        </p:nvSpPr>
        <p:spPr>
          <a:xfrm>
            <a:off x="475488" y="1956816"/>
            <a:ext cx="3858768" cy="155448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Involuntary — uterus contracts on its own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Measured by frequency, duration, intensity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Goal: efface and dilate 0 → 10 cm</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Adequate: every 2–3 min, 60–90 sec</a:t>
            </a:r>
            <a:endParaRPr lang="en-US" sz="1250" dirty="0"/>
          </a:p>
        </p:txBody>
      </p:sp>
      <p:sp>
        <p:nvSpPr>
          <p:cNvPr id="9" name="Text 7"/>
          <p:cNvSpPr/>
          <p:nvPr/>
        </p:nvSpPr>
        <p:spPr>
          <a:xfrm>
            <a:off x="475488" y="356616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Stage 2: Pushing</a:t>
            </a:r>
            <a:endParaRPr lang="en-US" sz="1100" dirty="0"/>
          </a:p>
        </p:txBody>
      </p:sp>
      <p:sp>
        <p:nvSpPr>
          <p:cNvPr id="10" name="Text 8"/>
          <p:cNvSpPr/>
          <p:nvPr/>
        </p:nvSpPr>
        <p:spPr>
          <a:xfrm>
            <a:off x="475488" y="3858768"/>
            <a:ext cx="3858768" cy="969264"/>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Voluntary bearing-down effort added to involuntary contractions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Fetal ejection reflex: body pushes spontaneously — support this when possible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Evidence favors waiting for the urge vs. directed “purple pushing”</a:t>
            </a:r>
            <a:endParaRPr lang="en-US" sz="1250" dirty="0"/>
          </a:p>
        </p:txBody>
      </p:sp>
      <p:sp>
        <p:nvSpPr>
          <p:cNvPr id="11" name="Shape 9"/>
          <p:cNvSpPr/>
          <p:nvPr/>
        </p:nvSpPr>
        <p:spPr>
          <a:xfrm>
            <a:off x="4663440" y="1536192"/>
            <a:ext cx="4224528" cy="2212848"/>
          </a:xfrm>
          <a:prstGeom prst="rect">
            <a:avLst/>
          </a:prstGeom>
          <a:solidFill>
            <a:srgbClr val="F0F7FA"/>
          </a:solidFill>
          <a:ln w="12700">
            <a:solidFill>
              <a:srgbClr val="0D9488"/>
            </a:solidFill>
            <a:prstDash val="solid"/>
          </a:ln>
        </p:spPr>
        <p:txBody>
          <a:bodyPr/>
          <a:p/>
        </p:txBody>
      </p:sp>
      <p:sp>
        <p:nvSpPr>
          <p:cNvPr id="12" name="Shape 10"/>
          <p:cNvSpPr/>
          <p:nvPr/>
        </p:nvSpPr>
        <p:spPr>
          <a:xfrm>
            <a:off x="4663440" y="1536192"/>
            <a:ext cx="64008" cy="2212848"/>
          </a:xfrm>
          <a:prstGeom prst="rect">
            <a:avLst/>
          </a:prstGeom>
          <a:solidFill>
            <a:srgbClr val="0D9488"/>
          </a:solidFill>
          <a:ln w="12700">
            <a:solidFill>
              <a:srgbClr val="0D9488"/>
            </a:solidFill>
            <a:prstDash val="solid"/>
          </a:ln>
        </p:spPr>
        <p:txBody>
          <a:bodyPr/>
          <a:p/>
        </p:txBody>
      </p:sp>
      <p:sp>
        <p:nvSpPr>
          <p:cNvPr id="13" name="Text 11"/>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Inadequate Powers</a:t>
            </a:r>
            <a:endParaRPr lang="en-US" sz="1100" dirty="0"/>
          </a:p>
        </p:txBody>
      </p:sp>
      <p:sp>
        <p:nvSpPr>
          <p:cNvPr id="14" name="Text 12"/>
          <p:cNvSpPr/>
          <p:nvPr/>
        </p:nvSpPr>
        <p:spPr>
          <a:xfrm>
            <a:off x="4828032" y="1956816"/>
            <a:ext cx="3877056" cy="1719072"/>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When contractions are too weak, too far apart, or poorly coordinated, the cervix may not dilate despite hours of effort. This is one reason augmentation with Pitocin is recommended. As a doula, you may notice this before anyone says anything — contractions you can barely see from across the room, long gaps, no reported progress.</a:t>
            </a:r>
            <a:endParaRPr lang="en-US" sz="1200" dirty="0"/>
          </a:p>
        </p:txBody>
      </p:sp>
      <p:sp>
        <p:nvSpPr>
          <p:cNvPr id="17" name="Text 15"/>
          <p:cNvSpPr/>
          <p:nvPr/>
        </p:nvSpPr>
        <p:spPr>
          <a:xfrm>
            <a:off x="4846320" y="3968496"/>
            <a:ext cx="3840480" cy="237744"/>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Doula role</a:t>
            </a:r>
            <a:endParaRPr lang="en-US" sz="1100" dirty="0"/>
          </a:p>
        </p:txBody>
      </p:sp>
      <p:sp>
        <p:nvSpPr>
          <p:cNvPr id="18" name="Text 16"/>
          <p:cNvSpPr/>
          <p:nvPr/>
        </p:nvSpPr>
        <p:spPr>
          <a:xfrm>
            <a:off x="4846320" y="4224528"/>
            <a:ext cx="3840480" cy="566928"/>
          </a:xfrm>
          <a:prstGeom prst="rect">
            <a:avLst/>
          </a:prstGeom>
          <a:noFill/>
          <a:ln/>
        </p:spPr>
        <p:txBody>
          <a:bodyPr wrap="square" lIns="0" tIns="0" rIns="0" bIns="0" rtlCol="0" anchor="t"/>
          <a:lstStyle/>
          <a:p>
            <a:pPr marL="0" indent="0" algn="l">
              <a:lnSpc>
                <a:spcPct val="135000"/>
              </a:lnSpc>
              <a:buNone/>
            </a:pPr>
            <a:r>
              <a:rPr lang="en-US" sz="1200" i="1" dirty="0">
                <a:solidFill>
                  <a:srgbClr val="845995"/>
                </a:solidFill>
                <a:latin typeface="Arial" pitchFamily="34" charset="0"/>
                <a:ea typeface="Arial" pitchFamily="34" charset="-122"/>
                <a:cs typeface="Arial" pitchFamily="34" charset="-120"/>
              </a:rPr>
              <a:t>Optimize the environment for oxytocin. Position changes to encourage descent. Emotional support to keep adrenaline low.</a:t>
            </a:r>
            <a:endParaRPr lang="en-US" sz="1200" dirty="0"/>
          </a:p>
        </p:txBody>
      </p:sp>
      <p:sp>
        <p:nvSpPr>
          <p:cNvPr id="20" name="Text 1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SIX P’S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Passage &amp; Passenger — Pelvis &amp; Baby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The passage is the road. The passenger is who’s traveling. Both have to cooperate.</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Passage — The Bony Pelvis</a:t>
            </a:r>
            <a:endParaRPr lang="en-US" sz="12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Pelvis has multiple diameters to navigate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Gynecoid shape is most favorable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Soft tissues must soften and stretch</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Position changes optimize entry angle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Squatting opens outlet up to 28%</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Passenger — The Baby</a:t>
            </a:r>
            <a:endParaRPr lang="en-US" sz="1200" dirty="0"/>
          </a:p>
        </p:txBody>
      </p:sp>
      <p:sp>
        <p:nvSpPr>
          <p:cNvPr id="12" name="Text 10"/>
          <p:cNvSpPr/>
          <p:nvPr/>
        </p:nvSpPr>
        <p:spPr>
          <a:xfrm>
            <a:off x="4846320" y="1956816"/>
            <a:ext cx="3858768" cy="2834640"/>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Baby’s size, position, and ability to flex and rotate affect progress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Ideal position: occiput anterior (OA) — baby faces mother’s back</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Baby must flex chin to chest, rotate, and extend to emerge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Cardinal movements: engagement, descent, flexion, internal rotation, extension, external rotation</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Baby is not passive — position changes help baby find the optimal path</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SIX P’S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Position &amp; Psyche — The Two You Control Most</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Of all six P’s, position and psyche respond most directly to what a doula does.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Position — The Birthing Person</a:t>
            </a:r>
            <a:endParaRPr lang="en-US" sz="12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The most modifiable P — change every 20–30 min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Upright uses gravity, opens pelvis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Hands-knees relieves back labor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Side-lying conserves energy (epidural-friendly)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Walking, swaying, stairs all encourage descent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Movement matters more than any one position</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Psyche — The Emotional State</a:t>
            </a:r>
            <a:endParaRPr lang="en-US" sz="1200" dirty="0"/>
          </a:p>
        </p:txBody>
      </p:sp>
      <p:sp>
        <p:nvSpPr>
          <p:cNvPr id="12" name="Text 10"/>
          <p:cNvSpPr/>
          <p:nvPr/>
        </p:nvSpPr>
        <p:spPr>
          <a:xfrm>
            <a:off x="4846320" y="1956816"/>
            <a:ext cx="3858768" cy="1408176"/>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Fear, anxiety, and trauma history directly affect hormone balance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The fear-tension-pain cycle: fear → tension → more pain → more fear</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Your presence, voice, and calm lower adrenaline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Informed clients cope better — knowledge reduces fear</a:t>
            </a:r>
            <a:endParaRPr lang="en-US" sz="1250" dirty="0"/>
          </a:p>
        </p:txBody>
      </p:sp>
      <p:sp>
        <p:nvSpPr>
          <p:cNvPr id="13" name="Shape 11"/>
          <p:cNvSpPr/>
          <p:nvPr/>
        </p:nvSpPr>
        <p:spPr>
          <a:xfrm>
            <a:off x="4663440" y="3547872"/>
            <a:ext cx="4224528" cy="1298448"/>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547872"/>
            <a:ext cx="64008" cy="1298448"/>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657600"/>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 — Psyche Check-In</a:t>
            </a:r>
            <a:endParaRPr lang="en-US" sz="1100" dirty="0"/>
          </a:p>
        </p:txBody>
      </p:sp>
      <p:sp>
        <p:nvSpPr>
          <p:cNvPr id="16" name="Text 14"/>
          <p:cNvSpPr/>
          <p:nvPr/>
        </p:nvSpPr>
        <p:spPr>
          <a:xfrm>
            <a:off x="4828032" y="3968496"/>
            <a:ext cx="3877056" cy="786384"/>
          </a:xfrm>
          <a:prstGeom prst="rect">
            <a:avLst/>
          </a:prstGeom>
          <a:noFill/>
          <a:ln/>
        </p:spPr>
        <p:txBody>
          <a:bodyPr wrap="square" lIns="0" tIns="0" rIns="0" bIns="0" rtlCol="0" anchor="t"/>
          <a:lstStyle/>
          <a:p>
            <a:pPr marL="0" indent="0" algn="l">
              <a:lnSpc>
                <a:spcPct val="140000"/>
              </a:lnSpc>
              <a:buNone/>
            </a:pPr>
            <a:r>
              <a:rPr lang="en-US" sz="1350" i="1" dirty="0">
                <a:solidFill>
                  <a:srgbClr val="2D2D2D"/>
                </a:solidFill>
                <a:latin typeface="Georgia" pitchFamily="34" charset="0"/>
                <a:ea typeface="Georgia" pitchFamily="34" charset="-122"/>
                <a:cs typeface="Georgia" pitchFamily="34" charset="-120"/>
              </a:rPr>
              <a:t>“I’m right here. You’re doing great. Tell me what you need right now.”</a:t>
            </a:r>
            <a:endParaRPr lang="en-US" sz="13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THE SIX P’S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Provider — The Team Dynamic</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The quality of the birth team relationship is a clinical variable.</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How Provider affects labor</a:t>
            </a:r>
            <a:endParaRPr lang="en-US" sz="1100" dirty="0"/>
          </a:p>
        </p:txBody>
      </p:sp>
      <p:sp>
        <p:nvSpPr>
          <p:cNvPr id="8" name="Text 6"/>
          <p:cNvSpPr/>
          <p:nvPr/>
        </p:nvSpPr>
        <p:spPr>
          <a:xfrm>
            <a:off x="475488" y="1956816"/>
            <a:ext cx="3858768" cy="28346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Trusted team → less fear → better psyche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Clear communication → adrenaline drops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Rushed/dismissive care → cortisol up</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Supportive nurse is a force multiplier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You work alongside the provider — bridge, never undermine</a:t>
            </a:r>
            <a:endParaRPr lang="en-US" sz="1250" dirty="0"/>
          </a:p>
        </p:txBody>
      </p:sp>
      <p:sp>
        <p:nvSpPr>
          <p:cNvPr id="9" name="Shape 7"/>
          <p:cNvSpPr/>
          <p:nvPr/>
        </p:nvSpPr>
        <p:spPr>
          <a:xfrm>
            <a:off x="4663440" y="1536192"/>
            <a:ext cx="4224528" cy="1700784"/>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1700784"/>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Cochrane Review — All Six P’s Connected</a:t>
            </a:r>
            <a:endParaRPr lang="en-US" sz="1100" dirty="0"/>
          </a:p>
        </p:txBody>
      </p:sp>
      <p:sp>
        <p:nvSpPr>
          <p:cNvPr id="12" name="Text 10"/>
          <p:cNvSpPr/>
          <p:nvPr/>
        </p:nvSpPr>
        <p:spPr>
          <a:xfrm>
            <a:off x="4828032" y="1956816"/>
            <a:ext cx="3877056" cy="1207008"/>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2017 Cochrane Review: continuous support leads to 25% fewer cesareans, 10% less pain medication use, and labors averaging 41 minutes shorter. The mechanism: doulas address all Six P’s simultaneously.</a:t>
            </a:r>
            <a:endParaRPr lang="en-US" sz="1200" dirty="0"/>
          </a:p>
        </p:txBody>
      </p:sp>
      <p:sp>
        <p:nvSpPr>
          <p:cNvPr id="15" name="Text 13"/>
          <p:cNvSpPr/>
          <p:nvPr/>
        </p:nvSpPr>
        <p:spPr>
          <a:xfrm>
            <a:off x="4846320" y="3456432"/>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How doulas address all Six P’s</a:t>
            </a:r>
            <a:endParaRPr lang="en-US" sz="1100" dirty="0"/>
          </a:p>
        </p:txBody>
      </p:sp>
      <p:sp>
        <p:nvSpPr>
          <p:cNvPr id="16" name="Text 14"/>
          <p:cNvSpPr/>
          <p:nvPr/>
        </p:nvSpPr>
        <p:spPr>
          <a:xfrm>
            <a:off x="4846320" y="3749040"/>
            <a:ext cx="3858768" cy="1060704"/>
          </a:xfrm>
          <a:prstGeom prst="rect">
            <a:avLst/>
          </a:prstGeom>
          <a:noFill/>
          <a:ln/>
        </p:spPr>
        <p:txBody>
          <a:bodyPr wrap="square" lIns="0" tIns="0" rIns="0" bIns="0" rtlCol="0" anchor="t"/>
          <a:lstStyle/>
          <a:p>
            <a:pPr marL="0" indent="0">
              <a:spcAft>
                <a:spcPts val="300"/>
              </a:spcAft>
              <a:buNone/>
            </a:pPr>
            <a:r>
              <a:rPr lang="en-US" sz="2000" dirty="0">
                <a:solidFill>
                  <a:srgbClr val="2D2D2D"/>
                </a:solidFill>
                <a:latin typeface="Arial" pitchFamily="34" charset="0"/>
                <a:ea typeface="Arial" pitchFamily="34" charset="-122"/>
                <a:cs typeface="Arial" pitchFamily="34" charset="-120"/>
              </a:rPr>
              <a:t>–  Powers: optimize the hormonal environment</a:t>
            </a:r>
            <a:endParaRPr lang="en-US" sz="115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Passage: encourage position changes and relaxation</a:t>
            </a:r>
            <a:endParaRPr lang="en-US" sz="115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Passenger: use positions to help baby navigate</a:t>
            </a:r>
            <a:endParaRPr lang="en-US" sz="115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Position: continuous, frequent movement</a:t>
            </a:r>
            <a:endParaRPr lang="en-US" sz="115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Psyche: your entire presence addresses this</a:t>
            </a:r>
            <a:endParaRPr lang="en-US" sz="1150" dirty="0"/>
          </a:p>
          <a:p>
            <a:pPr marL="0" indent="0">
              <a:spcAft>
                <a:spcPts val="300"/>
              </a:spcAft>
              <a:buNone/>
            </a:pPr>
            <a:r>
              <a:rPr lang="en-US" sz="2000" dirty="0">
                <a:solidFill>
                  <a:srgbClr val="2D2D2D"/>
                </a:solidFill>
                <a:latin typeface="Arial" pitchFamily="34" charset="0"/>
                <a:ea typeface="Arial" pitchFamily="34" charset="-122"/>
                <a:cs typeface="Arial" pitchFamily="34" charset="-120"/>
              </a:rPr>
              <a:t>–  Provider: bridge communication, foster collaboration</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FOUR</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Induction &amp;</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Augmentation</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Induction starts labor. Augmentation speeds it up.</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job is to help families make informed decisions — not to make the decision for them.</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INDUCTION &amp; AUGMENTATION  ·  THE DISTINCTION</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Induction vs. Augmentation</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Think breast augmentation: you already have some, now you have more. Labor augmentation is the same idea.</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Induction — Starting Labor</a:t>
            </a:r>
            <a:endParaRPr lang="en-US" sz="12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600"/>
              </a:spcAft>
              <a:buNone/>
            </a:pPr>
            <a:r>
              <a:rPr lang="en-US" sz="1250" dirty="0">
                <a:solidFill>
                  <a:srgbClr val="2D2D2D"/>
                </a:solidFill>
                <a:latin typeface="Arial" pitchFamily="34" charset="0"/>
                <a:ea typeface="Arial" pitchFamily="34" charset="-122"/>
                <a:cs typeface="Arial" pitchFamily="34" charset="-120"/>
              </a:rPr>
              <a:t>Body is not yet in labor</a:t>
            </a:r>
            <a:endParaRPr lang="en-US" sz="1250" dirty="0"/>
          </a:p>
          <a:p>
            <a:pPr marL="0" indent="0">
              <a:spcAft>
                <a:spcPts val="600"/>
              </a:spcAft>
              <a:buNone/>
            </a:pPr>
            <a:r>
              <a:rPr lang="en-US" sz="1250" dirty="0">
                <a:solidFill>
                  <a:srgbClr val="2D2D2D"/>
                </a:solidFill>
                <a:latin typeface="Arial" pitchFamily="34" charset="0"/>
                <a:ea typeface="Arial" pitchFamily="34" charset="-122"/>
                <a:cs typeface="Arial" pitchFamily="34" charset="-120"/>
              </a:rPr>
              <a:t>Methods to GET labor started</a:t>
            </a:r>
            <a:endParaRPr lang="en-US" sz="1250" dirty="0"/>
          </a:p>
          <a:p>
            <a:pPr marL="0" indent="0">
              <a:spcAft>
                <a:spcPts val="600"/>
              </a:spcAft>
              <a:buNone/>
            </a:pPr>
            <a:r>
              <a:rPr lang="en-US" sz="1250" dirty="0">
                <a:solidFill>
                  <a:srgbClr val="2D2D2D"/>
                </a:solidFill>
                <a:latin typeface="Arial" pitchFamily="34" charset="0"/>
                <a:ea typeface="Arial" pitchFamily="34" charset="-122"/>
                <a:cs typeface="Arial" pitchFamily="34" charset="-120"/>
              </a:rPr>
              <a:t>Zero contractions → active labor</a:t>
            </a:r>
            <a:endParaRPr lang="en-US" sz="1250" dirty="0"/>
          </a:p>
          <a:p>
            <a:pPr marL="0" indent="0">
              <a:spcAft>
                <a:spcPts val="600"/>
              </a:spcAft>
              <a:buNone/>
            </a:pPr>
            <a:r>
              <a:rPr lang="en-US" sz="1250" dirty="0">
                <a:solidFill>
                  <a:srgbClr val="2D2D2D"/>
                </a:solidFill>
                <a:latin typeface="Arial" pitchFamily="34" charset="0"/>
                <a:ea typeface="Arial" pitchFamily="34" charset="-122"/>
                <a:cs typeface="Arial" pitchFamily="34" charset="-120"/>
              </a:rPr>
              <a:t>Requires cervical readiness (Bishop)</a:t>
            </a:r>
            <a:endParaRPr lang="en-US" sz="1250" dirty="0"/>
          </a:p>
          <a:p>
            <a:pPr marL="0" indent="0">
              <a:spcAft>
                <a:spcPts val="600"/>
              </a:spcAft>
              <a:buNone/>
            </a:pPr>
            <a:r>
              <a:rPr lang="en-US" sz="1250" dirty="0">
                <a:solidFill>
                  <a:srgbClr val="2D2D2D"/>
                </a:solidFill>
                <a:latin typeface="Arial" pitchFamily="34" charset="0"/>
                <a:ea typeface="Arial" pitchFamily="34" charset="-122"/>
                <a:cs typeface="Arial" pitchFamily="34" charset="-120"/>
              </a:rPr>
              <a:t>May need ripening before Pitocin works</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Augmentation — Strengthening Labor</a:t>
            </a:r>
            <a:endParaRPr lang="en-US" sz="1200" dirty="0"/>
          </a:p>
        </p:txBody>
      </p:sp>
      <p:sp>
        <p:nvSpPr>
          <p:cNvPr id="12" name="Text 10"/>
          <p:cNvSpPr/>
          <p:nvPr/>
        </p:nvSpPr>
        <p:spPr>
          <a:xfrm>
            <a:off x="4846320" y="1956816"/>
            <a:ext cx="3858768" cy="2743200"/>
          </a:xfrm>
          <a:prstGeom prst="rect">
            <a:avLst/>
          </a:prstGeom>
          <a:noFill/>
          <a:ln/>
        </p:spPr>
        <p:txBody>
          <a:bodyPr wrap="square" lIns="0" tIns="0" rIns="0" bIns="0" rtlCol="0" anchor="t"/>
          <a:lstStyle/>
          <a:p>
            <a:pPr marL="0" indent="0">
              <a:spcAft>
                <a:spcPts val="600"/>
              </a:spcAft>
              <a:buNone/>
            </a:pPr>
            <a:r>
              <a:rPr lang="en-US" sz="2000" dirty="0">
                <a:solidFill>
                  <a:srgbClr val="2D2D2D"/>
                </a:solidFill>
                <a:latin typeface="Arial" pitchFamily="34" charset="0"/>
                <a:ea typeface="Arial" pitchFamily="34" charset="-122"/>
                <a:cs typeface="Arial" pitchFamily="34" charset="-120"/>
              </a:rPr>
              <a:t>–  Labor has already started</a:t>
            </a:r>
            <a:endParaRPr lang="en-US" sz="1250" dirty="0"/>
          </a:p>
          <a:p>
            <a:pPr marL="0" indent="0">
              <a:spcAft>
                <a:spcPts val="600"/>
              </a:spcAft>
              <a:buNone/>
            </a:pPr>
            <a:r>
              <a:rPr lang="en-US" sz="2000" dirty="0">
                <a:solidFill>
                  <a:srgbClr val="2D2D2D"/>
                </a:solidFill>
                <a:latin typeface="Arial" pitchFamily="34" charset="0"/>
                <a:ea typeface="Arial" pitchFamily="34" charset="-122"/>
                <a:cs typeface="Arial" pitchFamily="34" charset="-120"/>
              </a:rPr>
              <a:t>–  Contractions are too weak, too far apart, or stalled</a:t>
            </a:r>
            <a:endParaRPr lang="en-US" sz="1250" dirty="0"/>
          </a:p>
          <a:p>
            <a:pPr marL="0" indent="0">
              <a:spcAft>
                <a:spcPts val="600"/>
              </a:spcAft>
              <a:buNone/>
            </a:pPr>
            <a:r>
              <a:rPr lang="en-US" sz="2000" dirty="0">
                <a:solidFill>
                  <a:srgbClr val="2D2D2D"/>
                </a:solidFill>
                <a:latin typeface="Arial" pitchFamily="34" charset="0"/>
                <a:ea typeface="Arial" pitchFamily="34" charset="-122"/>
                <a:cs typeface="Arial" pitchFamily="34" charset="-120"/>
              </a:rPr>
              <a:t>–  Methods used to strengthen or speed up what's there</a:t>
            </a:r>
            <a:endParaRPr lang="en-US" sz="1250" dirty="0"/>
          </a:p>
          <a:p>
            <a:pPr marL="0" indent="0">
              <a:spcAft>
                <a:spcPts val="600"/>
              </a:spcAft>
              <a:buNone/>
            </a:pPr>
            <a:r>
              <a:rPr lang="en-US" sz="2000" dirty="0">
                <a:solidFill>
                  <a:srgbClr val="2D2D2D"/>
                </a:solidFill>
                <a:latin typeface="Arial" pitchFamily="34" charset="0"/>
                <a:ea typeface="Arial" pitchFamily="34" charset="-122"/>
                <a:cs typeface="Arial" pitchFamily="34" charset="-120"/>
              </a:rPr>
              <a:t>–  Most common: Pitocin drip or AROM</a:t>
            </a:r>
            <a:endParaRPr lang="en-US" sz="1250" dirty="0"/>
          </a:p>
          <a:p>
            <a:pPr marL="0" indent="0">
              <a:spcAft>
                <a:spcPts val="600"/>
              </a:spcAft>
              <a:buNone/>
            </a:pPr>
            <a:r>
              <a:rPr lang="en-US" sz="2000" dirty="0">
                <a:solidFill>
                  <a:srgbClr val="2D2D2D"/>
                </a:solidFill>
                <a:latin typeface="Arial" pitchFamily="34" charset="0"/>
                <a:ea typeface="Arial" pitchFamily="34" charset="-122"/>
                <a:cs typeface="Arial" pitchFamily="34" charset="-120"/>
              </a:rPr>
              <a:t>–  Does NOT mean something is wrong — often a normal part of labor</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INDUCTION &amp; AUGMENTATION  ·  INDICATIONS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Why Induction Is Recommended</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Medical and elective inductions require very different preparation conversations.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Medical Indications</a:t>
            </a:r>
            <a:endParaRPr lang="en-US" sz="12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Past 41–42 weeks (post-dates)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Water broke, labor hasn't started (PROM)</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Preeclampsia or dangerous BP</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Baby not growing adequately (IUGR)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Gestational diabetes concerns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Other health concerns</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Elective Induction</a:t>
            </a:r>
            <a:endParaRPr lang="en-US" sz="1200" dirty="0"/>
          </a:p>
        </p:txBody>
      </p:sp>
      <p:sp>
        <p:nvSpPr>
          <p:cNvPr id="12" name="Text 10"/>
          <p:cNvSpPr/>
          <p:nvPr/>
        </p:nvSpPr>
        <p:spPr>
          <a:xfrm>
            <a:off x="4846320" y="1956816"/>
            <a:ext cx="3858768" cy="1444752"/>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Scheduling or partner availability</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Distance from hospital</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History of fast labors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Not recommended before 39 weeks without medical reason</a:t>
            </a:r>
            <a:endParaRPr lang="en-US" sz="1250" dirty="0"/>
          </a:p>
        </p:txBody>
      </p:sp>
      <p:sp>
        <p:nvSpPr>
          <p:cNvPr id="13" name="Shape 11"/>
          <p:cNvSpPr/>
          <p:nvPr/>
        </p:nvSpPr>
        <p:spPr>
          <a:xfrm>
            <a:off x="4663440" y="3584448"/>
            <a:ext cx="4224528" cy="1261872"/>
          </a:xfrm>
          <a:prstGeom prst="rect">
            <a:avLst/>
          </a:prstGeom>
          <a:solidFill>
            <a:srgbClr val="F0F7FA"/>
          </a:solidFill>
          <a:ln w="12700">
            <a:solidFill>
              <a:srgbClr val="0D9488"/>
            </a:solidFill>
            <a:prstDash val="solid"/>
          </a:ln>
        </p:spPr>
        <p:txBody>
          <a:bodyPr/>
          <a:p/>
        </p:txBody>
      </p:sp>
      <p:sp>
        <p:nvSpPr>
          <p:cNvPr id="14" name="Shape 12"/>
          <p:cNvSpPr/>
          <p:nvPr/>
        </p:nvSpPr>
        <p:spPr>
          <a:xfrm>
            <a:off x="4663440" y="3584448"/>
            <a:ext cx="64008" cy="1261872"/>
          </a:xfrm>
          <a:prstGeom prst="rect">
            <a:avLst/>
          </a:prstGeom>
          <a:solidFill>
            <a:srgbClr val="0D9488"/>
          </a:solidFill>
          <a:ln w="12700">
            <a:solidFill>
              <a:srgbClr val="0D9488"/>
            </a:solidFill>
            <a:prstDash val="solid"/>
          </a:ln>
        </p:spPr>
        <p:txBody>
          <a:bodyPr/>
          <a:p/>
        </p:txBody>
      </p:sp>
      <p:sp>
        <p:nvSpPr>
          <p:cNvPr id="15" name="Text 13"/>
          <p:cNvSpPr/>
          <p:nvPr/>
        </p:nvSpPr>
        <p:spPr>
          <a:xfrm>
            <a:off x="4828032" y="3694176"/>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The Bishop Score</a:t>
            </a:r>
            <a:endParaRPr lang="en-US" sz="1100" dirty="0"/>
          </a:p>
        </p:txBody>
      </p:sp>
      <p:sp>
        <p:nvSpPr>
          <p:cNvPr id="16" name="Text 14"/>
          <p:cNvSpPr/>
          <p:nvPr/>
        </p:nvSpPr>
        <p:spPr>
          <a:xfrm>
            <a:off x="4828032" y="4005072"/>
            <a:ext cx="3877056" cy="786384"/>
          </a:xfrm>
          <a:prstGeom prst="rect">
            <a:avLst/>
          </a:prstGeom>
          <a:noFill/>
          <a:ln/>
        </p:spPr>
        <p:txBody>
          <a:bodyPr wrap="square" lIns="0" tIns="0" rIns="0" bIns="0" rtlCol="0" anchor="t"/>
          <a:lstStyle/>
          <a:p>
            <a:pPr marL="0" indent="0" algn="l">
              <a:lnSpc>
                <a:spcPct val="135000"/>
              </a:lnSpc>
              <a:buNone/>
            </a:pPr>
            <a:r>
              <a:rPr lang="en-US" sz="1150" dirty="0">
                <a:solidFill>
                  <a:srgbClr val="2D2D2D"/>
                </a:solidFill>
                <a:latin typeface="Arial" pitchFamily="34" charset="0"/>
                <a:ea typeface="Arial" pitchFamily="34" charset="-122"/>
                <a:cs typeface="Arial" pitchFamily="34" charset="-120"/>
              </a:rPr>
              <a:t>Providers assess cervical readiness with the Bishop Score (dilation, effacement, consistency, position, station). Score 8+ = favorable for induction. Lower = cervical ripening first, and induction may take 12–24 hours before active labor begins.</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INDUCTION &amp; AUGMENTATION  ·  METHODS</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Induction Methods — At a Glance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Cervical ripening comes first if the cervix isn't ready. Pitocin cannot do its job on an unripe cervix.</a:t>
            </a:r>
            <a:endParaRPr lang="en-US" sz="135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384048" y="1572768"/>
            <a:ext cx="1371600" cy="219456"/>
          </a:xfrm>
          <a:prstGeom prst="rect">
            <a:avLst/>
          </a:prstGeom>
          <a:noFill/>
          <a:ln/>
        </p:spPr>
        <p:txBody>
          <a:bodyPr wrap="square" lIns="0" tIns="0" rIns="0" bIns="0" rtlCol="0" anchor="ctr"/>
          <a:lstStyle/>
          <a:p>
            <a:pPr marL="0" indent="0" algn="l">
              <a:buNone/>
            </a:pPr>
            <a:r>
              <a:rPr lang="en-US" sz="1100" b="1" dirty="0">
                <a:solidFill>
                  <a:srgbClr val="FFFFFF"/>
                </a:solidFill>
                <a:latin typeface="Arial" pitchFamily="34" charset="0"/>
                <a:ea typeface="Arial" pitchFamily="34" charset="-122"/>
                <a:cs typeface="Arial" pitchFamily="34" charset="-120"/>
              </a:rPr>
              <a:t>Method</a:t>
            </a:r>
            <a:endParaRPr lang="en-US" sz="1100" dirty="0"/>
          </a:p>
        </p:txBody>
      </p:sp>
      <p:sp>
        <p:nvSpPr>
          <p:cNvPr id="7" name="Text 5"/>
          <p:cNvSpPr/>
          <p:nvPr/>
        </p:nvSpPr>
        <p:spPr>
          <a:xfrm>
            <a:off x="1865376" y="1572768"/>
            <a:ext cx="3383280" cy="219456"/>
          </a:xfrm>
          <a:prstGeom prst="rect">
            <a:avLst/>
          </a:prstGeom>
          <a:noFill/>
          <a:ln/>
        </p:spPr>
        <p:txBody>
          <a:bodyPr wrap="square" lIns="0" tIns="0" rIns="0" bIns="0" rtlCol="0" anchor="ctr"/>
          <a:lstStyle/>
          <a:p>
            <a:pPr marL="0" indent="0" algn="l">
              <a:buNone/>
            </a:pPr>
            <a:r>
              <a:rPr lang="en-US" sz="1100" b="1" dirty="0">
                <a:solidFill>
                  <a:srgbClr val="FFFFFF"/>
                </a:solidFill>
                <a:latin typeface="Arial" pitchFamily="34" charset="0"/>
                <a:ea typeface="Arial" pitchFamily="34" charset="-122"/>
                <a:cs typeface="Arial" pitchFamily="34" charset="-120"/>
              </a:rPr>
              <a:t>What It Does</a:t>
            </a:r>
            <a:endParaRPr lang="en-US" sz="1100" dirty="0"/>
          </a:p>
        </p:txBody>
      </p:sp>
      <p:sp>
        <p:nvSpPr>
          <p:cNvPr id="8" name="Text 6"/>
          <p:cNvSpPr/>
          <p:nvPr/>
        </p:nvSpPr>
        <p:spPr>
          <a:xfrm>
            <a:off x="5340096" y="1572768"/>
            <a:ext cx="3511296" cy="219456"/>
          </a:xfrm>
          <a:prstGeom prst="rect">
            <a:avLst/>
          </a:prstGeom>
          <a:noFill/>
          <a:ln/>
        </p:spPr>
        <p:txBody>
          <a:bodyPr wrap="square" lIns="0" tIns="0" rIns="0" bIns="0" rtlCol="0" anchor="ctr"/>
          <a:lstStyle/>
          <a:p>
            <a:pPr marL="0" indent="0" algn="l">
              <a:buNone/>
            </a:pPr>
            <a:r>
              <a:rPr lang="en-US" sz="1100" b="1" dirty="0">
                <a:solidFill>
                  <a:srgbClr val="FFFFFF"/>
                </a:solidFill>
                <a:latin typeface="Arial" pitchFamily="34" charset="0"/>
                <a:ea typeface="Arial" pitchFamily="34" charset="-122"/>
                <a:cs typeface="Arial" pitchFamily="34" charset="-120"/>
              </a:rPr>
              <a:t>Your Doula Role</a:t>
            </a:r>
            <a:endParaRPr lang="en-US" sz="1100" dirty="0"/>
          </a:p>
        </p:txBody>
      </p:sp>
      <p:sp>
        <p:nvSpPr>
          <p:cNvPr id="9" name="Shape 7"/>
          <p:cNvSpPr/>
          <p:nvPr/>
        </p:nvSpPr>
        <p:spPr>
          <a:xfrm>
            <a:off x="292608" y="1828800"/>
            <a:ext cx="8558784" cy="1005840"/>
          </a:xfrm>
          <a:prstGeom prst="rect">
            <a:avLst/>
          </a:prstGeom>
          <a:solidFill>
            <a:srgbClr val="F5F1F8"/>
          </a:solidFill>
          <a:ln w="6350">
            <a:solidFill>
              <a:srgbClr val="C9B8D8"/>
            </a:solidFill>
            <a:prstDash val="solid"/>
          </a:ln>
        </p:spPr>
        <p:txBody>
          <a:bodyPr/>
          <a:p/>
        </p:txBody>
      </p:sp>
      <p:sp>
        <p:nvSpPr>
          <p:cNvPr id="10" name="Text 8"/>
          <p:cNvSpPr/>
          <p:nvPr/>
        </p:nvSpPr>
        <p:spPr>
          <a:xfrm>
            <a:off x="384048" y="1883664"/>
            <a:ext cx="1280160" cy="896112"/>
          </a:xfrm>
          <a:prstGeom prst="rect">
            <a:avLst/>
          </a:prstGeom>
          <a:noFill/>
          <a:ln/>
        </p:spPr>
        <p:txBody>
          <a:bodyPr wrap="square" lIns="0" tIns="0" rIns="0" bIns="0" rtlCol="0" anchor="t"/>
          <a:lstStyle/>
          <a:p>
            <a:pPr marL="0" indent="0" algn="l">
              <a:lnSpc>
                <a:spcPct val="120000"/>
              </a:lnSpc>
              <a:buNone/>
            </a:pPr>
            <a:r>
              <a:rPr lang="en-US" sz="1100" b="1" dirty="0">
                <a:solidFill>
                  <a:srgbClr val="5E376C"/>
                </a:solidFill>
                <a:latin typeface="Georgia" pitchFamily="34" charset="0"/>
                <a:ea typeface="Georgia" pitchFamily="34" charset="-122"/>
                <a:cs typeface="Georgia" pitchFamily="34" charset="-120"/>
              </a:rPr>
              <a:t>Cervidil /</a:t>
            </a:r>
            <a:endParaRPr lang="en-US" sz="1100" dirty="0"/>
          </a:p>
          <a:p>
            <a:pPr marL="0" indent="0" algn="l">
              <a:lnSpc>
                <a:spcPct val="120000"/>
              </a:lnSpc>
              <a:buNone/>
            </a:pPr>
            <a:r>
              <a:rPr lang="en-US" sz="1100" b="1" dirty="0">
                <a:solidFill>
                  <a:srgbClr val="5E376C"/>
                </a:solidFill>
                <a:latin typeface="Georgia" pitchFamily="34" charset="0"/>
                <a:ea typeface="Georgia" pitchFamily="34" charset="-122"/>
                <a:cs typeface="Georgia" pitchFamily="34" charset="-120"/>
              </a:rPr>
              <a:t>Cytotec</a:t>
            </a:r>
            <a:endParaRPr lang="en-US" sz="1100" dirty="0"/>
          </a:p>
        </p:txBody>
      </p:sp>
      <p:sp>
        <p:nvSpPr>
          <p:cNvPr id="11" name="Text 9"/>
          <p:cNvSpPr/>
          <p:nvPr/>
        </p:nvSpPr>
        <p:spPr>
          <a:xfrm>
            <a:off x="1865376" y="1883664"/>
            <a:ext cx="3255264"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Prostaglandins soften and thin the cervix. Cervidil = insert (removable). Cytotec = pill (not removable). Usually given overnight. Causes cramping.</a:t>
            </a:r>
            <a:endParaRPr lang="en-US" sz="1050" dirty="0"/>
          </a:p>
        </p:txBody>
      </p:sp>
      <p:sp>
        <p:nvSpPr>
          <p:cNvPr id="12" name="Text 10"/>
          <p:cNvSpPr/>
          <p:nvPr/>
        </p:nvSpPr>
        <p:spPr>
          <a:xfrm>
            <a:off x="5340096" y="1883664"/>
            <a:ext cx="3383280"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Normalize the long wait. Keep her comfortable. Encourage rest — this phase can take 12+ hours before Pitocin even starts.</a:t>
            </a:r>
            <a:endParaRPr lang="en-US" sz="1050" dirty="0"/>
          </a:p>
        </p:txBody>
      </p:sp>
      <p:sp>
        <p:nvSpPr>
          <p:cNvPr id="13" name="Shape 11"/>
          <p:cNvSpPr/>
          <p:nvPr/>
        </p:nvSpPr>
        <p:spPr>
          <a:xfrm>
            <a:off x="292608" y="2834640"/>
            <a:ext cx="8558784" cy="1005840"/>
          </a:xfrm>
          <a:prstGeom prst="rect">
            <a:avLst/>
          </a:prstGeom>
          <a:solidFill>
            <a:srgbClr val="FFFFFF"/>
          </a:solidFill>
          <a:ln w="6350">
            <a:solidFill>
              <a:srgbClr val="C9B8D8"/>
            </a:solidFill>
            <a:prstDash val="solid"/>
          </a:ln>
        </p:spPr>
        <p:txBody>
          <a:bodyPr/>
          <a:p/>
        </p:txBody>
      </p:sp>
      <p:sp>
        <p:nvSpPr>
          <p:cNvPr id="14" name="Text 12"/>
          <p:cNvSpPr/>
          <p:nvPr/>
        </p:nvSpPr>
        <p:spPr>
          <a:xfrm>
            <a:off x="384048" y="2889504"/>
            <a:ext cx="1280160" cy="896112"/>
          </a:xfrm>
          <a:prstGeom prst="rect">
            <a:avLst/>
          </a:prstGeom>
          <a:noFill/>
          <a:ln/>
        </p:spPr>
        <p:txBody>
          <a:bodyPr wrap="square" lIns="0" tIns="0" rIns="0" bIns="0" rtlCol="0" anchor="t"/>
          <a:lstStyle/>
          <a:p>
            <a:pPr marL="0" indent="0" algn="l">
              <a:lnSpc>
                <a:spcPct val="120000"/>
              </a:lnSpc>
              <a:buNone/>
            </a:pPr>
            <a:r>
              <a:rPr lang="en-US" sz="1100" b="1" dirty="0">
                <a:solidFill>
                  <a:srgbClr val="5E376C"/>
                </a:solidFill>
                <a:latin typeface="Georgia" pitchFamily="34" charset="0"/>
                <a:ea typeface="Georgia" pitchFamily="34" charset="-122"/>
                <a:cs typeface="Georgia" pitchFamily="34" charset="-120"/>
              </a:rPr>
              <a:t>Foley Bulb</a:t>
            </a:r>
            <a:endParaRPr lang="en-US" sz="1100" dirty="0"/>
          </a:p>
        </p:txBody>
      </p:sp>
      <p:sp>
        <p:nvSpPr>
          <p:cNvPr id="15" name="Text 13"/>
          <p:cNvSpPr/>
          <p:nvPr/>
        </p:nvSpPr>
        <p:spPr>
          <a:xfrm>
            <a:off x="1865376" y="2889504"/>
            <a:ext cx="3255264"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Balloon catheter inflated on both sides of the cervix to manually press it open. No medication. Falls out around 3–4 cm dilation.</a:t>
            </a:r>
            <a:endParaRPr lang="en-US" sz="1050" dirty="0"/>
          </a:p>
        </p:txBody>
      </p:sp>
      <p:sp>
        <p:nvSpPr>
          <p:cNvPr id="16" name="Text 14"/>
          <p:cNvSpPr/>
          <p:nvPr/>
        </p:nvSpPr>
        <p:spPr>
          <a:xfrm>
            <a:off x="5340096" y="2889504"/>
            <a:ext cx="3383280"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Warn her it feels like strong pressure. Help her breathe through insertion. Once placed she can usually walk.</a:t>
            </a:r>
            <a:endParaRPr lang="en-US" sz="1050" dirty="0"/>
          </a:p>
        </p:txBody>
      </p:sp>
      <p:sp>
        <p:nvSpPr>
          <p:cNvPr id="17" name="Shape 15"/>
          <p:cNvSpPr/>
          <p:nvPr/>
        </p:nvSpPr>
        <p:spPr>
          <a:xfrm>
            <a:off x="292608" y="3840480"/>
            <a:ext cx="8558784" cy="1005840"/>
          </a:xfrm>
          <a:prstGeom prst="rect">
            <a:avLst/>
          </a:prstGeom>
          <a:solidFill>
            <a:srgbClr val="F5F1F8"/>
          </a:solidFill>
          <a:ln w="6350">
            <a:solidFill>
              <a:srgbClr val="C9B8D8"/>
            </a:solidFill>
            <a:prstDash val="solid"/>
          </a:ln>
        </p:spPr>
        <p:txBody>
          <a:bodyPr/>
          <a:p/>
        </p:txBody>
      </p:sp>
      <p:sp>
        <p:nvSpPr>
          <p:cNvPr id="18" name="Text 16"/>
          <p:cNvSpPr/>
          <p:nvPr/>
        </p:nvSpPr>
        <p:spPr>
          <a:xfrm>
            <a:off x="384048" y="3895344"/>
            <a:ext cx="1280160" cy="896112"/>
          </a:xfrm>
          <a:prstGeom prst="rect">
            <a:avLst/>
          </a:prstGeom>
          <a:noFill/>
          <a:ln/>
        </p:spPr>
        <p:txBody>
          <a:bodyPr wrap="square" lIns="0" tIns="0" rIns="0" bIns="0" rtlCol="0" anchor="t"/>
          <a:lstStyle/>
          <a:p>
            <a:pPr marL="0" indent="0" algn="l">
              <a:lnSpc>
                <a:spcPct val="120000"/>
              </a:lnSpc>
              <a:buNone/>
            </a:pPr>
            <a:r>
              <a:rPr lang="en-US" sz="1100" b="1" dirty="0">
                <a:solidFill>
                  <a:srgbClr val="5E376C"/>
                </a:solidFill>
                <a:latin typeface="Georgia" pitchFamily="34" charset="0"/>
                <a:ea typeface="Georgia" pitchFamily="34" charset="-122"/>
                <a:cs typeface="Georgia" pitchFamily="34" charset="-120"/>
              </a:rPr>
              <a:t>Pitocin (IV)</a:t>
            </a:r>
            <a:endParaRPr lang="en-US" sz="1100" dirty="0"/>
          </a:p>
        </p:txBody>
      </p:sp>
      <p:sp>
        <p:nvSpPr>
          <p:cNvPr id="19" name="Text 17"/>
          <p:cNvSpPr/>
          <p:nvPr/>
        </p:nvSpPr>
        <p:spPr>
          <a:xfrm>
            <a:off x="1865376" y="3895344"/>
            <a:ext cx="3255264"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Synthetic oxytocin via IV drip, starting low and increasing until effective contractions every 2–3 min. Requires continuous fetal monitoring.</a:t>
            </a:r>
            <a:endParaRPr lang="en-US" sz="1050" dirty="0"/>
          </a:p>
        </p:txBody>
      </p:sp>
      <p:sp>
        <p:nvSpPr>
          <p:cNvPr id="20" name="Text 18"/>
          <p:cNvSpPr/>
          <p:nvPr/>
        </p:nvSpPr>
        <p:spPr>
          <a:xfrm>
            <a:off x="5340096" y="3895344"/>
            <a:ext cx="3383280"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Pitocin contractions can be stronger than natural ones. All comfort measures still apply. Use the bed and peanut ball strategically.</a:t>
            </a:r>
            <a:endParaRPr lang="en-US" sz="1050" dirty="0"/>
          </a:p>
        </p:txBody>
      </p:sp>
      <p:sp>
        <p:nvSpPr>
          <p:cNvPr id="21" name="Shape 19"/>
          <p:cNvSpPr/>
          <p:nvPr/>
        </p:nvSpPr>
        <p:spPr>
          <a:xfrm>
            <a:off x="292608" y="4846320"/>
            <a:ext cx="8558784" cy="1005840"/>
          </a:xfrm>
          <a:prstGeom prst="rect">
            <a:avLst/>
          </a:prstGeom>
          <a:solidFill>
            <a:srgbClr val="FFFFFF"/>
          </a:solidFill>
          <a:ln w="6350">
            <a:solidFill>
              <a:srgbClr val="C9B8D8"/>
            </a:solidFill>
            <a:prstDash val="solid"/>
          </a:ln>
        </p:spPr>
        <p:txBody>
          <a:bodyPr/>
          <a:p/>
        </p:txBody>
      </p:sp>
      <p:sp>
        <p:nvSpPr>
          <p:cNvPr id="23" name="Text 21"/>
          <p:cNvSpPr/>
          <p:nvPr/>
        </p:nvSpPr>
        <p:spPr>
          <a:xfrm>
            <a:off x="1865376" y="4901184"/>
            <a:ext cx="3255264"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Amniotomy: provider uses a small hook to rupture membranes. Intensifies contractions in 30–60 min. Once done, a clock starts on infection risk.</a:t>
            </a:r>
            <a:endParaRPr lang="en-US" sz="1050" dirty="0"/>
          </a:p>
        </p:txBody>
      </p:sp>
      <p:sp>
        <p:nvSpPr>
          <p:cNvPr id="24" name="Text 22"/>
          <p:cNvSpPr/>
          <p:nvPr/>
        </p:nvSpPr>
        <p:spPr>
          <a:xfrm>
            <a:off x="5340096" y="4901184"/>
            <a:ext cx="3383280" cy="896112"/>
          </a:xfrm>
          <a:prstGeom prst="rect">
            <a:avLst/>
          </a:prstGeom>
          <a:noFill/>
          <a:ln/>
        </p:spPr>
        <p:txBody>
          <a:bodyPr wrap="square" lIns="0" tIns="0" rIns="0" bIns="0" rtlCol="0" anchor="t"/>
          <a:lstStyle/>
          <a:p>
            <a:pPr marL="0" indent="0" algn="l">
              <a:lnSpc>
                <a:spcPct val="128000"/>
              </a:lnSpc>
              <a:buNone/>
            </a:pPr>
            <a:r>
              <a:rPr lang="en-US" sz="1050" dirty="0">
                <a:solidFill>
                  <a:srgbClr val="2D2D2D"/>
                </a:solidFill>
                <a:latin typeface="Arial" pitchFamily="34" charset="0"/>
                <a:ea typeface="Arial" pitchFamily="34" charset="-122"/>
                <a:cs typeface="Arial" pitchFamily="34" charset="-120"/>
              </a:rPr>
              <a:t>Reassure her the warm gush is normal and fluid keeps coming. Position changes may be limited if baby's position is a concern.</a:t>
            </a:r>
            <a:endParaRPr lang="en-US" sz="1050" dirty="0"/>
          </a:p>
        </p:txBody>
      </p:sp>
      <p:sp>
        <p:nvSpPr>
          <p:cNvPr id="25" name="Text 2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900" dirty="0">
                <a:solidFill>
                  <a:srgbClr val="8B6A9E"/>
                </a:solidFill>
                <a:latin typeface="Arial" pitchFamily="34" charset="0"/>
                <a:ea typeface="Arial" pitchFamily="34" charset="-122"/>
                <a:cs typeface="Arial" pitchFamily="34" charset="-120"/>
              </a:rPr>
              <a:t>Induction Methods</a:t>
            </a:r>
            <a:endParaRPr lang="en-US" sz="900" dirty="0"/>
          </a:p>
        </p:txBody>
      </p:sp>
      <p:sp>
        <p:nvSpPr>
          <p:cNvPr id="26" name="Text 2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INDUCTION &amp; AUGMENTATION  ·  THE EVIDENCE</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ARRIVE Trial — What the Evidence Actually Says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Clients will ask you about this. Know it cold — then help them ask their own questions.</a:t>
            </a:r>
            <a:endParaRPr lang="en-US" sz="1350" dirty="0"/>
          </a:p>
        </p:txBody>
      </p:sp>
      <p:sp>
        <p:nvSpPr>
          <p:cNvPr id="5" name="Shape 3"/>
          <p:cNvSpPr/>
          <p:nvPr/>
        </p:nvSpPr>
        <p:spPr>
          <a:xfrm>
            <a:off x="292608" y="1536192"/>
            <a:ext cx="8558784" cy="1883664"/>
          </a:xfrm>
          <a:prstGeom prst="rect">
            <a:avLst/>
          </a:prstGeom>
          <a:solidFill>
            <a:srgbClr val="F0F7FA"/>
          </a:solidFill>
          <a:ln w="12700">
            <a:solidFill>
              <a:srgbClr val="0D9488"/>
            </a:solidFill>
            <a:prstDash val="solid"/>
          </a:ln>
        </p:spPr>
        <p:txBody>
          <a:bodyPr/>
          <a:p/>
        </p:txBody>
      </p:sp>
      <p:sp>
        <p:nvSpPr>
          <p:cNvPr id="6" name="Shape 4"/>
          <p:cNvSpPr/>
          <p:nvPr/>
        </p:nvSpPr>
        <p:spPr>
          <a:xfrm>
            <a:off x="292608" y="1536192"/>
            <a:ext cx="64008" cy="1883664"/>
          </a:xfrm>
          <a:prstGeom prst="rect">
            <a:avLst/>
          </a:prstGeom>
          <a:solidFill>
            <a:srgbClr val="0D9488"/>
          </a:solidFill>
          <a:ln w="12700">
            <a:solidFill>
              <a:srgbClr val="0D9488"/>
            </a:solidFill>
            <a:prstDash val="solid"/>
          </a:ln>
        </p:spPr>
        <p:txBody>
          <a:bodyPr/>
          <a:p/>
        </p:txBody>
      </p:sp>
      <p:sp>
        <p:nvSpPr>
          <p:cNvPr id="7" name="Text 5"/>
          <p:cNvSpPr/>
          <p:nvPr/>
        </p:nvSpPr>
        <p:spPr>
          <a:xfrm>
            <a:off x="457200"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What the ARRIVE Trial Found (2018)</a:t>
            </a:r>
            <a:endParaRPr lang="en-US" sz="1100" dirty="0"/>
          </a:p>
        </p:txBody>
      </p:sp>
      <p:sp>
        <p:nvSpPr>
          <p:cNvPr id="8" name="Text 6"/>
          <p:cNvSpPr/>
          <p:nvPr/>
        </p:nvSpPr>
        <p:spPr>
          <a:xfrm>
            <a:off x="475488" y="1956816"/>
            <a:ext cx="8229600" cy="1389888"/>
          </a:xfrm>
          <a:prstGeom prst="rect">
            <a:avLst/>
          </a:prstGeom>
          <a:noFill/>
          <a:ln/>
        </p:spPr>
        <p:txBody>
          <a:bodyPr wrap="square" lIns="0" tIns="0" rIns="0" bIns="0" rtlCol="0" anchor="t"/>
          <a:lstStyle/>
          <a:p>
            <a:pPr marL="0" indent="0" algn="l">
              <a:lnSpc>
                <a:spcPct val="145000"/>
              </a:lnSpc>
              <a:buNone/>
            </a:pPr>
            <a:r>
              <a:rPr lang="en-US" sz="1250" dirty="0">
                <a:solidFill>
                  <a:srgbClr val="2D2D2D"/>
                </a:solidFill>
                <a:latin typeface="Arial" pitchFamily="34" charset="0"/>
                <a:ea typeface="Arial" pitchFamily="34" charset="-122"/>
                <a:cs typeface="Arial" pitchFamily="34" charset="-120"/>
              </a:rPr>
              <a:t>A large randomized controlled trial comparing elective induction at 39 weeks to expectant management in low-risk pregnancies. Key finding: induction at 39 weeks did NOT increase cesarean rates — and was associated with slightly lower rates of some perinatal complications. This directly challenged the long-held belief that induction automatically leads to more cesareans.</a:t>
            </a:r>
            <a:endParaRPr lang="en-US" sz="1250" dirty="0"/>
          </a:p>
        </p:txBody>
      </p:sp>
      <p:sp>
        <p:nvSpPr>
          <p:cNvPr id="9" name="Shape 7"/>
          <p:cNvSpPr/>
          <p:nvPr/>
        </p:nvSpPr>
        <p:spPr>
          <a:xfrm>
            <a:off x="292608" y="3529584"/>
            <a:ext cx="4224528" cy="1298448"/>
          </a:xfrm>
          <a:prstGeom prst="rect">
            <a:avLst/>
          </a:prstGeom>
          <a:solidFill>
            <a:srgbClr val="F5F1F8"/>
          </a:solidFill>
          <a:ln w="12700">
            <a:solidFill>
              <a:srgbClr val="C9B8D8"/>
            </a:solidFill>
            <a:prstDash val="solid"/>
          </a:ln>
        </p:spPr>
        <p:txBody>
          <a:bodyPr/>
          <a:p/>
        </p:txBody>
      </p:sp>
      <p:sp>
        <p:nvSpPr>
          <p:cNvPr id="10" name="Shape 8"/>
          <p:cNvSpPr/>
          <p:nvPr/>
        </p:nvSpPr>
        <p:spPr>
          <a:xfrm>
            <a:off x="292608" y="3529584"/>
            <a:ext cx="64008" cy="1298448"/>
          </a:xfrm>
          <a:prstGeom prst="rect">
            <a:avLst/>
          </a:prstGeom>
          <a:solidFill>
            <a:srgbClr val="5E376C"/>
          </a:solidFill>
          <a:ln w="12700">
            <a:solidFill>
              <a:srgbClr val="5E376C"/>
            </a:solidFill>
            <a:prstDash val="solid"/>
          </a:ln>
        </p:spPr>
        <p:txBody>
          <a:bodyPr/>
          <a:p/>
        </p:txBody>
      </p:sp>
      <p:sp>
        <p:nvSpPr>
          <p:cNvPr id="11" name="Text 9"/>
          <p:cNvSpPr/>
          <p:nvPr/>
        </p:nvSpPr>
        <p:spPr>
          <a:xfrm>
            <a:off x="475488" y="3639312"/>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this means</a:t>
            </a:r>
            <a:endParaRPr lang="en-US" sz="1100" dirty="0"/>
          </a:p>
        </p:txBody>
      </p:sp>
      <p:sp>
        <p:nvSpPr>
          <p:cNvPr id="12" name="Text 10"/>
          <p:cNvSpPr/>
          <p:nvPr/>
        </p:nvSpPr>
        <p:spPr>
          <a:xfrm>
            <a:off x="475488" y="3931920"/>
            <a:ext cx="3858768" cy="841248"/>
          </a:xfrm>
          <a:prstGeom prst="rect">
            <a:avLst/>
          </a:prstGeom>
          <a:noFill/>
          <a:ln/>
        </p:spPr>
        <p:txBody>
          <a:bodyPr wrap="square" lIns="0" tIns="0" rIns="0" bIns="0" rtlCol="0" anchor="t"/>
          <a:lstStyle/>
          <a:p>
            <a:pPr marL="0" indent="0">
              <a:spcAft>
                <a:spcPts val="500"/>
              </a:spcAft>
              <a:buNone/>
            </a:pPr>
            <a:r>
              <a:rPr lang="en-US" sz="1200" dirty="0">
                <a:solidFill>
                  <a:srgbClr val="2D2D2D"/>
                </a:solidFill>
                <a:latin typeface="Arial" pitchFamily="34" charset="0"/>
                <a:ea typeface="Arial" pitchFamily="34" charset="-122"/>
                <a:cs typeface="Arial" pitchFamily="34" charset="-120"/>
              </a:rPr>
              <a:t>–  Many providers now offer 39-week elective induction</a:t>
            </a:r>
            <a:endParaRPr lang="en-US" sz="1200" dirty="0"/>
          </a:p>
          <a:p>
            <a:pPr marL="0" indent="0">
              <a:spcAft>
                <a:spcPts val="500"/>
              </a:spcAft>
              <a:buNone/>
            </a:pPr>
            <a:r>
              <a:rPr lang="en-US" sz="1200" dirty="0">
                <a:solidFill>
                  <a:srgbClr val="2D2D2D"/>
                </a:solidFill>
                <a:latin typeface="Arial" pitchFamily="34" charset="0"/>
                <a:ea typeface="Arial" pitchFamily="34" charset="-122"/>
                <a:cs typeface="Arial" pitchFamily="34" charset="-120"/>
              </a:rPr>
              <a:t>–  Not automatically harmful — evidence doesn't support that</a:t>
            </a:r>
            <a:endParaRPr lang="en-US" sz="1200" dirty="0"/>
          </a:p>
          <a:p>
            <a:pPr marL="0" indent="0">
              <a:spcAft>
                <a:spcPts val="500"/>
              </a:spcAft>
              <a:buNone/>
            </a:pPr>
            <a:r>
              <a:rPr lang="en-US" sz="1200" dirty="0">
                <a:solidFill>
                  <a:srgbClr val="2D2D2D"/>
                </a:solidFill>
                <a:latin typeface="Arial" pitchFamily="34" charset="0"/>
                <a:ea typeface="Arial" pitchFamily="34" charset="-122"/>
                <a:cs typeface="Arial" pitchFamily="34" charset="-120"/>
              </a:rPr>
              <a:t>–  Individual risk, preferences, and context still matter</a:t>
            </a:r>
            <a:endParaRPr lang="en-US" sz="1200" dirty="0"/>
          </a:p>
        </p:txBody>
      </p:sp>
      <p:sp>
        <p:nvSpPr>
          <p:cNvPr id="13" name="Shape 11"/>
          <p:cNvSpPr/>
          <p:nvPr/>
        </p:nvSpPr>
        <p:spPr>
          <a:xfrm>
            <a:off x="4663440" y="3529584"/>
            <a:ext cx="4224528" cy="1298448"/>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529584"/>
            <a:ext cx="64008" cy="1298448"/>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639312"/>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Language — When Asked About ARRIVE</a:t>
            </a:r>
            <a:endParaRPr lang="en-US" sz="1100" dirty="0"/>
          </a:p>
        </p:txBody>
      </p:sp>
      <p:sp>
        <p:nvSpPr>
          <p:cNvPr id="16" name="Text 14"/>
          <p:cNvSpPr/>
          <p:nvPr/>
        </p:nvSpPr>
        <p:spPr>
          <a:xfrm>
            <a:off x="4828032" y="3968496"/>
            <a:ext cx="3877056" cy="804672"/>
          </a:xfrm>
          <a:prstGeom prst="rect">
            <a:avLst/>
          </a:prstGeom>
          <a:noFill/>
          <a:ln/>
        </p:spPr>
        <p:txBody>
          <a:bodyPr wrap="square" lIns="0" tIns="0" rIns="0" bIns="0" rtlCol="0" anchor="t"/>
          <a:lstStyle/>
          <a:p>
            <a:pPr marL="0" indent="0" algn="l">
              <a:lnSpc>
                <a:spcPct val="140000"/>
              </a:lnSpc>
              <a:buNone/>
            </a:pPr>
            <a:r>
              <a:rPr lang="en-US" sz="1250" i="1" dirty="0">
                <a:solidFill>
                  <a:srgbClr val="2D2D2D"/>
                </a:solidFill>
                <a:latin typeface="Georgia" pitchFamily="34" charset="0"/>
                <a:ea typeface="Georgia" pitchFamily="34" charset="-122"/>
                <a:cs typeface="Georgia" pitchFamily="34" charset="-120"/>
              </a:rPr>
              <a:t>“Have you asked your provider about the benefits and risks for your specific situation? Would it help to write down your questions before that appointment?”</a:t>
            </a:r>
            <a:endParaRPr lang="en-US" sz="12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900" b="1" kern="0" spc="200" dirty="0">
                <a:solidFill>
                  <a:srgbClr val="5E376C"/>
                </a:solidFill>
                <a:latin typeface="Arial" pitchFamily="34" charset="0"/>
                <a:ea typeface="Arial" pitchFamily="34" charset="-122"/>
                <a:cs typeface="Arial" pitchFamily="34" charset="-120"/>
              </a:rPr>
              <a:t>DISCUSSION  ·  10 MINUTES</a:t>
            </a:r>
            <a:endParaRPr lang="en-US" sz="900" dirty="0"/>
          </a:p>
        </p:txBody>
      </p:sp>
      <p:sp>
        <p:nvSpPr>
          <p:cNvPr id="5" name="Text 3"/>
          <p:cNvSpPr/>
          <p:nvPr/>
        </p:nvSpPr>
        <p:spPr>
          <a:xfrm>
            <a:off x="457200" y="493776"/>
            <a:ext cx="8229600" cy="621792"/>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BRAIN Framework Practice</a:t>
            </a:r>
            <a:endParaRPr lang="en-US" sz="3200" dirty="0"/>
          </a:p>
        </p:txBody>
      </p:sp>
      <p:sp>
        <p:nvSpPr>
          <p:cNvPr id="6" name="Shape 4"/>
          <p:cNvSpPr/>
          <p:nvPr/>
        </p:nvSpPr>
        <p:spPr>
          <a:xfrm>
            <a:off x="457200" y="1225296"/>
            <a:ext cx="8229600" cy="969264"/>
          </a:xfrm>
          <a:prstGeom prst="rect">
            <a:avLst/>
          </a:prstGeom>
          <a:solidFill>
            <a:srgbClr val="FDF0F7"/>
          </a:solidFill>
          <a:ln w="12700">
            <a:solidFill>
              <a:srgbClr val="B5166B"/>
            </a:solidFill>
            <a:prstDash val="solid"/>
          </a:ln>
        </p:spPr>
        <p:txBody>
          <a:bodyPr/>
          <a:p/>
        </p:txBody>
      </p:sp>
      <p:sp>
        <p:nvSpPr>
          <p:cNvPr id="7" name="Shape 5"/>
          <p:cNvSpPr/>
          <p:nvPr/>
        </p:nvSpPr>
        <p:spPr>
          <a:xfrm>
            <a:off x="457200" y="1225296"/>
            <a:ext cx="64008" cy="969264"/>
          </a:xfrm>
          <a:prstGeom prst="rect">
            <a:avLst/>
          </a:prstGeom>
          <a:solidFill>
            <a:srgbClr val="B5166B"/>
          </a:solidFill>
          <a:ln w="12700">
            <a:solidFill>
              <a:srgbClr val="B5166B"/>
            </a:solidFill>
            <a:prstDash val="solid"/>
          </a:ln>
        </p:spPr>
        <p:txBody>
          <a:bodyPr/>
          <a:p/>
        </p:txBody>
      </p:sp>
      <p:sp>
        <p:nvSpPr>
          <p:cNvPr id="8" name="Text 6"/>
          <p:cNvSpPr/>
          <p:nvPr/>
        </p:nvSpPr>
        <p:spPr>
          <a:xfrm>
            <a:off x="640080" y="1335024"/>
            <a:ext cx="7863840" cy="237744"/>
          </a:xfrm>
          <a:prstGeom prst="rect">
            <a:avLst/>
          </a:prstGeom>
          <a:noFill/>
          <a:ln/>
        </p:spPr>
        <p:txBody>
          <a:bodyPr wrap="square" lIns="0" tIns="0" rIns="0" bIns="0" rtlCol="0" anchor="ctr"/>
          <a:lstStyle/>
          <a:p>
            <a:pPr marL="0" indent="0">
              <a:buNone/>
            </a:pPr>
            <a:r>
              <a:rPr lang="en-US" sz="1100" b="1" dirty="0">
                <a:solidFill>
                  <a:srgbClr val="B5166B"/>
                </a:solidFill>
                <a:latin typeface="Arial" pitchFamily="34" charset="0"/>
                <a:ea typeface="Arial" pitchFamily="34" charset="-122"/>
                <a:cs typeface="Arial" pitchFamily="34" charset="-120"/>
              </a:rPr>
              <a:t>The Scenario:</a:t>
            </a:r>
            <a:endParaRPr lang="en-US" sz="1100" dirty="0"/>
          </a:p>
        </p:txBody>
      </p:sp>
      <p:sp>
        <p:nvSpPr>
          <p:cNvPr id="9" name="Text 7"/>
          <p:cNvSpPr/>
          <p:nvPr/>
        </p:nvSpPr>
        <p:spPr>
          <a:xfrm>
            <a:off x="640080" y="1609344"/>
            <a:ext cx="7863840" cy="512064"/>
          </a:xfrm>
          <a:prstGeom prst="rect">
            <a:avLst/>
          </a:prstGeom>
          <a:noFill/>
          <a:ln/>
        </p:spPr>
        <p:txBody>
          <a:bodyPr wrap="square" lIns="0" tIns="0" rIns="0" bIns="0" rtlCol="0" anchor="t"/>
          <a:lstStyle/>
          <a:p>
            <a:pPr marL="0" indent="0" algn="l">
              <a:lnSpc>
                <a:spcPct val="135000"/>
              </a:lnSpc>
              <a:buNone/>
            </a:pPr>
            <a:r>
              <a:rPr lang="en-US" sz="1250" i="1" dirty="0">
                <a:solidFill>
                  <a:srgbClr val="2D2D2D"/>
                </a:solidFill>
                <a:latin typeface="Georgia" pitchFamily="34" charset="0"/>
                <a:ea typeface="Georgia" pitchFamily="34" charset="-122"/>
                <a:cs typeface="Georgia" pitchFamily="34" charset="-120"/>
              </a:rPr>
              <a:t>A client texts you at 40+1 weeks: “My doctor wants to induce next week. Should I do it? I was really hoping to go into labor on my own.”</a:t>
            </a:r>
            <a:endParaRPr lang="en-US" sz="1250" dirty="0"/>
          </a:p>
        </p:txBody>
      </p:sp>
      <p:sp>
        <p:nvSpPr>
          <p:cNvPr id="10" name="Text 8"/>
          <p:cNvSpPr/>
          <p:nvPr/>
        </p:nvSpPr>
        <p:spPr>
          <a:xfrm>
            <a:off x="457200" y="2340864"/>
            <a:ext cx="822960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In the chat — type your word-for-word response. Then discuss:</a:t>
            </a:r>
            <a:endParaRPr lang="en-US" sz="1200" dirty="0"/>
          </a:p>
        </p:txBody>
      </p:sp>
      <p:sp>
        <p:nvSpPr>
          <p:cNvPr id="11" name="Text 9"/>
          <p:cNvSpPr/>
          <p:nvPr/>
        </p:nvSpPr>
        <p:spPr>
          <a:xfrm>
            <a:off x="457200" y="2651760"/>
            <a:ext cx="8229600" cy="969264"/>
          </a:xfrm>
          <a:prstGeom prst="rect">
            <a:avLst/>
          </a:prstGeom>
          <a:noFill/>
          <a:ln/>
        </p:spPr>
        <p:txBody>
          <a:bodyPr wrap="square" lIns="0" tIns="0" rIns="0" bIns="0" rtlCol="0" anchor="t"/>
          <a:lstStyle/>
          <a:p>
            <a:pPr marL="0" indent="0">
              <a:lnSpc>
                <a:spcPct val="150000"/>
              </a:lnSpc>
              <a:buNone/>
            </a:pPr>
            <a:r>
              <a:rPr lang="en-US" sz="1300" b="1" dirty="0">
                <a:solidFill>
                  <a:srgbClr val="5E376C"/>
                </a:solidFill>
              </a:rPr>
              <a:t>B</a:t>
            </a:r>
            <a:r>
              <a:rPr lang="en-US" sz="1300" dirty="0">
                <a:solidFill>
                  <a:srgbClr val="2D2D2D"/>
                </a:solidFill>
              </a:rPr>
              <a:t> — Benefits of induction now?   </a:t>
            </a:r>
            <a:r>
              <a:rPr lang="en-US" sz="1300" b="1" dirty="0">
                <a:solidFill>
                  <a:srgbClr val="5E376C"/>
                </a:solidFill>
              </a:rPr>
              <a:t>R</a:t>
            </a:r>
            <a:r>
              <a:rPr lang="en-US" sz="1300" dirty="0">
                <a:solidFill>
                  <a:srgbClr val="2D2D2D"/>
                </a:solidFill>
              </a:rPr>
              <a:t> — Risks?
</a:t>
            </a:r>
            <a:endParaRPr lang="en-US" sz="1300" dirty="0"/>
          </a:p>
          <a:p>
            <a:pPr marL="0" indent="0">
              <a:lnSpc>
                <a:spcPct val="150000"/>
              </a:lnSpc>
              <a:buNone/>
            </a:pPr>
            <a:r>
              <a:rPr lang="en-US" sz="1300" b="1" dirty="0">
                <a:solidFill>
                  <a:srgbClr val="5E376C"/>
                </a:solidFill>
              </a:rPr>
              <a:t>A</a:t>
            </a:r>
            <a:r>
              <a:rPr lang="en-US" sz="1300" dirty="0">
                <a:solidFill>
                  <a:srgbClr val="2D2D2D"/>
                </a:solidFill>
              </a:rPr>
              <a:t> — Alternatives?   </a:t>
            </a:r>
            <a:r>
              <a:rPr lang="en-US" sz="1300" b="1" dirty="0">
                <a:solidFill>
                  <a:srgbClr val="5E376C"/>
                </a:solidFill>
              </a:rPr>
              <a:t>I</a:t>
            </a:r>
            <a:r>
              <a:rPr lang="en-US" sz="1300" dirty="0">
                <a:solidFill>
                  <a:srgbClr val="2D2D2D"/>
                </a:solidFill>
              </a:rPr>
              <a:t> — What does her intuition say?
</a:t>
            </a:r>
            <a:endParaRPr lang="en-US" sz="1300" dirty="0"/>
          </a:p>
          <a:p>
            <a:pPr marL="0" indent="0">
              <a:lnSpc>
                <a:spcPct val="150000"/>
              </a:lnSpc>
              <a:buNone/>
            </a:pPr>
            <a:r>
              <a:rPr lang="en-US" sz="1300" b="1" dirty="0">
                <a:solidFill>
                  <a:srgbClr val="5E376C"/>
                </a:solidFill>
              </a:rPr>
              <a:t>N</a:t>
            </a:r>
            <a:r>
              <a:rPr lang="en-US" sz="1300" dirty="0">
                <a:solidFill>
                  <a:srgbClr val="2D2D2D"/>
                </a:solidFill>
              </a:rPr>
              <a:t> — What if she waits / needs more time?</a:t>
            </a:r>
            <a:endParaRPr lang="en-US" sz="1300" dirty="0"/>
          </a:p>
        </p:txBody>
      </p:sp>
      <p:sp>
        <p:nvSpPr>
          <p:cNvPr id="12" name="Shape 10"/>
          <p:cNvSpPr/>
          <p:nvPr/>
        </p:nvSpPr>
        <p:spPr>
          <a:xfrm>
            <a:off x="457200" y="3730752"/>
            <a:ext cx="8229600" cy="1005840"/>
          </a:xfrm>
          <a:prstGeom prst="rect">
            <a:avLst/>
          </a:prstGeom>
          <a:solidFill>
            <a:srgbClr val="F5F1F8"/>
          </a:solidFill>
          <a:ln w="12700">
            <a:solidFill>
              <a:srgbClr val="C9B8D8"/>
            </a:solidFill>
            <a:prstDash val="solid"/>
          </a:ln>
        </p:spPr>
        <p:txBody>
          <a:bodyPr/>
          <a:p/>
        </p:txBody>
      </p:sp>
      <p:sp>
        <p:nvSpPr>
          <p:cNvPr id="13" name="Shape 11"/>
          <p:cNvSpPr/>
          <p:nvPr/>
        </p:nvSpPr>
        <p:spPr>
          <a:xfrm>
            <a:off x="457200" y="3730752"/>
            <a:ext cx="64008" cy="1005840"/>
          </a:xfrm>
          <a:prstGeom prst="rect">
            <a:avLst/>
          </a:prstGeom>
          <a:solidFill>
            <a:srgbClr val="5E376C"/>
          </a:solidFill>
          <a:ln w="12700">
            <a:solidFill>
              <a:srgbClr val="5E376C"/>
            </a:solidFill>
            <a:prstDash val="solid"/>
          </a:ln>
        </p:spPr>
        <p:txBody>
          <a:bodyPr/>
          <a:p/>
        </p:txBody>
      </p:sp>
      <p:sp>
        <p:nvSpPr>
          <p:cNvPr id="14" name="Text 12"/>
          <p:cNvSpPr/>
          <p:nvPr/>
        </p:nvSpPr>
        <p:spPr>
          <a:xfrm>
            <a:off x="640080" y="3840480"/>
            <a:ext cx="7863840" cy="822960"/>
          </a:xfrm>
          <a:prstGeom prst="rect">
            <a:avLst/>
          </a:prstGeom>
          <a:noFill/>
          <a:ln/>
        </p:spPr>
        <p:txBody>
          <a:bodyPr wrap="square" lIns="0" tIns="0" rIns="0" bIns="0" rtlCol="0" anchor="t"/>
          <a:lstStyle/>
          <a:p>
            <a:pPr marL="0" indent="0" algn="l">
              <a:lnSpc>
                <a:spcPct val="140000"/>
              </a:lnSpc>
              <a:buNone/>
            </a:pPr>
            <a:r>
              <a:rPr lang="en-US" sz="1200" i="1" dirty="0">
                <a:solidFill>
                  <a:srgbClr val="2D2D2D"/>
                </a:solidFill>
                <a:latin typeface="Georgia" pitchFamily="34" charset="0"/>
                <a:ea typeface="Georgia" pitchFamily="34" charset="-122"/>
                <a:cs typeface="Georgia" pitchFamily="34" charset="-120"/>
              </a:rPr>
              <a:t>Scope reminder: Help her think through the decision using BRAIN — never steer it. You may not change the intervention, but you can change her experience of making the decision.</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FIVE</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Pain Relief</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in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There is no wrong choice. There is only the informed choice</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that is right for this person, in this moment, in this labor.</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PAIN RELIEF IN LABOR  ·  OVERVIEW</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Spectrum of Pain Relief</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Pain relief is not binary. It exists on a spectrum — and your doula role is constant across all of it.</a:t>
            </a:r>
            <a:endParaRPr lang="en-US" sz="1350" dirty="0"/>
          </a:p>
        </p:txBody>
      </p:sp>
      <p:sp>
        <p:nvSpPr>
          <p:cNvPr id="7" name="Text 5"/>
          <p:cNvSpPr/>
          <p:nvPr/>
        </p:nvSpPr>
        <p:spPr>
          <a:xfrm>
            <a:off x="420624" y="1664208"/>
            <a:ext cx="1828800" cy="310896"/>
          </a:xfrm>
          <a:prstGeom prst="rect">
            <a:avLst/>
          </a:prstGeom>
          <a:noFill/>
          <a:ln/>
        </p:spPr>
        <p:txBody>
          <a:bodyPr wrap="square" lIns="0" tIns="0" rIns="0" bIns="0" rtlCol="0" anchor="ctr"/>
          <a:lstStyle/>
          <a:p>
            <a:pPr marL="0" indent="0" algn="l">
              <a:buNone/>
            </a:pPr>
            <a:r>
              <a:rPr lang="en-US" sz="1200" b="1" dirty="0">
                <a:solidFill>
                  <a:srgbClr val="5E376C"/>
                </a:solidFill>
                <a:latin typeface="Georgia" pitchFamily="34" charset="0"/>
                <a:ea typeface="Georgia" pitchFamily="34" charset="-122"/>
                <a:cs typeface="Georgia" pitchFamily="34" charset="-120"/>
              </a:rPr>
              <a:t>Non-Pharmacological</a:t>
            </a:r>
            <a:endParaRPr lang="en-US" sz="1200" dirty="0"/>
          </a:p>
        </p:txBody>
      </p:sp>
      <p:sp>
        <p:nvSpPr>
          <p:cNvPr id="8" name="Text 6"/>
          <p:cNvSpPr/>
          <p:nvPr/>
        </p:nvSpPr>
        <p:spPr>
          <a:xfrm>
            <a:off x="420624" y="2011680"/>
            <a:ext cx="1828800" cy="2414016"/>
          </a:xfrm>
          <a:prstGeom prst="rect">
            <a:avLst/>
          </a:prstGeom>
          <a:noFill/>
          <a:ln/>
        </p:spPr>
        <p:txBody>
          <a:bodyPr wrap="square" lIns="0" tIns="0" rIns="0" bIns="0" rtlCol="0" anchor="t"/>
          <a:lstStyle/>
          <a:p>
            <a:pPr marL="0" indent="0">
              <a:spcAft>
                <a:spcPts val="300"/>
              </a:spcAft>
              <a:buNone/>
            </a:pPr>
            <a:r>
              <a:rPr lang="en-US" sz="1100" dirty="0">
                <a:solidFill>
                  <a:srgbClr val="2D2D2D"/>
                </a:solidFill>
                <a:latin typeface="Arial" pitchFamily="34" charset="0"/>
                <a:ea typeface="Arial" pitchFamily="34" charset="-122"/>
                <a:cs typeface="Arial" pitchFamily="34" charset="-120"/>
              </a:rPr>
              <a:t>Breathing &amp; vocalization</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Hydrotherapy (shower/tub)</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Counter-pressure &amp; massage</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Movement &amp; position changes</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Heat &amp; cold therapy</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Acupressure</a:t>
            </a:r>
            <a:endParaRPr lang="en-US" sz="1100" dirty="0"/>
          </a:p>
        </p:txBody>
      </p:sp>
      <p:sp>
        <p:nvSpPr>
          <p:cNvPr id="11" name="Text 9"/>
          <p:cNvSpPr/>
          <p:nvPr/>
        </p:nvSpPr>
        <p:spPr>
          <a:xfrm>
            <a:off x="2523744" y="1664208"/>
            <a:ext cx="1828800" cy="310896"/>
          </a:xfrm>
          <a:prstGeom prst="rect">
            <a:avLst/>
          </a:prstGeom>
          <a:noFill/>
          <a:ln/>
        </p:spPr>
        <p:txBody>
          <a:bodyPr wrap="square" lIns="0" tIns="0" rIns="0" bIns="0" rtlCol="0" anchor="ctr"/>
          <a:lstStyle/>
          <a:p>
            <a:pPr marL="0" indent="0" algn="l">
              <a:buNone/>
            </a:pPr>
            <a:r>
              <a:rPr lang="en-US" sz="1200" b="1" dirty="0">
                <a:solidFill>
                  <a:srgbClr val="5E376C"/>
                </a:solidFill>
                <a:latin typeface="Georgia" pitchFamily="34" charset="0"/>
                <a:ea typeface="Georgia" pitchFamily="34" charset="-122"/>
                <a:cs typeface="Georgia" pitchFamily="34" charset="-120"/>
              </a:rPr>
              <a:t>Nitrous Oxide</a:t>
            </a:r>
            <a:endParaRPr lang="en-US" sz="1200" dirty="0"/>
          </a:p>
        </p:txBody>
      </p:sp>
      <p:sp>
        <p:nvSpPr>
          <p:cNvPr id="12" name="Text 10"/>
          <p:cNvSpPr/>
          <p:nvPr/>
        </p:nvSpPr>
        <p:spPr>
          <a:xfrm>
            <a:off x="2523744" y="2011680"/>
            <a:ext cx="1828800" cy="2414016"/>
          </a:xfrm>
          <a:prstGeom prst="rect">
            <a:avLst/>
          </a:prstGeom>
          <a:noFill/>
          <a:ln/>
        </p:spPr>
        <p:txBody>
          <a:bodyPr wrap="square" lIns="0" tIns="0" rIns="0" bIns="0" rtlCol="0" anchor="t"/>
          <a:lstStyle/>
          <a:p>
            <a:pPr marL="0" indent="0">
              <a:spcAft>
                <a:spcPts val="300"/>
              </a:spcAft>
              <a:buNone/>
            </a:pPr>
            <a:r>
              <a:rPr lang="en-US" sz="1100" dirty="0">
                <a:solidFill>
                  <a:srgbClr val="2D2D2D"/>
                </a:solidFill>
                <a:latin typeface="Arial" pitchFamily="34" charset="0"/>
                <a:ea typeface="Arial" pitchFamily="34" charset="-122"/>
                <a:cs typeface="Arial" pitchFamily="34" charset="-120"/>
              </a:rPr>
              <a:t>–  Inhaled at contraction onset</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Reduces pain perception — doesn't eliminate it</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Client holds the mask (self-administered)</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Wears off immediately between contractions</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Not available at all facilities</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Doula: coach timing, monitor for dizziness</a:t>
            </a:r>
            <a:endParaRPr lang="en-US" sz="1100" dirty="0"/>
          </a:p>
        </p:txBody>
      </p:sp>
      <p:sp>
        <p:nvSpPr>
          <p:cNvPr id="15" name="Text 13"/>
          <p:cNvSpPr/>
          <p:nvPr/>
        </p:nvSpPr>
        <p:spPr>
          <a:xfrm>
            <a:off x="4626864" y="1664208"/>
            <a:ext cx="1828800" cy="310896"/>
          </a:xfrm>
          <a:prstGeom prst="rect">
            <a:avLst/>
          </a:prstGeom>
          <a:noFill/>
          <a:ln/>
        </p:spPr>
        <p:txBody>
          <a:bodyPr wrap="square" lIns="0" tIns="0" rIns="0" bIns="0" rtlCol="0" anchor="ctr"/>
          <a:lstStyle/>
          <a:p>
            <a:pPr marL="0" indent="0" algn="l">
              <a:buNone/>
            </a:pPr>
            <a:r>
              <a:rPr lang="en-US" sz="1200" b="1" dirty="0">
                <a:solidFill>
                  <a:srgbClr val="5E376C"/>
                </a:solidFill>
                <a:latin typeface="Georgia" pitchFamily="34" charset="0"/>
                <a:ea typeface="Georgia" pitchFamily="34" charset="-122"/>
                <a:cs typeface="Georgia" pitchFamily="34" charset="-120"/>
              </a:rPr>
              <a:t>IV Opioids</a:t>
            </a:r>
            <a:endParaRPr lang="en-US" sz="1200" dirty="0"/>
          </a:p>
        </p:txBody>
      </p:sp>
      <p:sp>
        <p:nvSpPr>
          <p:cNvPr id="16" name="Text 14"/>
          <p:cNvSpPr/>
          <p:nvPr/>
        </p:nvSpPr>
        <p:spPr>
          <a:xfrm>
            <a:off x="4626864" y="2011680"/>
            <a:ext cx="1828800" cy="2414016"/>
          </a:xfrm>
          <a:prstGeom prst="rect">
            <a:avLst/>
          </a:prstGeom>
          <a:noFill/>
          <a:ln/>
        </p:spPr>
        <p:txBody>
          <a:bodyPr wrap="square" lIns="0" tIns="0" rIns="0" bIns="0" rtlCol="0" anchor="t"/>
          <a:lstStyle/>
          <a:p>
            <a:pPr marL="0" indent="0">
              <a:spcAft>
                <a:spcPts val="300"/>
              </a:spcAft>
              <a:buNone/>
            </a:pPr>
            <a:r>
              <a:rPr lang="en-US" sz="1100" dirty="0">
                <a:solidFill>
                  <a:srgbClr val="2D2D2D"/>
                </a:solidFill>
                <a:latin typeface="Arial" pitchFamily="34" charset="0"/>
                <a:ea typeface="Arial" pitchFamily="34" charset="-122"/>
                <a:cs typeface="Arial" pitchFamily="34" charset="-120"/>
              </a:rPr>
              <a:t>–  Fentanyl or morphine via IV</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Takes the edge off without full numbness</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Causes drowsiness — allows rest</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Wears off in 1–4 hours</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Not given when pushing is close</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Doula: your presence more important than ever</a:t>
            </a:r>
            <a:endParaRPr lang="en-US" sz="1100" dirty="0"/>
          </a:p>
        </p:txBody>
      </p:sp>
      <p:sp>
        <p:nvSpPr>
          <p:cNvPr id="18" name="Shape 16"/>
          <p:cNvSpPr/>
          <p:nvPr/>
        </p:nvSpPr>
        <p:spPr>
          <a:xfrm>
            <a:off x="6601968" y="1536192"/>
            <a:ext cx="64008" cy="2999232"/>
          </a:xfrm>
          <a:prstGeom prst="rect">
            <a:avLst/>
          </a:prstGeom>
          <a:solidFill>
            <a:srgbClr val="5E376C"/>
          </a:solidFill>
          <a:ln w="12700">
            <a:solidFill>
              <a:srgbClr val="5E376C"/>
            </a:solidFill>
            <a:prstDash val="solid"/>
          </a:ln>
        </p:spPr>
        <p:txBody>
          <a:bodyPr/>
          <a:p/>
        </p:txBody>
      </p:sp>
      <p:sp>
        <p:nvSpPr>
          <p:cNvPr id="19" name="Text 17"/>
          <p:cNvSpPr/>
          <p:nvPr/>
        </p:nvSpPr>
        <p:spPr>
          <a:xfrm>
            <a:off x="6729984" y="1664208"/>
            <a:ext cx="1828800" cy="310896"/>
          </a:xfrm>
          <a:prstGeom prst="rect">
            <a:avLst/>
          </a:prstGeom>
          <a:noFill/>
          <a:ln/>
        </p:spPr>
        <p:txBody>
          <a:bodyPr wrap="square" lIns="0" tIns="0" rIns="0" bIns="0" rtlCol="0" anchor="ctr"/>
          <a:lstStyle/>
          <a:p>
            <a:pPr marL="0" indent="0" algn="l">
              <a:buNone/>
            </a:pPr>
            <a:r>
              <a:rPr lang="en-US" sz="1200" b="1" dirty="0">
                <a:solidFill>
                  <a:srgbClr val="5E376C"/>
                </a:solidFill>
                <a:latin typeface="Georgia" pitchFamily="34" charset="0"/>
                <a:ea typeface="Georgia" pitchFamily="34" charset="-122"/>
                <a:cs typeface="Georgia" pitchFamily="34" charset="-120"/>
              </a:rPr>
              <a:t>Epidural / Spinal</a:t>
            </a:r>
            <a:endParaRPr lang="en-US" sz="1200" dirty="0"/>
          </a:p>
        </p:txBody>
      </p:sp>
      <p:sp>
        <p:nvSpPr>
          <p:cNvPr id="20" name="Text 18"/>
          <p:cNvSpPr/>
          <p:nvPr/>
        </p:nvSpPr>
        <p:spPr>
          <a:xfrm>
            <a:off x="6729984" y="2011680"/>
            <a:ext cx="1828800" cy="2414016"/>
          </a:xfrm>
          <a:prstGeom prst="rect">
            <a:avLst/>
          </a:prstGeom>
          <a:noFill/>
          <a:ln/>
        </p:spPr>
        <p:txBody>
          <a:bodyPr wrap="square" lIns="0" tIns="0" rIns="0" bIns="0" rtlCol="0" anchor="t"/>
          <a:lstStyle/>
          <a:p>
            <a:pPr marL="0" indent="0">
              <a:spcAft>
                <a:spcPts val="300"/>
              </a:spcAft>
              <a:buNone/>
            </a:pPr>
            <a:r>
              <a:rPr lang="en-US" sz="1100" dirty="0">
                <a:solidFill>
                  <a:srgbClr val="2D2D2D"/>
                </a:solidFill>
                <a:latin typeface="Arial" pitchFamily="34" charset="0"/>
                <a:ea typeface="Arial" pitchFamily="34" charset="-122"/>
                <a:cs typeface="Arial" pitchFamily="34" charset="-120"/>
              </a:rPr>
              <a:t>–  Most effective option available</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Complete numbness below waist</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Placed by anesthesiologist</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Requires continuous monitoring</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Client cannot move independently</a:t>
            </a:r>
            <a:endParaRPr lang="en-US" sz="1100" dirty="0"/>
          </a:p>
          <a:p>
            <a:pPr marL="0" indent="0">
              <a:spcAft>
                <a:spcPts val="300"/>
              </a:spcAft>
              <a:buNone/>
            </a:pPr>
            <a:r>
              <a:rPr lang="en-US" sz="1100" dirty="0">
                <a:solidFill>
                  <a:srgbClr val="2D2D2D"/>
                </a:solidFill>
                <a:latin typeface="Arial" pitchFamily="34" charset="0"/>
                <a:ea typeface="Arial" pitchFamily="34" charset="-122"/>
                <a:cs typeface="Arial" pitchFamily="34" charset="-120"/>
              </a:rPr>
              <a:t>–  Doula role SHIFTS — does not stop</a:t>
            </a:r>
            <a:endParaRPr lang="en-US" sz="1100" dirty="0"/>
          </a:p>
        </p:txBody>
      </p:sp>
      <p:sp>
        <p:nvSpPr>
          <p:cNvPr id="22" name="Text 20"/>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PAIN RELIEF IN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Epidural — What It Is &amp; How You Show Up</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Your work doesn't stop when the epidural goes in. It shifts.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happens</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Catheter in epidural space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Continuous medication — numb below waist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15–20 min to full effect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Stay still during placement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Continuous fetal monitoring + IV</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BP may drop initially — nurse monitors</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How your role shifts</a:t>
            </a:r>
            <a:endParaRPr lang="en-US" sz="1100" dirty="0"/>
          </a:p>
        </p:txBody>
      </p:sp>
      <p:sp>
        <p:nvSpPr>
          <p:cNvPr id="12" name="Text 10"/>
          <p:cNvSpPr/>
          <p:nvPr/>
        </p:nvSpPr>
        <p:spPr>
          <a:xfrm>
            <a:off x="4846320" y="1956816"/>
            <a:ext cx="3858768" cy="1207008"/>
          </a:xfrm>
          <a:prstGeom prst="rect">
            <a:avLst/>
          </a:prstGeom>
          <a:noFill/>
          <a:ln/>
        </p:spPr>
        <p:txBody>
          <a:bodyPr wrap="square" lIns="0" tIns="0" rIns="0" bIns="0" rtlCol="0" anchor="t"/>
          <a:lstStyle/>
          <a:p>
            <a:pPr marL="0" indent="0">
              <a:spcAft>
                <a:spcPts val="400"/>
              </a:spcAft>
              <a:buNone/>
            </a:pPr>
            <a:r>
              <a:rPr lang="en-US" sz="1200" dirty="0">
                <a:solidFill>
                  <a:srgbClr val="2D2D2D"/>
                </a:solidFill>
                <a:latin typeface="Arial" pitchFamily="34" charset="0"/>
                <a:ea typeface="Arial" pitchFamily="34" charset="-122"/>
                <a:cs typeface="Arial" pitchFamily="34" charset="-120"/>
              </a:rPr>
              <a:t>–  Physical comfort → positioning becomes your primary work</a:t>
            </a:r>
            <a:endParaRPr lang="en-US" sz="1200" dirty="0"/>
          </a:p>
          <a:p>
            <a:pPr marL="0" indent="0">
              <a:spcAft>
                <a:spcPts val="400"/>
              </a:spcAft>
              <a:buNone/>
            </a:pPr>
            <a:r>
              <a:rPr lang="en-US" sz="1200" dirty="0">
                <a:solidFill>
                  <a:srgbClr val="2D2D2D"/>
                </a:solidFill>
                <a:latin typeface="Arial" pitchFamily="34" charset="0"/>
                <a:ea typeface="Arial" pitchFamily="34" charset="-122"/>
                <a:cs typeface="Arial" pitchFamily="34" charset="-120"/>
              </a:rPr>
              <a:t>–  Peanut ball + position changes every 20–30 min</a:t>
            </a:r>
            <a:endParaRPr lang="en-US" sz="1200" dirty="0"/>
          </a:p>
          <a:p>
            <a:pPr marL="0" indent="0">
              <a:spcAft>
                <a:spcPts val="400"/>
              </a:spcAft>
              <a:buNone/>
            </a:pPr>
            <a:r>
              <a:rPr lang="en-US" sz="1200" dirty="0">
                <a:solidFill>
                  <a:srgbClr val="2D2D2D"/>
                </a:solidFill>
                <a:latin typeface="Arial" pitchFamily="34" charset="0"/>
                <a:ea typeface="Arial" pitchFamily="34" charset="-122"/>
                <a:cs typeface="Arial" pitchFamily="34" charset="-120"/>
              </a:rPr>
              <a:t>–  Emotional support matters more — not less — with reduced sensation</a:t>
            </a:r>
            <a:endParaRPr lang="en-US" sz="1200" dirty="0"/>
          </a:p>
          <a:p>
            <a:pPr marL="0" indent="0">
              <a:spcAft>
                <a:spcPts val="400"/>
              </a:spcAft>
              <a:buNone/>
            </a:pPr>
            <a:r>
              <a:rPr lang="en-US" sz="1200" dirty="0">
                <a:solidFill>
                  <a:srgbClr val="2D2D2D"/>
                </a:solidFill>
                <a:latin typeface="Arial" pitchFamily="34" charset="0"/>
                <a:ea typeface="Arial" pitchFamily="34" charset="-122"/>
                <a:cs typeface="Arial" pitchFamily="34" charset="-120"/>
              </a:rPr>
              <a:t>–  Help client stay connected to her baby and her body</a:t>
            </a:r>
            <a:endParaRPr lang="en-US" sz="1200" dirty="0"/>
          </a:p>
        </p:txBody>
      </p:sp>
      <p:sp>
        <p:nvSpPr>
          <p:cNvPr id="13" name="Shape 11"/>
          <p:cNvSpPr/>
          <p:nvPr/>
        </p:nvSpPr>
        <p:spPr>
          <a:xfrm>
            <a:off x="4663440" y="3346704"/>
            <a:ext cx="4224528" cy="1499616"/>
          </a:xfrm>
          <a:prstGeom prst="rect">
            <a:avLst/>
          </a:prstGeom>
          <a:solidFill>
            <a:srgbClr val="FEFAE0"/>
          </a:solidFill>
          <a:ln w="12700">
            <a:solidFill>
              <a:srgbClr val="C8960C"/>
            </a:solidFill>
            <a:prstDash val="solid"/>
          </a:ln>
        </p:spPr>
        <p:txBody>
          <a:bodyPr/>
          <a:p/>
        </p:txBody>
      </p:sp>
      <p:sp>
        <p:nvSpPr>
          <p:cNvPr id="14" name="Shape 12"/>
          <p:cNvSpPr/>
          <p:nvPr/>
        </p:nvSpPr>
        <p:spPr>
          <a:xfrm>
            <a:off x="4663440" y="3346704"/>
            <a:ext cx="64008" cy="1499616"/>
          </a:xfrm>
          <a:prstGeom prst="rect">
            <a:avLst/>
          </a:prstGeom>
          <a:solidFill>
            <a:srgbClr val="C8960C"/>
          </a:solidFill>
          <a:ln w="12700">
            <a:solidFill>
              <a:srgbClr val="C8960C"/>
            </a:solidFill>
            <a:prstDash val="solid"/>
          </a:ln>
        </p:spPr>
        <p:txBody>
          <a:bodyPr/>
          <a:p/>
        </p:txBody>
      </p:sp>
      <p:sp>
        <p:nvSpPr>
          <p:cNvPr id="15" name="Text 13"/>
          <p:cNvSpPr/>
          <p:nvPr/>
        </p:nvSpPr>
        <p:spPr>
          <a:xfrm>
            <a:off x="4828032" y="3456432"/>
            <a:ext cx="8229600" cy="256032"/>
          </a:xfrm>
          <a:prstGeom prst="rect">
            <a:avLst/>
          </a:prstGeom>
          <a:noFill/>
          <a:ln/>
        </p:spPr>
        <p:txBody>
          <a:bodyPr wrap="square" lIns="0" tIns="0" rIns="0" bIns="0" rtlCol="0" anchor="ctr"/>
          <a:lstStyle/>
          <a:p>
            <a:pPr marL="0" indent="0" algn="l">
              <a:buNone/>
            </a:pPr>
            <a:r>
              <a:rPr lang="en-US" sz="1100" b="1" dirty="0">
                <a:solidFill>
                  <a:srgbClr val="C8960C"/>
                </a:solidFill>
                <a:latin typeface="Arial" pitchFamily="34" charset="0"/>
                <a:ea typeface="Arial" pitchFamily="34" charset="-122"/>
                <a:cs typeface="Arial" pitchFamily="34" charset="-120"/>
              </a:rPr>
              <a:t>Safety — Moving an Epiduralized Client</a:t>
            </a:r>
            <a:endParaRPr lang="en-US" sz="1100" dirty="0"/>
          </a:p>
        </p:txBody>
      </p:sp>
      <p:sp>
        <p:nvSpPr>
          <p:cNvPr id="16" name="Text 14"/>
          <p:cNvSpPr/>
          <p:nvPr/>
        </p:nvSpPr>
        <p:spPr>
          <a:xfrm>
            <a:off x="4828032" y="3767328"/>
            <a:ext cx="3858768" cy="1005840"/>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  Always use two people to reposition — legs may be numb</a:t>
            </a:r>
            <a:endParaRPr lang="en-US" sz="11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Lift completely off the bed, never drag across sheets</a:t>
            </a:r>
            <a:endParaRPr lang="en-US" sz="11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Dragging can dislodge the catheter (held by tape only)</a:t>
            </a:r>
            <a:endParaRPr lang="en-US" sz="115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Sweep IV lines, monitor cords before every move</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PAIN RELIEF IN LABOR</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Spinal Block &amp; Combined Spinal-Epidural (CSE)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Spinals are fast, complete, and temporary. Most often used for cesarean birth.</a:t>
            </a:r>
            <a:endParaRPr lang="en-US" sz="135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Spinal Block</a:t>
            </a:r>
            <a:endParaRPr lang="en-US" sz="12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Single injection into the spinal fluid — not a catheter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Takes effect in 1–5 minutes, complete numbness below waist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Lasts 1.5–3 hours depending on medication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Standard for planned cesarean births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Client must remain still during injection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Sensation returns gradually from top down</a:t>
            </a:r>
            <a:endParaRPr lang="en-US" sz="1250" dirty="0"/>
          </a:p>
        </p:txBody>
      </p:sp>
      <p:sp>
        <p:nvSpPr>
          <p:cNvPr id="9" name="Shape 7"/>
          <p:cNvSpPr/>
          <p:nvPr/>
        </p:nvSpPr>
        <p:spPr>
          <a:xfrm>
            <a:off x="4663440" y="1536192"/>
            <a:ext cx="4224528" cy="1956816"/>
          </a:xfrm>
          <a:prstGeom prst="rect">
            <a:avLst/>
          </a:prstGeom>
          <a:solidFill>
            <a:srgbClr val="F5F1F8"/>
          </a:solidFill>
          <a:ln w="12700">
            <a:solidFill>
              <a:srgbClr val="C9B8D8"/>
            </a:solidFill>
            <a:prstDash val="solid"/>
          </a:ln>
        </p:spPr>
        <p:txBody>
          <a:bodyPr/>
          <a:p/>
        </p:txBody>
      </p:sp>
      <p:sp>
        <p:nvSpPr>
          <p:cNvPr id="10" name="Shape 8"/>
          <p:cNvSpPr/>
          <p:nvPr/>
        </p:nvSpPr>
        <p:spPr>
          <a:xfrm>
            <a:off x="4663440" y="1536192"/>
            <a:ext cx="64008" cy="1956816"/>
          </a:xfrm>
          <a:prstGeom prst="rect">
            <a:avLst/>
          </a:prstGeom>
          <a:solidFill>
            <a:srgbClr val="5E376C"/>
          </a:solidFill>
          <a:ln w="12700">
            <a:solidFill>
              <a:srgbClr val="5E376C"/>
            </a:solidFill>
            <a:prstDash val="solid"/>
          </a:ln>
        </p:spPr>
        <p:txBody>
          <a:bodyPr/>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Combined Spinal-Epidural (CSE)</a:t>
            </a:r>
            <a:endParaRPr lang="en-US" sz="1200" dirty="0"/>
          </a:p>
        </p:txBody>
      </p:sp>
      <p:sp>
        <p:nvSpPr>
          <p:cNvPr id="12" name="Text 10"/>
          <p:cNvSpPr/>
          <p:nvPr/>
        </p:nvSpPr>
        <p:spPr>
          <a:xfrm>
            <a:off x="4846320" y="1956816"/>
            <a:ext cx="3858768" cy="146304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Spinal for fast relief + epidural catheter left in place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Fast onset + ability to extend or top up</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Common for long labors where epidural is desired</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Sometimes called a 'walking epidural' — mobility varies</a:t>
            </a:r>
            <a:endParaRPr lang="en-US" sz="1250" dirty="0"/>
          </a:p>
        </p:txBody>
      </p:sp>
      <p:sp>
        <p:nvSpPr>
          <p:cNvPr id="13" name="Shape 11"/>
          <p:cNvSpPr/>
          <p:nvPr/>
        </p:nvSpPr>
        <p:spPr>
          <a:xfrm>
            <a:off x="4663440" y="3602736"/>
            <a:ext cx="4224528" cy="1243584"/>
          </a:xfrm>
          <a:prstGeom prst="rect">
            <a:avLst/>
          </a:prstGeom>
          <a:solidFill>
            <a:srgbClr val="F0F7FA"/>
          </a:solidFill>
          <a:ln w="12700">
            <a:solidFill>
              <a:srgbClr val="0D9488"/>
            </a:solidFill>
            <a:prstDash val="solid"/>
          </a:ln>
        </p:spPr>
        <p:txBody>
          <a:bodyPr/>
          <a:p/>
        </p:txBody>
      </p:sp>
      <p:sp>
        <p:nvSpPr>
          <p:cNvPr id="14" name="Shape 12"/>
          <p:cNvSpPr/>
          <p:nvPr/>
        </p:nvSpPr>
        <p:spPr>
          <a:xfrm>
            <a:off x="4663440" y="3602736"/>
            <a:ext cx="64008" cy="1243584"/>
          </a:xfrm>
          <a:prstGeom prst="rect">
            <a:avLst/>
          </a:prstGeom>
          <a:solidFill>
            <a:srgbClr val="0D9488"/>
          </a:solidFill>
          <a:ln w="12700">
            <a:solidFill>
              <a:srgbClr val="0D9488"/>
            </a:solidFill>
            <a:prstDash val="solid"/>
          </a:ln>
        </p:spPr>
        <p:txBody>
          <a:bodyPr/>
          <a:p/>
        </p:txBody>
      </p:sp>
      <p:sp>
        <p:nvSpPr>
          <p:cNvPr id="15" name="Text 13"/>
          <p:cNvSpPr/>
          <p:nvPr/>
        </p:nvSpPr>
        <p:spPr>
          <a:xfrm>
            <a:off x="4828032" y="3712464"/>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Supporting Placement</a:t>
            </a:r>
            <a:endParaRPr lang="en-US" sz="1100" dirty="0"/>
          </a:p>
        </p:txBody>
      </p:sp>
      <p:sp>
        <p:nvSpPr>
          <p:cNvPr id="16" name="Text 14"/>
          <p:cNvSpPr/>
          <p:nvPr/>
        </p:nvSpPr>
        <p:spPr>
          <a:xfrm>
            <a:off x="4828032" y="4023360"/>
            <a:ext cx="3877056" cy="768096"/>
          </a:xfrm>
          <a:prstGeom prst="rect">
            <a:avLst/>
          </a:prstGeom>
          <a:noFill/>
          <a:ln/>
        </p:spPr>
        <p:txBody>
          <a:bodyPr wrap="square" lIns="0" tIns="0" rIns="0" bIns="0" rtlCol="0" anchor="t"/>
          <a:lstStyle/>
          <a:p>
            <a:pPr marL="0" indent="0" algn="l">
              <a:lnSpc>
                <a:spcPct val="135000"/>
              </a:lnSpc>
              <a:buNone/>
            </a:pPr>
            <a:r>
              <a:rPr lang="en-US" sz="1150" dirty="0">
                <a:solidFill>
                  <a:srgbClr val="2D2D2D"/>
                </a:solidFill>
                <a:latin typeface="Arial" pitchFamily="34" charset="0"/>
                <a:ea typeface="Arial" pitchFamily="34" charset="-122"/>
                <a:cs typeface="Arial" pitchFamily="34" charset="-120"/>
              </a:rPr>
              <a:t>During placement she must hold still through contractions. Position her sitting on the bed edge, feet on a stool, chin to chest. Stand in front, hold her hands or forearms. Say: “Breathe with me. You just need to hold still for the next two minutes. I've got you.”</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PAIN RELIEF IN LABOR  ·  SCOPE WITH A MEDICATED CLIENT</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Doula Dos and Donts in Medicated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An epiduralized client needs you just as much. Your role adapts — it doesn't disappear.</a:t>
            </a:r>
            <a:endParaRPr lang="en-US" sz="135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402336" y="1572768"/>
            <a:ext cx="4114800" cy="219456"/>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DO</a:t>
            </a:r>
            <a:endParaRPr lang="en-US" sz="1100" dirty="0"/>
          </a:p>
        </p:txBody>
      </p:sp>
      <p:sp>
        <p:nvSpPr>
          <p:cNvPr id="7" name="Text 5"/>
          <p:cNvSpPr/>
          <p:nvPr/>
        </p:nvSpPr>
        <p:spPr>
          <a:xfrm>
            <a:off x="4645152" y="1572768"/>
            <a:ext cx="4114800" cy="219456"/>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DON'T</a:t>
            </a:r>
            <a:endParaRPr lang="en-US" sz="1100" dirty="0"/>
          </a:p>
        </p:txBody>
      </p:sp>
      <p:sp>
        <p:nvSpPr>
          <p:cNvPr id="8" name="Shape 6"/>
          <p:cNvSpPr/>
          <p:nvPr/>
        </p:nvSpPr>
        <p:spPr>
          <a:xfrm>
            <a:off x="292608" y="1828800"/>
            <a:ext cx="4224528" cy="557784"/>
          </a:xfrm>
          <a:prstGeom prst="rect">
            <a:avLst/>
          </a:prstGeom>
          <a:solidFill>
            <a:srgbClr val="F5F1F8"/>
          </a:solidFill>
          <a:ln w="6350">
            <a:solidFill>
              <a:srgbClr val="C9B8D8"/>
            </a:solidFill>
            <a:prstDash val="solid"/>
          </a:ln>
        </p:spPr>
        <p:txBody>
          <a:bodyPr/>
          <a:p/>
        </p:txBody>
      </p:sp>
      <p:sp>
        <p:nvSpPr>
          <p:cNvPr id="9" name="Shape 7"/>
          <p:cNvSpPr/>
          <p:nvPr/>
        </p:nvSpPr>
        <p:spPr>
          <a:xfrm>
            <a:off x="4517136" y="1828800"/>
            <a:ext cx="4334256" cy="557784"/>
          </a:xfrm>
          <a:prstGeom prst="rect">
            <a:avLst/>
          </a:prstGeom>
          <a:solidFill>
            <a:srgbClr val="FFF5F5"/>
          </a:solidFill>
          <a:ln w="6350">
            <a:solidFill>
              <a:srgbClr val="F5C6CB"/>
            </a:solidFill>
            <a:prstDash val="solid"/>
          </a:ln>
        </p:spPr>
        <p:txBody>
          <a:bodyPr/>
          <a:p/>
        </p:txBody>
      </p:sp>
      <p:sp>
        <p:nvSpPr>
          <p:cNvPr id="10" name="Text 8"/>
          <p:cNvSpPr/>
          <p:nvPr/>
        </p:nvSpPr>
        <p:spPr>
          <a:xfrm>
            <a:off x="402336" y="1874520"/>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Reposition with the nurse every 20–30 min (peanut ball, side-lying, semi-reclined)</a:t>
            </a:r>
            <a:endParaRPr lang="en-US" sz="1050" dirty="0"/>
          </a:p>
        </p:txBody>
      </p:sp>
      <p:sp>
        <p:nvSpPr>
          <p:cNvPr id="11" name="Text 9"/>
          <p:cNvSpPr/>
          <p:nvPr/>
        </p:nvSpPr>
        <p:spPr>
          <a:xfrm>
            <a:off x="4626864" y="1874520"/>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Leave her alone because she's comfortable now</a:t>
            </a:r>
            <a:endParaRPr lang="en-US" sz="1050" dirty="0"/>
          </a:p>
        </p:txBody>
      </p:sp>
      <p:sp>
        <p:nvSpPr>
          <p:cNvPr id="12" name="Shape 10"/>
          <p:cNvSpPr/>
          <p:nvPr/>
        </p:nvSpPr>
        <p:spPr>
          <a:xfrm>
            <a:off x="292608" y="2386584"/>
            <a:ext cx="4224528" cy="557784"/>
          </a:xfrm>
          <a:prstGeom prst="rect">
            <a:avLst/>
          </a:prstGeom>
          <a:solidFill>
            <a:srgbClr val="FFFFFF"/>
          </a:solidFill>
          <a:ln w="6350">
            <a:solidFill>
              <a:srgbClr val="C9B8D8"/>
            </a:solidFill>
            <a:prstDash val="solid"/>
          </a:ln>
        </p:spPr>
        <p:txBody>
          <a:bodyPr/>
          <a:p/>
        </p:txBody>
      </p:sp>
      <p:sp>
        <p:nvSpPr>
          <p:cNvPr id="13" name="Shape 11"/>
          <p:cNvSpPr/>
          <p:nvPr/>
        </p:nvSpPr>
        <p:spPr>
          <a:xfrm>
            <a:off x="4517136" y="2386584"/>
            <a:ext cx="4334256" cy="557784"/>
          </a:xfrm>
          <a:prstGeom prst="rect">
            <a:avLst/>
          </a:prstGeom>
          <a:solidFill>
            <a:srgbClr val="FFF5F5"/>
          </a:solidFill>
          <a:ln w="6350">
            <a:solidFill>
              <a:srgbClr val="F5C6CB"/>
            </a:solidFill>
            <a:prstDash val="solid"/>
          </a:ln>
        </p:spPr>
        <p:txBody>
          <a:bodyPr/>
          <a:p/>
        </p:txBody>
      </p:sp>
      <p:sp>
        <p:nvSpPr>
          <p:cNvPr id="14" name="Text 12"/>
          <p:cNvSpPr/>
          <p:nvPr/>
        </p:nvSpPr>
        <p:spPr>
          <a:xfrm>
            <a:off x="402336" y="2432304"/>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Use peanut ball to open the pelvis and encourage baby's descent</a:t>
            </a:r>
            <a:endParaRPr lang="en-US" sz="1050" dirty="0"/>
          </a:p>
        </p:txBody>
      </p:sp>
      <p:sp>
        <p:nvSpPr>
          <p:cNvPr id="15" name="Text 13"/>
          <p:cNvSpPr/>
          <p:nvPr/>
        </p:nvSpPr>
        <p:spPr>
          <a:xfrm>
            <a:off x="4626864" y="2432304"/>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Skip positioning because she can't feel it — she still needs it</a:t>
            </a:r>
            <a:endParaRPr lang="en-US" sz="1050" dirty="0"/>
          </a:p>
        </p:txBody>
      </p:sp>
      <p:sp>
        <p:nvSpPr>
          <p:cNvPr id="16" name="Shape 14"/>
          <p:cNvSpPr/>
          <p:nvPr/>
        </p:nvSpPr>
        <p:spPr>
          <a:xfrm>
            <a:off x="292608" y="2944368"/>
            <a:ext cx="4224528" cy="557784"/>
          </a:xfrm>
          <a:prstGeom prst="rect">
            <a:avLst/>
          </a:prstGeom>
          <a:solidFill>
            <a:srgbClr val="F5F1F8"/>
          </a:solidFill>
          <a:ln w="6350">
            <a:solidFill>
              <a:srgbClr val="C9B8D8"/>
            </a:solidFill>
            <a:prstDash val="solid"/>
          </a:ln>
        </p:spPr>
        <p:txBody>
          <a:bodyPr/>
          <a:p/>
        </p:txBody>
      </p:sp>
      <p:sp>
        <p:nvSpPr>
          <p:cNvPr id="17" name="Shape 15"/>
          <p:cNvSpPr/>
          <p:nvPr/>
        </p:nvSpPr>
        <p:spPr>
          <a:xfrm>
            <a:off x="4517136" y="2944368"/>
            <a:ext cx="4334256" cy="557784"/>
          </a:xfrm>
          <a:prstGeom prst="rect">
            <a:avLst/>
          </a:prstGeom>
          <a:solidFill>
            <a:srgbClr val="FFF5F5"/>
          </a:solidFill>
          <a:ln w="6350">
            <a:solidFill>
              <a:srgbClr val="F5C6CB"/>
            </a:solidFill>
            <a:prstDash val="solid"/>
          </a:ln>
        </p:spPr>
        <p:txBody>
          <a:bodyPr/>
          <a:p/>
        </p:txBody>
      </p:sp>
      <p:sp>
        <p:nvSpPr>
          <p:cNvPr id="18" name="Text 16"/>
          <p:cNvSpPr/>
          <p:nvPr/>
        </p:nvSpPr>
        <p:spPr>
          <a:xfrm>
            <a:off x="402336" y="2990088"/>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Provide continuous emotional support and narrate what's happening</a:t>
            </a:r>
            <a:endParaRPr lang="en-US" sz="1050" dirty="0"/>
          </a:p>
        </p:txBody>
      </p:sp>
      <p:sp>
        <p:nvSpPr>
          <p:cNvPr id="19" name="Text 17"/>
          <p:cNvSpPr/>
          <p:nvPr/>
        </p:nvSpPr>
        <p:spPr>
          <a:xfrm>
            <a:off x="4626864" y="2990088"/>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Assume pain relief = emotional relief — anxiety often surfaces now</a:t>
            </a:r>
            <a:endParaRPr lang="en-US" sz="1050" dirty="0"/>
          </a:p>
        </p:txBody>
      </p:sp>
      <p:sp>
        <p:nvSpPr>
          <p:cNvPr id="20" name="Shape 18"/>
          <p:cNvSpPr/>
          <p:nvPr/>
        </p:nvSpPr>
        <p:spPr>
          <a:xfrm>
            <a:off x="292608" y="3502152"/>
            <a:ext cx="4224528" cy="557784"/>
          </a:xfrm>
          <a:prstGeom prst="rect">
            <a:avLst/>
          </a:prstGeom>
          <a:solidFill>
            <a:srgbClr val="FFFFFF"/>
          </a:solidFill>
          <a:ln w="6350">
            <a:solidFill>
              <a:srgbClr val="C9B8D8"/>
            </a:solidFill>
            <a:prstDash val="solid"/>
          </a:ln>
        </p:spPr>
        <p:txBody>
          <a:bodyPr/>
          <a:p/>
        </p:txBody>
      </p:sp>
      <p:sp>
        <p:nvSpPr>
          <p:cNvPr id="21" name="Shape 19"/>
          <p:cNvSpPr/>
          <p:nvPr/>
        </p:nvSpPr>
        <p:spPr>
          <a:xfrm>
            <a:off x="4517136" y="3502152"/>
            <a:ext cx="4334256" cy="557784"/>
          </a:xfrm>
          <a:prstGeom prst="rect">
            <a:avLst/>
          </a:prstGeom>
          <a:solidFill>
            <a:srgbClr val="FFF5F5"/>
          </a:solidFill>
          <a:ln w="6350">
            <a:solidFill>
              <a:srgbClr val="F5C6CB"/>
            </a:solidFill>
            <a:prstDash val="solid"/>
          </a:ln>
        </p:spPr>
        <p:txBody>
          <a:bodyPr/>
          <a:p/>
        </p:txBody>
      </p:sp>
      <p:sp>
        <p:nvSpPr>
          <p:cNvPr id="22" name="Text 20"/>
          <p:cNvSpPr/>
          <p:nvPr/>
        </p:nvSpPr>
        <p:spPr>
          <a:xfrm>
            <a:off x="402336" y="3547872"/>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Help her stay connected: hand on belly, talk to baby, partner time</a:t>
            </a:r>
            <a:endParaRPr lang="en-US" sz="1050" dirty="0"/>
          </a:p>
        </p:txBody>
      </p:sp>
      <p:sp>
        <p:nvSpPr>
          <p:cNvPr id="23" name="Text 21"/>
          <p:cNvSpPr/>
          <p:nvPr/>
        </p:nvSpPr>
        <p:spPr>
          <a:xfrm>
            <a:off x="4626864" y="3547872"/>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Check out and scroll your phone while she rests</a:t>
            </a:r>
            <a:endParaRPr lang="en-US" sz="1050" dirty="0"/>
          </a:p>
        </p:txBody>
      </p:sp>
      <p:sp>
        <p:nvSpPr>
          <p:cNvPr id="24" name="Shape 22"/>
          <p:cNvSpPr/>
          <p:nvPr/>
        </p:nvSpPr>
        <p:spPr>
          <a:xfrm>
            <a:off x="292608" y="4059936"/>
            <a:ext cx="4224528" cy="557784"/>
          </a:xfrm>
          <a:prstGeom prst="rect">
            <a:avLst/>
          </a:prstGeom>
          <a:solidFill>
            <a:srgbClr val="F5F1F8"/>
          </a:solidFill>
          <a:ln w="6350">
            <a:solidFill>
              <a:srgbClr val="C9B8D8"/>
            </a:solidFill>
            <a:prstDash val="solid"/>
          </a:ln>
        </p:spPr>
        <p:txBody>
          <a:bodyPr/>
          <a:p/>
        </p:txBody>
      </p:sp>
      <p:sp>
        <p:nvSpPr>
          <p:cNvPr id="25" name="Shape 23"/>
          <p:cNvSpPr/>
          <p:nvPr/>
        </p:nvSpPr>
        <p:spPr>
          <a:xfrm>
            <a:off x="4517136" y="4059936"/>
            <a:ext cx="4334256" cy="557784"/>
          </a:xfrm>
          <a:prstGeom prst="rect">
            <a:avLst/>
          </a:prstGeom>
          <a:solidFill>
            <a:srgbClr val="FFF5F5"/>
          </a:solidFill>
          <a:ln w="6350">
            <a:solidFill>
              <a:srgbClr val="F5C6CB"/>
            </a:solidFill>
            <a:prstDash val="solid"/>
          </a:ln>
        </p:spPr>
        <p:txBody>
          <a:bodyPr/>
          <a:p/>
        </p:txBody>
      </p:sp>
      <p:sp>
        <p:nvSpPr>
          <p:cNvPr id="26" name="Text 24"/>
          <p:cNvSpPr/>
          <p:nvPr/>
        </p:nvSpPr>
        <p:spPr>
          <a:xfrm>
            <a:off x="402336" y="4105656"/>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Coach partner: how to help, what to say, how to be present</a:t>
            </a:r>
            <a:endParaRPr lang="en-US" sz="1050" dirty="0"/>
          </a:p>
        </p:txBody>
      </p:sp>
      <p:sp>
        <p:nvSpPr>
          <p:cNvPr id="27" name="Text 25"/>
          <p:cNvSpPr/>
          <p:nvPr/>
        </p:nvSpPr>
        <p:spPr>
          <a:xfrm>
            <a:off x="4626864" y="4105656"/>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Take over the partner's role entirely</a:t>
            </a:r>
            <a:endParaRPr lang="en-US" sz="1050" dirty="0"/>
          </a:p>
        </p:txBody>
      </p:sp>
      <p:sp>
        <p:nvSpPr>
          <p:cNvPr id="28" name="Shape 26"/>
          <p:cNvSpPr/>
          <p:nvPr/>
        </p:nvSpPr>
        <p:spPr>
          <a:xfrm>
            <a:off x="292608" y="4617720"/>
            <a:ext cx="4224528" cy="557784"/>
          </a:xfrm>
          <a:prstGeom prst="rect">
            <a:avLst/>
          </a:prstGeom>
          <a:solidFill>
            <a:srgbClr val="FFFFFF"/>
          </a:solidFill>
          <a:ln w="6350">
            <a:solidFill>
              <a:srgbClr val="C9B8D8"/>
            </a:solidFill>
            <a:prstDash val="solid"/>
          </a:ln>
        </p:spPr>
        <p:txBody>
          <a:bodyPr/>
          <a:p/>
        </p:txBody>
      </p:sp>
      <p:sp>
        <p:nvSpPr>
          <p:cNvPr id="29" name="Shape 27"/>
          <p:cNvSpPr/>
          <p:nvPr/>
        </p:nvSpPr>
        <p:spPr>
          <a:xfrm>
            <a:off x="4517136" y="4617720"/>
            <a:ext cx="4334256" cy="557784"/>
          </a:xfrm>
          <a:prstGeom prst="rect">
            <a:avLst/>
          </a:prstGeom>
          <a:solidFill>
            <a:srgbClr val="FFF5F5"/>
          </a:solidFill>
          <a:ln w="6350">
            <a:solidFill>
              <a:srgbClr val="F5C6CB"/>
            </a:solidFill>
            <a:prstDash val="solid"/>
          </a:ln>
        </p:spPr>
        <p:txBody>
          <a:bodyPr/>
          <a:p/>
        </p:txBody>
      </p:sp>
      <p:sp>
        <p:nvSpPr>
          <p:cNvPr id="30" name="Text 28"/>
          <p:cNvSpPr/>
          <p:nvPr/>
        </p:nvSpPr>
        <p:spPr>
          <a:xfrm>
            <a:off x="402336" y="4663440"/>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Advocate for laboring down if she feels no urge (delayed pushing)</a:t>
            </a:r>
            <a:endParaRPr lang="en-US" sz="1050" dirty="0"/>
          </a:p>
        </p:txBody>
      </p:sp>
      <p:sp>
        <p:nvSpPr>
          <p:cNvPr id="31" name="Text 29"/>
          <p:cNvSpPr/>
          <p:nvPr/>
        </p:nvSpPr>
        <p:spPr>
          <a:xfrm>
            <a:off x="4626864" y="4663440"/>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Push her before the urge arrives without the nurse's input</a:t>
            </a:r>
            <a:endParaRPr lang="en-US" sz="1050" dirty="0"/>
          </a:p>
        </p:txBody>
      </p:sp>
      <p:sp>
        <p:nvSpPr>
          <p:cNvPr id="32" name="Shape 30"/>
          <p:cNvSpPr/>
          <p:nvPr/>
        </p:nvSpPr>
        <p:spPr>
          <a:xfrm>
            <a:off x="292608" y="5175504"/>
            <a:ext cx="4224528" cy="557784"/>
          </a:xfrm>
          <a:prstGeom prst="rect">
            <a:avLst/>
          </a:prstGeom>
          <a:solidFill>
            <a:srgbClr val="F5F1F8"/>
          </a:solidFill>
          <a:ln w="6350">
            <a:solidFill>
              <a:srgbClr val="C9B8D8"/>
            </a:solidFill>
            <a:prstDash val="solid"/>
          </a:ln>
        </p:spPr>
        <p:txBody>
          <a:bodyPr/>
          <a:p/>
        </p:txBody>
      </p:sp>
      <p:sp>
        <p:nvSpPr>
          <p:cNvPr id="33" name="Shape 31"/>
          <p:cNvSpPr/>
          <p:nvPr/>
        </p:nvSpPr>
        <p:spPr>
          <a:xfrm>
            <a:off x="4517136" y="5175504"/>
            <a:ext cx="4334256" cy="557784"/>
          </a:xfrm>
          <a:prstGeom prst="rect">
            <a:avLst/>
          </a:prstGeom>
          <a:solidFill>
            <a:srgbClr val="FFF5F5"/>
          </a:solidFill>
          <a:ln w="6350">
            <a:solidFill>
              <a:srgbClr val="F5C6CB"/>
            </a:solidFill>
            <a:prstDash val="solid"/>
          </a:ln>
        </p:spPr>
        <p:txBody>
          <a:bodyPr/>
          <a:p/>
        </p:txBody>
      </p:sp>
      <p:sp>
        <p:nvSpPr>
          <p:cNvPr id="34" name="Text 32"/>
          <p:cNvSpPr/>
          <p:nvPr/>
        </p:nvSpPr>
        <p:spPr>
          <a:xfrm>
            <a:off x="402336" y="5221224"/>
            <a:ext cx="4005072" cy="466344"/>
          </a:xfrm>
          <a:prstGeom prst="rect">
            <a:avLst/>
          </a:prstGeom>
          <a:noFill/>
          <a:ln/>
        </p:spPr>
        <p:txBody>
          <a:bodyPr wrap="square" lIns="0" tIns="0" rIns="0" bIns="0" rtlCol="0" anchor="t"/>
          <a:lstStyle/>
          <a:p>
            <a:pPr marL="0" indent="0" algn="l">
              <a:lnSpc>
                <a:spcPct val="122000"/>
              </a:lnSpc>
              <a:buNone/>
            </a:pPr>
            <a:r>
              <a:rPr lang="en-US" sz="1050" dirty="0">
                <a:solidFill>
                  <a:srgbClr val="2D2D2D"/>
                </a:solidFill>
                <a:latin typeface="Arial" pitchFamily="34" charset="0"/>
                <a:ea typeface="Arial" pitchFamily="34" charset="-122"/>
                <a:cs typeface="Arial" pitchFamily="34" charset="-120"/>
              </a:rPr>
              <a:t>Always use two people to reposition — never drag across the sheets</a:t>
            </a:r>
            <a:endParaRPr lang="en-US" sz="1050" dirty="0"/>
          </a:p>
        </p:txBody>
      </p:sp>
      <p:sp>
        <p:nvSpPr>
          <p:cNvPr id="35" name="Text 33"/>
          <p:cNvSpPr/>
          <p:nvPr/>
        </p:nvSpPr>
        <p:spPr>
          <a:xfrm>
            <a:off x="4626864" y="5221224"/>
            <a:ext cx="4114800" cy="466344"/>
          </a:xfrm>
          <a:prstGeom prst="rect">
            <a:avLst/>
          </a:prstGeom>
          <a:noFill/>
          <a:ln/>
        </p:spPr>
        <p:txBody>
          <a:bodyPr wrap="square" lIns="0" tIns="0" rIns="0" bIns="0" rtlCol="0" anchor="t"/>
          <a:lstStyle/>
          <a:p>
            <a:pPr marL="0" indent="0" algn="l">
              <a:lnSpc>
                <a:spcPct val="122000"/>
              </a:lnSpc>
              <a:buNone/>
            </a:pPr>
            <a:r>
              <a:rPr lang="en-US" sz="1050" dirty="0">
                <a:solidFill>
                  <a:srgbClr val="8B0000"/>
                </a:solidFill>
                <a:latin typeface="Arial" pitchFamily="34" charset="0"/>
                <a:ea typeface="Arial" pitchFamily="34" charset="-122"/>
                <a:cs typeface="Arial" pitchFamily="34" charset="-120"/>
              </a:rPr>
              <a:t>Move her alone or drag — this can dislodge the epidural catheter</a:t>
            </a:r>
            <a:endParaRPr lang="en-US" sz="1050" dirty="0"/>
          </a:p>
        </p:txBody>
      </p:sp>
      <p:sp>
        <p:nvSpPr>
          <p:cNvPr id="37" name="Text 35"/>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PAIN RELIEF IN LABOR  ·  THE PEANUT BALL</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Peanut Ball — Use It Every Time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The peanut ball creates the pelvic opening that walking and squatting would provide. Use it every time.</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it does</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Peanut-shaped ball between knees side-lying</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Holds pelvis open and asymmetrical</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Mimics squatting &amp; walking</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Reduces labor length and cesarean rate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Rotate sides every 20–30 minutes</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How to use it</a:t>
            </a:r>
            <a:endParaRPr lang="en-US" sz="1100" dirty="0"/>
          </a:p>
        </p:txBody>
      </p:sp>
      <p:sp>
        <p:nvSpPr>
          <p:cNvPr id="12" name="Text 10"/>
          <p:cNvSpPr/>
          <p:nvPr/>
        </p:nvSpPr>
        <p:spPr>
          <a:xfrm>
            <a:off x="4846320" y="1956816"/>
            <a:ext cx="3858768" cy="1335024"/>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Smaller end between the knees, larger end behind the hips</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Top knee rests over the ball, not hanging off it</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Switch sides every 20–30 minutes with nurse assistance</a:t>
            </a:r>
            <a:endParaRPr lang="en-US" sz="120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Reposition the whole body — don't just flip the ball</a:t>
            </a:r>
            <a:endParaRPr lang="en-US" sz="1200" dirty="0"/>
          </a:p>
        </p:txBody>
      </p:sp>
      <p:sp>
        <p:nvSpPr>
          <p:cNvPr id="13" name="Shape 11"/>
          <p:cNvSpPr/>
          <p:nvPr/>
        </p:nvSpPr>
        <p:spPr>
          <a:xfrm>
            <a:off x="4663440" y="3383280"/>
            <a:ext cx="4224528" cy="1426464"/>
          </a:xfrm>
          <a:prstGeom prst="rect">
            <a:avLst/>
          </a:prstGeom>
          <a:solidFill>
            <a:srgbClr val="F0F7FA"/>
          </a:solidFill>
          <a:ln w="12700">
            <a:solidFill>
              <a:srgbClr val="0D9488"/>
            </a:solidFill>
            <a:prstDash val="solid"/>
          </a:ln>
        </p:spPr>
        <p:txBody>
          <a:bodyPr/>
          <a:p/>
        </p:txBody>
      </p:sp>
      <p:sp>
        <p:nvSpPr>
          <p:cNvPr id="14" name="Shape 12"/>
          <p:cNvSpPr/>
          <p:nvPr/>
        </p:nvSpPr>
        <p:spPr>
          <a:xfrm>
            <a:off x="4663440" y="3383280"/>
            <a:ext cx="64008" cy="1426464"/>
          </a:xfrm>
          <a:prstGeom prst="rect">
            <a:avLst/>
          </a:prstGeom>
          <a:solidFill>
            <a:srgbClr val="0D9488"/>
          </a:solidFill>
          <a:ln w="12700">
            <a:solidFill>
              <a:srgbClr val="0D9488"/>
            </a:solidFill>
            <a:prstDash val="solid"/>
          </a:ln>
        </p:spPr>
        <p:txBody>
          <a:bodyPr/>
          <a:p/>
        </p:txBody>
      </p:sp>
      <p:sp>
        <p:nvSpPr>
          <p:cNvPr id="15" name="Text 13"/>
          <p:cNvSpPr/>
          <p:nvPr/>
        </p:nvSpPr>
        <p:spPr>
          <a:xfrm>
            <a:off x="4828032" y="3493008"/>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Peanut Ball &amp; Outcomes</a:t>
            </a:r>
            <a:endParaRPr lang="en-US" sz="1100" dirty="0"/>
          </a:p>
        </p:txBody>
      </p:sp>
      <p:sp>
        <p:nvSpPr>
          <p:cNvPr id="16" name="Text 14"/>
          <p:cNvSpPr/>
          <p:nvPr/>
        </p:nvSpPr>
        <p:spPr>
          <a:xfrm>
            <a:off x="4828032" y="3803904"/>
            <a:ext cx="3877056" cy="950976"/>
          </a:xfrm>
          <a:prstGeom prst="rect">
            <a:avLst/>
          </a:prstGeom>
          <a:noFill/>
          <a:ln/>
        </p:spPr>
        <p:txBody>
          <a:bodyPr wrap="square" lIns="0" tIns="0" rIns="0" bIns="0" rtlCol="0" anchor="t"/>
          <a:lstStyle/>
          <a:p>
            <a:pPr marL="0" indent="0" algn="l">
              <a:lnSpc>
                <a:spcPct val="135000"/>
              </a:lnSpc>
              <a:buNone/>
            </a:pPr>
            <a:r>
              <a:rPr lang="en-US" sz="1150" dirty="0">
                <a:solidFill>
                  <a:srgbClr val="2D2D2D"/>
                </a:solidFill>
                <a:latin typeface="Arial" pitchFamily="34" charset="0"/>
                <a:ea typeface="Arial" pitchFamily="34" charset="-122"/>
                <a:cs typeface="Arial" pitchFamily="34" charset="-120"/>
              </a:rPr>
              <a:t>A 2020 systematic review found peanut ball use reduced Stage 1 labor by 90 minutes on average and lowered cesarean rates in epiduralized clients. One of the most impactful tools in your kit — and it costs nothing.</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0" y="1371600"/>
            <a:ext cx="9144000" cy="822960"/>
          </a:xfrm>
          <a:prstGeom prst="rect">
            <a:avLst/>
          </a:prstGeom>
          <a:noFill/>
          <a:ln/>
        </p:spPr>
        <p:txBody>
          <a:bodyPr wrap="square" lIns="0" tIns="0" rIns="0" bIns="0" rtlCol="0" anchor="ctr"/>
          <a:lstStyle/>
          <a:p>
            <a:pPr marL="0" indent="0" algn="ctr">
              <a:buNone/>
            </a:pPr>
            <a:r>
              <a:rPr lang="en-US" sz="6000" b="1" dirty="0">
                <a:solidFill>
                  <a:srgbClr val="FFFFFF"/>
                </a:solidFill>
                <a:latin typeface="Georgia" pitchFamily="34" charset="0"/>
                <a:ea typeface="Georgia" pitchFamily="34" charset="-122"/>
                <a:cs typeface="Georgia" pitchFamily="34" charset="-120"/>
              </a:rPr>
              <a:t>BREAK</a:t>
            </a:r>
            <a:endParaRPr lang="en-US" sz="6000" dirty="0"/>
          </a:p>
        </p:txBody>
      </p:sp>
      <p:sp>
        <p:nvSpPr>
          <p:cNvPr id="3" name="Text 1"/>
          <p:cNvSpPr/>
          <p:nvPr/>
        </p:nvSpPr>
        <p:spPr>
          <a:xfrm>
            <a:off x="0" y="2322576"/>
            <a:ext cx="9144000" cy="457200"/>
          </a:xfrm>
          <a:prstGeom prst="rect">
            <a:avLst/>
          </a:prstGeom>
          <a:noFill/>
          <a:ln/>
        </p:spPr>
        <p:txBody>
          <a:bodyPr wrap="square" lIns="0" tIns="0" rIns="0" bIns="0" rtlCol="0" anchor="ctr"/>
          <a:lstStyle/>
          <a:p>
            <a:pPr marL="0" indent="0" algn="ctr">
              <a:buNone/>
            </a:pPr>
            <a:r>
              <a:rPr lang="en-US" sz="2200" dirty="0">
                <a:solidFill>
                  <a:srgbClr val="C9B8D8"/>
                </a:solidFill>
                <a:latin typeface="Georgia" pitchFamily="34" charset="0"/>
                <a:ea typeface="Georgia" pitchFamily="34" charset="-122"/>
                <a:cs typeface="Georgia" pitchFamily="34" charset="-120"/>
              </a:rPr>
              <a:t>7:20 PM — 7:30 PM · 10 minutes</a:t>
            </a:r>
            <a:endParaRPr lang="en-US" sz="2200" dirty="0"/>
          </a:p>
        </p:txBody>
      </p:sp>
      <p:sp>
        <p:nvSpPr>
          <p:cNvPr id="4" name="Shape 2"/>
          <p:cNvSpPr/>
          <p:nvPr/>
        </p:nvSpPr>
        <p:spPr>
          <a:xfrm>
            <a:off x="3200400" y="2926080"/>
            <a:ext cx="27432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457200" y="310896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Step away, stretch, hydrate, reset.</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Back at 7:30 PM — When Birth Needs Help: complications &amp; loss.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SIX</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When Birth</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Needs Help</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job isn’t to prevent all interventions.</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It’s to help families navigate them with dignity and agency.</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  ·  ORIENTATION</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Normal Variations vs. True Complications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Not everything that deviates from textbook labor is a complication. Some are variations.</a:t>
            </a:r>
            <a:endParaRPr lang="en-US" sz="135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Normal Variations</a:t>
            </a:r>
            <a:endParaRPr lang="en-US" sz="1200" dirty="0"/>
          </a:p>
        </p:txBody>
      </p:sp>
      <p:sp>
        <p:nvSpPr>
          <p:cNvPr id="8" name="Text 6"/>
          <p:cNvSpPr/>
          <p:nvPr/>
        </p:nvSpPr>
        <p:spPr>
          <a:xfrm>
            <a:off x="475488" y="1938528"/>
            <a:ext cx="3840480" cy="274320"/>
          </a:xfrm>
          <a:prstGeom prst="rect">
            <a:avLst/>
          </a:prstGeom>
          <a:noFill/>
          <a:ln/>
        </p:spPr>
        <p:txBody>
          <a:bodyPr wrap="square" lIns="0" tIns="0" rIns="0" bIns="0" rtlCol="0" anchor="ctr"/>
          <a:lstStyle/>
          <a:p>
            <a:pPr marL="0" indent="0">
              <a:buNone/>
            </a:pPr>
            <a:r>
              <a:rPr lang="en-US" sz="1150" i="1" dirty="0">
                <a:solidFill>
                  <a:srgbClr val="6B6B6B"/>
                </a:solidFill>
                <a:latin typeface="Arial" pitchFamily="34" charset="0"/>
                <a:ea typeface="Arial" pitchFamily="34" charset="-122"/>
                <a:cs typeface="Arial" pitchFamily="34" charset="-120"/>
              </a:rPr>
              <a:t>Common — often resolve with position changes, patience, and support:</a:t>
            </a:r>
            <a:endParaRPr lang="en-US" sz="1150" dirty="0"/>
          </a:p>
        </p:txBody>
      </p:sp>
      <p:sp>
        <p:nvSpPr>
          <p:cNvPr id="9" name="Text 7"/>
          <p:cNvSpPr/>
          <p:nvPr/>
        </p:nvSpPr>
        <p:spPr>
          <a:xfrm>
            <a:off x="475488" y="2249424"/>
            <a:ext cx="3858768" cy="2523744"/>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Posterior positioning (sunny-side up)</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Nuchal cord (cord around the neck)</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Slow early labor or prolonged latent phase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Brief fetal heart rate decelerations that resolve quickly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Asynclitic presentation (head tilted to one side)</a:t>
            </a:r>
            <a:endParaRPr lang="en-US" sz="1250" dirty="0"/>
          </a:p>
        </p:txBody>
      </p:sp>
      <p:sp>
        <p:nvSpPr>
          <p:cNvPr id="10" name="Shape 8"/>
          <p:cNvSpPr/>
          <p:nvPr/>
        </p:nvSpPr>
        <p:spPr>
          <a:xfrm>
            <a:off x="4663440" y="1536192"/>
            <a:ext cx="4224528" cy="3310128"/>
          </a:xfrm>
          <a:prstGeom prst="rect">
            <a:avLst/>
          </a:prstGeom>
          <a:solidFill>
            <a:srgbClr val="FEFAE0"/>
          </a:solidFill>
          <a:ln w="12700">
            <a:solidFill>
              <a:srgbClr val="C8960C"/>
            </a:solidFill>
            <a:prstDash val="solid"/>
          </a:ln>
        </p:spPr>
        <p:txBody>
          <a:bodyPr/>
          <a:p/>
        </p:txBody>
      </p:sp>
      <p:sp>
        <p:nvSpPr>
          <p:cNvPr id="11" name="Shape 9"/>
          <p:cNvSpPr/>
          <p:nvPr/>
        </p:nvSpPr>
        <p:spPr>
          <a:xfrm>
            <a:off x="4663440" y="1536192"/>
            <a:ext cx="64008" cy="3310128"/>
          </a:xfrm>
          <a:prstGeom prst="rect">
            <a:avLst/>
          </a:prstGeom>
          <a:solidFill>
            <a:srgbClr val="C8960C"/>
          </a:solidFill>
          <a:ln w="12700">
            <a:solidFill>
              <a:srgbClr val="C8960C"/>
            </a:solidFill>
            <a:prstDash val="solid"/>
          </a:ln>
        </p:spPr>
        <p:txBody>
          <a:bodyPr/>
          <a:p/>
        </p:txBody>
      </p:sp>
      <p:sp>
        <p:nvSpPr>
          <p:cNvPr id="12" name="Text 10"/>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C8960C"/>
                </a:solidFill>
                <a:latin typeface="Arial" pitchFamily="34" charset="0"/>
                <a:ea typeface="Arial" pitchFamily="34" charset="-122"/>
                <a:cs typeface="Arial" pitchFamily="34" charset="-120"/>
              </a:rPr>
              <a:t>True Complications</a:t>
            </a:r>
            <a:endParaRPr lang="en-US" sz="1200" dirty="0"/>
          </a:p>
        </p:txBody>
      </p:sp>
      <p:sp>
        <p:nvSpPr>
          <p:cNvPr id="13" name="Text 11"/>
          <p:cNvSpPr/>
          <p:nvPr/>
        </p:nvSpPr>
        <p:spPr>
          <a:xfrm>
            <a:off x="4846320" y="1938528"/>
            <a:ext cx="3840480" cy="274320"/>
          </a:xfrm>
          <a:prstGeom prst="rect">
            <a:avLst/>
          </a:prstGeom>
          <a:noFill/>
          <a:ln/>
        </p:spPr>
        <p:txBody>
          <a:bodyPr wrap="square" lIns="0" tIns="0" rIns="0" bIns="0" rtlCol="0" anchor="ctr"/>
          <a:lstStyle/>
          <a:p>
            <a:pPr marL="0" indent="0">
              <a:buNone/>
            </a:pPr>
            <a:r>
              <a:rPr lang="en-US" sz="1150" i="1" dirty="0">
                <a:solidFill>
                  <a:srgbClr val="6B6B6B"/>
                </a:solidFill>
                <a:latin typeface="Arial" pitchFamily="34" charset="0"/>
                <a:ea typeface="Arial" pitchFamily="34" charset="-122"/>
                <a:cs typeface="Arial" pitchFamily="34" charset="-120"/>
              </a:rPr>
              <a:t>Require provider involvement — sometimes urgently:</a:t>
            </a:r>
            <a:endParaRPr lang="en-US" sz="1150" dirty="0"/>
          </a:p>
        </p:txBody>
      </p:sp>
      <p:sp>
        <p:nvSpPr>
          <p:cNvPr id="14" name="Text 12"/>
          <p:cNvSpPr/>
          <p:nvPr/>
        </p:nvSpPr>
        <p:spPr>
          <a:xfrm>
            <a:off x="4846320" y="2249424"/>
            <a:ext cx="3858768" cy="2523744"/>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Fetal distress — persistent concerning heart rate patterns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Maternal hemorrhage — excessive bleeding</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Prolapsed cord — cord slips through cervix before baby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Placental abruption — placenta separates prematurely</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Shoulder dystocia — shoulders stuck after head delivers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Uterine rupture — rare but catastrophic</a:t>
            </a:r>
            <a:endParaRPr lang="en-US" sz="125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OP Position — Back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15–30% of babies start labor posterior. Most rotate. Your positioning work matters.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What’s happening</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Occiput posterior — baby faces front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Hard skull presses on sacrum</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Intense, unrelenting back pain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Labor often longer (larger diameter)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Only 5–8% remain posterior at delivery</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Positions that encourage rotation</a:t>
            </a:r>
            <a:endParaRPr lang="en-US" sz="1100" dirty="0"/>
          </a:p>
        </p:txBody>
      </p:sp>
      <p:sp>
        <p:nvSpPr>
          <p:cNvPr id="12" name="Text 10"/>
          <p:cNvSpPr/>
          <p:nvPr/>
        </p:nvSpPr>
        <p:spPr>
          <a:xfrm>
            <a:off x="4846320" y="1956816"/>
            <a:ext cx="3858768" cy="1463040"/>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  Hands-and-knees — opens back of pelvis, best for 30+ min</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Side-lying on the side OPPOSITE baby’s back</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Lunge (one foot on a chair) to open one side of pelvis</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Rocking on hands and knees or birth ball</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Avoid reclining — gravity works against rotation</a:t>
            </a:r>
            <a:endParaRPr lang="en-US" sz="1200" dirty="0"/>
          </a:p>
        </p:txBody>
      </p:sp>
      <p:sp>
        <p:nvSpPr>
          <p:cNvPr id="13" name="Shape 11"/>
          <p:cNvSpPr/>
          <p:nvPr/>
        </p:nvSpPr>
        <p:spPr>
          <a:xfrm>
            <a:off x="4663440" y="3602736"/>
            <a:ext cx="4224528" cy="1243584"/>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602736"/>
            <a:ext cx="64008" cy="1243584"/>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712464"/>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 — Back Labor</a:t>
            </a:r>
            <a:endParaRPr lang="en-US" sz="1100" dirty="0"/>
          </a:p>
        </p:txBody>
      </p:sp>
      <p:sp>
        <p:nvSpPr>
          <p:cNvPr id="16" name="Text 14"/>
          <p:cNvSpPr/>
          <p:nvPr/>
        </p:nvSpPr>
        <p:spPr>
          <a:xfrm>
            <a:off x="4828032" y="4023360"/>
            <a:ext cx="3877056" cy="768096"/>
          </a:xfrm>
          <a:prstGeom prst="rect">
            <a:avLst/>
          </a:prstGeom>
          <a:noFill/>
          <a:ln/>
        </p:spPr>
        <p:txBody>
          <a:bodyPr wrap="square" lIns="0" tIns="0" rIns="0" bIns="0" rtlCol="0" anchor="t"/>
          <a:lstStyle/>
          <a:p>
            <a:pPr marL="0" indent="0" algn="l">
              <a:lnSpc>
                <a:spcPct val="135000"/>
              </a:lnSpc>
              <a:buNone/>
            </a:pPr>
            <a:r>
              <a:rPr lang="en-US" sz="1250" i="1" dirty="0">
                <a:solidFill>
                  <a:srgbClr val="2D2D2D"/>
                </a:solidFill>
                <a:latin typeface="Georgia" pitchFamily="34" charset="0"/>
                <a:ea typeface="Georgia" pitchFamily="34" charset="-122"/>
                <a:cs typeface="Georgia" pitchFamily="34" charset="-120"/>
              </a:rPr>
              <a:t>“This pain is real and it’s intense. Baby is in a position that’s making labor harder. Let’s try some positions to help baby rotate. You are doing exactly the right things.”</a:t>
            </a:r>
            <a:endParaRPr lang="en-US" sz="12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Prolonged Labor — When Exhaustion Becomes the Risk</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Prolonged labor is defined as &gt;20 hrs for first-time moms, &gt;14 hrs for subsequent births.</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Why it matters</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Uterus exhausts after hours of work</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Maternal exhaustion → hemorrhage risk</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Infection risk rises after ROM</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Baby tolerates prolonged labor less well</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Intervention can be mercy, not failure</a:t>
            </a:r>
            <a:endParaRPr lang="en-US" sz="1250" dirty="0"/>
          </a:p>
        </p:txBody>
      </p:sp>
      <p:sp>
        <p:nvSpPr>
          <p:cNvPr id="9" name="Shape 7"/>
          <p:cNvSpPr/>
          <p:nvPr/>
        </p:nvSpPr>
        <p:spPr>
          <a:xfrm>
            <a:off x="4663440" y="1536192"/>
            <a:ext cx="4224528" cy="1883664"/>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1883664"/>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Clinical Note — When Intervention Becomes Necessary</a:t>
            </a:r>
            <a:endParaRPr lang="en-US" sz="1100" dirty="0"/>
          </a:p>
        </p:txBody>
      </p:sp>
      <p:sp>
        <p:nvSpPr>
          <p:cNvPr id="12" name="Text 10"/>
          <p:cNvSpPr/>
          <p:nvPr/>
        </p:nvSpPr>
        <p:spPr>
          <a:xfrm>
            <a:off x="4828032" y="1956816"/>
            <a:ext cx="3877056" cy="1389888"/>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A client who has labored for 40+ hours without adequate rest, who cannot eat or drink, and whose cervix has stopped progressing is not “failing.” Her body is working beyond its sustainable limit. Epidural for rest, Pitocin augmentation, or cesarean birth may be the kindest, most evidence-based choice available to her.</a:t>
            </a:r>
            <a:endParaRPr lang="en-US" sz="1200" dirty="0"/>
          </a:p>
        </p:txBody>
      </p:sp>
      <p:sp>
        <p:nvSpPr>
          <p:cNvPr id="13" name="Shape 11"/>
          <p:cNvSpPr/>
          <p:nvPr/>
        </p:nvSpPr>
        <p:spPr>
          <a:xfrm>
            <a:off x="4663440" y="3529584"/>
            <a:ext cx="4224528" cy="1316736"/>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529584"/>
            <a:ext cx="64008" cy="1316736"/>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639312"/>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Doula Script — When Intervention Is Recommended</a:t>
            </a:r>
            <a:endParaRPr lang="en-US" sz="1100" dirty="0"/>
          </a:p>
        </p:txBody>
      </p:sp>
      <p:sp>
        <p:nvSpPr>
          <p:cNvPr id="16" name="Text 14"/>
          <p:cNvSpPr/>
          <p:nvPr/>
        </p:nvSpPr>
        <p:spPr>
          <a:xfrm>
            <a:off x="4828032" y="3968496"/>
            <a:ext cx="3877056" cy="822960"/>
          </a:xfrm>
          <a:prstGeom prst="rect">
            <a:avLst/>
          </a:prstGeom>
          <a:noFill/>
          <a:ln/>
        </p:spPr>
        <p:txBody>
          <a:bodyPr wrap="square" lIns="0" tIns="0" rIns="0" bIns="0" rtlCol="0" anchor="t"/>
          <a:lstStyle/>
          <a:p>
            <a:pPr marL="0" indent="0" algn="l">
              <a:lnSpc>
                <a:spcPct val="138000"/>
              </a:lnSpc>
              <a:buNone/>
            </a:pPr>
            <a:r>
              <a:rPr lang="en-US" sz="1250" i="1" dirty="0">
                <a:solidFill>
                  <a:srgbClr val="2D2D2D"/>
                </a:solidFill>
                <a:latin typeface="Georgia" pitchFamily="34" charset="0"/>
                <a:ea typeface="Georgia" pitchFamily="34" charset="-122"/>
                <a:cs typeface="Georgia" pitchFamily="34" charset="-120"/>
              </a:rPr>
              <a:t>“Your body has worked so hard for so long. Choosing to rest or accept support right now is not giving up. It’s wisdom. You are still doing this. You are still the one having this baby.”</a:t>
            </a:r>
            <a:endParaRPr lang="en-US" sz="12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Shoulder Dystocia — Get Out of the Way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0.5–1.5% of vaginal births. Rare, but not so rare that you won’t encounter it.</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it is</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Head delivers, shoulders stuck behind pubic bone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Cord compressed — baby cannot breathe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Must be delivered within 4–5 min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"Turtle sign" — head retracts back</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Providers act in seconds</a:t>
            </a:r>
            <a:endParaRPr lang="en-US" sz="1250" dirty="0"/>
          </a:p>
        </p:txBody>
      </p:sp>
      <p:sp>
        <p:nvSpPr>
          <p:cNvPr id="9" name="Shape 7"/>
          <p:cNvSpPr/>
          <p:nvPr/>
        </p:nvSpPr>
        <p:spPr>
          <a:xfrm>
            <a:off x="4663440" y="1536192"/>
            <a:ext cx="4224528" cy="1828800"/>
          </a:xfrm>
          <a:prstGeom prst="rect">
            <a:avLst/>
          </a:prstGeom>
          <a:solidFill>
            <a:srgbClr val="FEFAE0"/>
          </a:solidFill>
          <a:ln w="12700">
            <a:solidFill>
              <a:srgbClr val="C8960C"/>
            </a:solidFill>
            <a:prstDash val="solid"/>
          </a:ln>
        </p:spPr>
        <p:txBody>
          <a:bodyPr/>
          <a:p/>
        </p:txBody>
      </p:sp>
      <p:sp>
        <p:nvSpPr>
          <p:cNvPr id="10" name="Shape 8"/>
          <p:cNvSpPr/>
          <p:nvPr/>
        </p:nvSpPr>
        <p:spPr>
          <a:xfrm>
            <a:off x="4663440" y="1536192"/>
            <a:ext cx="64008" cy="1828800"/>
          </a:xfrm>
          <a:prstGeom prst="rect">
            <a:avLst/>
          </a:prstGeom>
          <a:solidFill>
            <a:srgbClr val="C8960C"/>
          </a:solidFill>
          <a:ln w="12700">
            <a:solidFill>
              <a:srgbClr val="C8960C"/>
            </a:solidFill>
            <a:prstDash val="solid"/>
          </a:ln>
        </p:spPr>
        <p:txBody>
          <a:bodyPr/>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C8960C"/>
                </a:solidFill>
                <a:latin typeface="Arial" pitchFamily="34" charset="0"/>
                <a:ea typeface="Arial" pitchFamily="34" charset="-122"/>
                <a:cs typeface="Arial" pitchFamily="34" charset="-120"/>
              </a:rPr>
              <a:t>Your role — Four things only</a:t>
            </a:r>
            <a:endParaRPr lang="en-US" sz="1100" dirty="0"/>
          </a:p>
        </p:txBody>
      </p:sp>
      <p:sp>
        <p:nvSpPr>
          <p:cNvPr id="12" name="Text 10"/>
          <p:cNvSpPr/>
          <p:nvPr/>
        </p:nvSpPr>
        <p:spPr>
          <a:xfrm>
            <a:off x="4846320" y="1956816"/>
            <a:ext cx="3858768" cy="1335024"/>
          </a:xfrm>
          <a:prstGeom prst="rect">
            <a:avLst/>
          </a:prstGeom>
          <a:noFill/>
          <a:ln/>
        </p:spPr>
        <p:txBody>
          <a:bodyPr wrap="square" lIns="0" tIns="0" rIns="0" bIns="0" rtlCol="0" anchor="t"/>
          <a:lstStyle/>
          <a:p>
            <a:pPr marL="0" indent="0">
              <a:spcAft>
                <a:spcPts val="500"/>
              </a:spcAft>
              <a:buNone/>
            </a:pPr>
            <a:r>
              <a:rPr lang="en-US" sz="1200" dirty="0">
                <a:solidFill>
                  <a:srgbClr val="2D2D2D"/>
                </a:solidFill>
                <a:latin typeface="Arial" pitchFamily="34" charset="0"/>
                <a:ea typeface="Arial" pitchFamily="34" charset="-122"/>
                <a:cs typeface="Arial" pitchFamily="34" charset="-120"/>
              </a:rPr>
              <a:t>–  Move out of the way — providers need space immediately</a:t>
            </a:r>
            <a:endParaRPr lang="en-US" sz="1200" dirty="0"/>
          </a:p>
          <a:p>
            <a:pPr marL="0" indent="0">
              <a:spcAft>
                <a:spcPts val="500"/>
              </a:spcAft>
              <a:buNone/>
            </a:pPr>
            <a:r>
              <a:rPr lang="en-US" sz="1200" dirty="0">
                <a:solidFill>
                  <a:srgbClr val="2D2D2D"/>
                </a:solidFill>
                <a:latin typeface="Arial" pitchFamily="34" charset="0"/>
                <a:ea typeface="Arial" pitchFamily="34" charset="-122"/>
                <a:cs typeface="Arial" pitchFamily="34" charset="-120"/>
              </a:rPr>
              <a:t>–  Stay calm — your client feels your energy</a:t>
            </a:r>
            <a:endParaRPr lang="en-US" sz="1200" dirty="0"/>
          </a:p>
          <a:p>
            <a:pPr marL="0" indent="0">
              <a:spcAft>
                <a:spcPts val="500"/>
              </a:spcAft>
              <a:buNone/>
            </a:pPr>
            <a:r>
              <a:rPr lang="en-US" sz="1200" dirty="0">
                <a:solidFill>
                  <a:srgbClr val="2D2D2D"/>
                </a:solidFill>
                <a:latin typeface="Arial" pitchFamily="34" charset="0"/>
                <a:ea typeface="Arial" pitchFamily="34" charset="-122"/>
                <a:cs typeface="Arial" pitchFamily="34" charset="-120"/>
              </a:rPr>
              <a:t>–  Support the partner briefly: “The team has this”</a:t>
            </a:r>
            <a:endParaRPr lang="en-US" sz="1200" dirty="0"/>
          </a:p>
          <a:p>
            <a:pPr marL="0" indent="0">
              <a:spcAft>
                <a:spcPts val="500"/>
              </a:spcAft>
              <a:buNone/>
            </a:pPr>
            <a:r>
              <a:rPr lang="en-US" sz="1200" dirty="0">
                <a:solidFill>
                  <a:srgbClr val="2D2D2D"/>
                </a:solidFill>
                <a:latin typeface="Arial" pitchFamily="34" charset="0"/>
                <a:ea typeface="Arial" pitchFamily="34" charset="-122"/>
                <a:cs typeface="Arial" pitchFamily="34" charset="-120"/>
              </a:rPr>
              <a:t>–  Stay present but silent until baby is delivered</a:t>
            </a:r>
            <a:endParaRPr lang="en-US" sz="1200" dirty="0"/>
          </a:p>
        </p:txBody>
      </p:sp>
      <p:sp>
        <p:nvSpPr>
          <p:cNvPr id="13" name="Shape 11"/>
          <p:cNvSpPr/>
          <p:nvPr/>
        </p:nvSpPr>
        <p:spPr>
          <a:xfrm>
            <a:off x="4663440" y="3474720"/>
            <a:ext cx="4224528" cy="1371600"/>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474720"/>
            <a:ext cx="64008" cy="1371600"/>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584448"/>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After Birth — What Families Need</a:t>
            </a:r>
            <a:endParaRPr lang="en-US" sz="1100" dirty="0"/>
          </a:p>
        </p:txBody>
      </p:sp>
      <p:sp>
        <p:nvSpPr>
          <p:cNvPr id="16" name="Text 14"/>
          <p:cNvSpPr/>
          <p:nvPr/>
        </p:nvSpPr>
        <p:spPr>
          <a:xfrm>
            <a:off x="4828032" y="3895344"/>
            <a:ext cx="3877056" cy="896112"/>
          </a:xfrm>
          <a:prstGeom prst="rect">
            <a:avLst/>
          </a:prstGeom>
          <a:noFill/>
          <a:ln/>
        </p:spPr>
        <p:txBody>
          <a:bodyPr wrap="square" lIns="0" tIns="0" rIns="0" bIns="0" rtlCol="0" anchor="t"/>
          <a:lstStyle/>
          <a:p>
            <a:pPr marL="0" indent="0" algn="l">
              <a:lnSpc>
                <a:spcPct val="135000"/>
              </a:lnSpc>
              <a:buNone/>
            </a:pPr>
            <a:r>
              <a:rPr lang="en-US" sz="2000" dirty="0">
                <a:solidFill>
                  <a:srgbClr val="2D2D2D"/>
                </a:solidFill>
                <a:latin typeface="Arial" pitchFamily="34" charset="0"/>
                <a:ea typeface="Arial" pitchFamily="34" charset="-122"/>
                <a:cs typeface="Arial" pitchFamily="34" charset="-120"/>
              </a:rPr>
              <a:t>“That was scary. You did nothing wrong. The medical team acted quickly, and your baby is here. Let’s take a breath together.”</a:t>
            </a:r>
            <a:endParaRPr lang="en-US" sz="1150" dirty="0"/>
          </a:p>
          <a:p>
            <a:pPr marL="0" indent="0" algn="l">
              <a:lnSpc>
                <a:spcPct val="135000"/>
              </a:lnSpc>
              <a:buNone/>
            </a:pPr>
            <a:endParaRPr lang="en-US" sz="1150" dirty="0"/>
          </a:p>
          <a:p>
            <a:pPr marL="0" indent="0" algn="l">
              <a:lnSpc>
                <a:spcPct val="135000"/>
              </a:lnSpc>
              <a:buNone/>
            </a:pPr>
            <a:r>
              <a:rPr lang="en-US" sz="2000" dirty="0">
                <a:solidFill>
                  <a:srgbClr val="2D2D2D"/>
                </a:solidFill>
                <a:latin typeface="Arial" pitchFamily="34" charset="0"/>
                <a:ea typeface="Arial" pitchFamily="34" charset="-122"/>
                <a:cs typeface="Arial" pitchFamily="34" charset="-120"/>
              </a:rPr>
              <a:t>Shoulder dystocia is traumatic even when baby is fine. They need validation, explanation if they want it, and permission to feel shaken.</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Cesarean Birth — Planned vs. Emergent</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A cesarean birth with dignity and agency is a better outcome than a vaginal birth filled with fear.</a:t>
            </a:r>
            <a:endParaRPr lang="en-US" sz="135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Planned Cesarean</a:t>
            </a:r>
            <a:endParaRPr lang="en-US" sz="12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Scheduled in advance — known date and time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Client arrives calm and prepared</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You can pre-plan your role and her preferences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Gentle/family-centered C-section may be possible: clear drape, immediate skin-to-skin</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Doula may be allowed in OR at some facilities — confirm in advance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Support partner coaching before, during, and after</a:t>
            </a:r>
            <a:endParaRPr lang="en-US" sz="1250" dirty="0"/>
          </a:p>
        </p:txBody>
      </p:sp>
      <p:sp>
        <p:nvSpPr>
          <p:cNvPr id="9" name="Shape 7"/>
          <p:cNvSpPr/>
          <p:nvPr/>
        </p:nvSpPr>
        <p:spPr>
          <a:xfrm>
            <a:off x="4663440" y="1536192"/>
            <a:ext cx="4224528" cy="3310128"/>
          </a:xfrm>
          <a:prstGeom prst="rect">
            <a:avLst/>
          </a:prstGeom>
          <a:solidFill>
            <a:srgbClr val="F5F1F8"/>
          </a:solidFill>
          <a:ln w="12700">
            <a:solidFill>
              <a:srgbClr val="C9B8D8"/>
            </a:solidFill>
            <a:prstDash val="solid"/>
          </a:ln>
        </p:spPr>
        <p:txBody>
          <a:bodyPr/>
          <a:p/>
        </p:txBody>
      </p:sp>
      <p:sp>
        <p:nvSpPr>
          <p:cNvPr id="10" name="Shape 8"/>
          <p:cNvSpPr/>
          <p:nvPr/>
        </p:nvSpPr>
        <p:spPr>
          <a:xfrm>
            <a:off x="4663440" y="1536192"/>
            <a:ext cx="64008" cy="3310128"/>
          </a:xfrm>
          <a:prstGeom prst="rect">
            <a:avLst/>
          </a:prstGeom>
          <a:solidFill>
            <a:srgbClr val="5E376C"/>
          </a:solidFill>
          <a:ln w="12700">
            <a:solidFill>
              <a:srgbClr val="5E376C"/>
            </a:solidFill>
            <a:prstDash val="solid"/>
          </a:ln>
        </p:spPr>
        <p:txBody>
          <a:bodyPr/>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Emergent Cesarean</a:t>
            </a:r>
            <a:endParaRPr lang="en-US" sz="1200" dirty="0"/>
          </a:p>
        </p:txBody>
      </p:sp>
      <p:sp>
        <p:nvSpPr>
          <p:cNvPr id="12" name="Text 10"/>
          <p:cNvSpPr/>
          <p:nvPr/>
        </p:nvSpPr>
        <p:spPr>
          <a:xfrm>
            <a:off x="4846320"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  Happens fast — client may not have time to process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You may not be allowed in the OR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Stay with the partner if you’re separated from the client</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Keep partner calm and informed</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When she returns, she may need to process what happened</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  Your presence in recovery is critical — don’t leave early</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WHEN BIRTH NEEDS HELP</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VBAC — Vaginal Birth After Cesarean</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72–75% success rate. Your role is informed support — not steering the decision.</a:t>
            </a:r>
            <a:endParaRPr lang="en-US" sz="1350" dirty="0"/>
          </a:p>
        </p:txBody>
      </p:sp>
      <p:sp>
        <p:nvSpPr>
          <p:cNvPr id="5" name="Shape 3"/>
          <p:cNvSpPr/>
          <p:nvPr/>
        </p:nvSpPr>
        <p:spPr>
          <a:xfrm>
            <a:off x="292608" y="1536192"/>
            <a:ext cx="8558784" cy="1042416"/>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1042416"/>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27632"/>
            <a:ext cx="8229600" cy="237744"/>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Key Facts</a:t>
            </a:r>
            <a:endParaRPr lang="en-US" sz="1100" dirty="0"/>
          </a:p>
        </p:txBody>
      </p:sp>
      <p:sp>
        <p:nvSpPr>
          <p:cNvPr id="8" name="Text 6"/>
          <p:cNvSpPr/>
          <p:nvPr/>
        </p:nvSpPr>
        <p:spPr>
          <a:xfrm>
            <a:off x="475488" y="1901952"/>
            <a:ext cx="8229600" cy="621792"/>
          </a:xfrm>
          <a:prstGeom prst="rect">
            <a:avLst/>
          </a:prstGeom>
          <a:noFill/>
          <a:ln/>
        </p:spPr>
        <p:txBody>
          <a:bodyPr wrap="square" lIns="0" tIns="0" rIns="0" bIns="0" rtlCol="0" anchor="t"/>
          <a:lstStyle/>
          <a:p>
            <a:pPr marL="0" indent="0">
              <a:spcAft>
                <a:spcPts val="400"/>
              </a:spcAft>
              <a:buNone/>
            </a:pPr>
            <a:r>
              <a:rPr lang="en-US" sz="1250" dirty="0">
                <a:solidFill>
                  <a:srgbClr val="2D2D2D"/>
                </a:solidFill>
                <a:latin typeface="Arial" pitchFamily="34" charset="0"/>
                <a:ea typeface="Arial" pitchFamily="34" charset="-122"/>
                <a:cs typeface="Arial" pitchFamily="34" charset="-120"/>
              </a:rPr>
              <a:t>–  72–75% of VBAC attempts result in vaginal birth  ·  0.5–1% risk of uterine rupture (rare but serious)</a:t>
            </a:r>
            <a:endParaRPr lang="en-US" sz="1250" dirty="0"/>
          </a:p>
          <a:p>
            <a:pPr marL="0" indent="0">
              <a:spcAft>
                <a:spcPts val="400"/>
              </a:spcAft>
              <a:buNone/>
            </a:pPr>
            <a:r>
              <a:rPr lang="en-US" sz="1250" dirty="0">
                <a:solidFill>
                  <a:srgbClr val="2D2D2D"/>
                </a:solidFill>
                <a:latin typeface="Arial" pitchFamily="34" charset="0"/>
                <a:ea typeface="Arial" pitchFamily="34" charset="-122"/>
                <a:cs typeface="Arial" pitchFamily="34" charset="-120"/>
              </a:rPr>
              <a:t>–  Best candidates: one prior cesarean, low transverse incision, supportive provider, hospital equipped for emergency</a:t>
            </a:r>
            <a:endParaRPr lang="en-US" sz="1250" dirty="0"/>
          </a:p>
          <a:p>
            <a:pPr marL="0" indent="0">
              <a:buNone/>
            </a:pPr>
            <a:r>
              <a:rPr lang="en-US" sz="1250" dirty="0">
                <a:solidFill>
                  <a:srgbClr val="2D2D2D"/>
                </a:solidFill>
                <a:latin typeface="Arial" pitchFamily="34" charset="0"/>
                <a:ea typeface="Arial" pitchFamily="34" charset="-122"/>
                <a:cs typeface="Arial" pitchFamily="34" charset="-120"/>
              </a:rPr>
              <a:t>–  Laboring naturally is preferred — Pitocin slightly increases uterine rupture risk</a:t>
            </a:r>
            <a:endParaRPr lang="en-US" sz="1250" dirty="0"/>
          </a:p>
        </p:txBody>
      </p:sp>
      <p:sp>
        <p:nvSpPr>
          <p:cNvPr id="9" name="Shape 7"/>
          <p:cNvSpPr/>
          <p:nvPr/>
        </p:nvSpPr>
        <p:spPr>
          <a:xfrm>
            <a:off x="292608" y="2688336"/>
            <a:ext cx="4224528" cy="274320"/>
          </a:xfrm>
          <a:prstGeom prst="rect">
            <a:avLst/>
          </a:prstGeom>
          <a:solidFill>
            <a:srgbClr val="5E376C"/>
          </a:solidFill>
          <a:ln w="12700">
            <a:solidFill>
              <a:srgbClr val="5E376C"/>
            </a:solidFill>
            <a:prstDash val="solid"/>
          </a:ln>
        </p:spPr>
        <p:txBody>
          <a:bodyPr/>
          <a:p/>
        </p:txBody>
      </p:sp>
      <p:sp>
        <p:nvSpPr>
          <p:cNvPr id="10" name="Text 8"/>
          <p:cNvSpPr/>
          <p:nvPr/>
        </p:nvSpPr>
        <p:spPr>
          <a:xfrm>
            <a:off x="402336" y="2734056"/>
            <a:ext cx="4078224" cy="201168"/>
          </a:xfrm>
          <a:prstGeom prst="rect">
            <a:avLst/>
          </a:prstGeom>
          <a:noFill/>
          <a:ln/>
        </p:spPr>
        <p:txBody>
          <a:bodyPr wrap="square" lIns="0" tIns="0" rIns="0" bIns="0" rtlCol="0" anchor="ctr"/>
          <a:lstStyle/>
          <a:p>
            <a:pPr marL="0" indent="0">
              <a:buNone/>
            </a:pPr>
            <a:r>
              <a:rPr lang="en-US" sz="1050" b="1" dirty="0">
                <a:solidFill>
                  <a:srgbClr val="FFFFFF"/>
                </a:solidFill>
                <a:latin typeface="Arial" pitchFamily="34" charset="0"/>
                <a:ea typeface="Arial" pitchFamily="34" charset="-122"/>
                <a:cs typeface="Arial" pitchFamily="34" charset="-120"/>
              </a:rPr>
              <a:t>VBAC</a:t>
            </a:r>
            <a:endParaRPr lang="en-US" sz="1050" dirty="0"/>
          </a:p>
        </p:txBody>
      </p:sp>
      <p:sp>
        <p:nvSpPr>
          <p:cNvPr id="11" name="Shape 9"/>
          <p:cNvSpPr/>
          <p:nvPr/>
        </p:nvSpPr>
        <p:spPr>
          <a:xfrm>
            <a:off x="292608" y="2962656"/>
            <a:ext cx="4224528" cy="493776"/>
          </a:xfrm>
          <a:prstGeom prst="rect">
            <a:avLst/>
          </a:prstGeom>
          <a:solidFill>
            <a:srgbClr val="F5F1F8"/>
          </a:solidFill>
          <a:ln w="6350">
            <a:solidFill>
              <a:srgbClr val="C9B8D8"/>
            </a:solidFill>
            <a:prstDash val="solid"/>
          </a:ln>
        </p:spPr>
        <p:txBody>
          <a:bodyPr/>
          <a:p/>
        </p:txBody>
      </p:sp>
      <p:sp>
        <p:nvSpPr>
          <p:cNvPr id="12" name="Text 10"/>
          <p:cNvSpPr/>
          <p:nvPr/>
        </p:nvSpPr>
        <p:spPr>
          <a:xfrm>
            <a:off x="402336" y="3072384"/>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72–75% success rate</a:t>
            </a:r>
            <a:endParaRPr lang="en-US" sz="1200" dirty="0"/>
          </a:p>
        </p:txBody>
      </p:sp>
      <p:sp>
        <p:nvSpPr>
          <p:cNvPr id="13" name="Shape 11"/>
          <p:cNvSpPr/>
          <p:nvPr/>
        </p:nvSpPr>
        <p:spPr>
          <a:xfrm>
            <a:off x="292608" y="3456432"/>
            <a:ext cx="4224528" cy="493776"/>
          </a:xfrm>
          <a:prstGeom prst="rect">
            <a:avLst/>
          </a:prstGeom>
          <a:solidFill>
            <a:srgbClr val="FFFFFF"/>
          </a:solidFill>
          <a:ln w="6350">
            <a:solidFill>
              <a:srgbClr val="C9B8D8"/>
            </a:solidFill>
            <a:prstDash val="solid"/>
          </a:ln>
        </p:spPr>
        <p:txBody>
          <a:bodyPr/>
          <a:p/>
        </p:txBody>
      </p:sp>
      <p:sp>
        <p:nvSpPr>
          <p:cNvPr id="14" name="Text 12"/>
          <p:cNvSpPr/>
          <p:nvPr/>
        </p:nvSpPr>
        <p:spPr>
          <a:xfrm>
            <a:off x="402336" y="3566160"/>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Shorter recovery if successful</a:t>
            </a:r>
            <a:endParaRPr lang="en-US" sz="1200" dirty="0"/>
          </a:p>
        </p:txBody>
      </p:sp>
      <p:sp>
        <p:nvSpPr>
          <p:cNvPr id="15" name="Shape 13"/>
          <p:cNvSpPr/>
          <p:nvPr/>
        </p:nvSpPr>
        <p:spPr>
          <a:xfrm>
            <a:off x="292608" y="3950208"/>
            <a:ext cx="4224528" cy="493776"/>
          </a:xfrm>
          <a:prstGeom prst="rect">
            <a:avLst/>
          </a:prstGeom>
          <a:solidFill>
            <a:srgbClr val="F5F1F8"/>
          </a:solidFill>
          <a:ln w="6350">
            <a:solidFill>
              <a:srgbClr val="C9B8D8"/>
            </a:solidFill>
            <a:prstDash val="solid"/>
          </a:ln>
        </p:spPr>
        <p:txBody>
          <a:bodyPr/>
          <a:p/>
        </p:txBody>
      </p:sp>
      <p:sp>
        <p:nvSpPr>
          <p:cNvPr id="16" name="Text 14"/>
          <p:cNvSpPr/>
          <p:nvPr/>
        </p:nvSpPr>
        <p:spPr>
          <a:xfrm>
            <a:off x="402336" y="4059936"/>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Increases chance of future vaginal births</a:t>
            </a:r>
            <a:endParaRPr lang="en-US" sz="1200" dirty="0"/>
          </a:p>
        </p:txBody>
      </p:sp>
      <p:sp>
        <p:nvSpPr>
          <p:cNvPr id="17" name="Shape 15"/>
          <p:cNvSpPr/>
          <p:nvPr/>
        </p:nvSpPr>
        <p:spPr>
          <a:xfrm>
            <a:off x="292608" y="4443984"/>
            <a:ext cx="4224528" cy="493776"/>
          </a:xfrm>
          <a:prstGeom prst="rect">
            <a:avLst/>
          </a:prstGeom>
          <a:solidFill>
            <a:srgbClr val="FFFFFF"/>
          </a:solidFill>
          <a:ln w="6350">
            <a:solidFill>
              <a:srgbClr val="C9B8D8"/>
            </a:solidFill>
            <a:prstDash val="solid"/>
          </a:ln>
        </p:spPr>
        <p:txBody>
          <a:bodyPr/>
          <a:p/>
        </p:txBody>
      </p:sp>
      <p:sp>
        <p:nvSpPr>
          <p:cNvPr id="18" name="Text 16"/>
          <p:cNvSpPr/>
          <p:nvPr/>
        </p:nvSpPr>
        <p:spPr>
          <a:xfrm>
            <a:off x="402336" y="4553712"/>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Requires labor and continuous monitoring</a:t>
            </a:r>
            <a:endParaRPr lang="en-US" sz="1200" dirty="0"/>
          </a:p>
        </p:txBody>
      </p:sp>
      <p:sp>
        <p:nvSpPr>
          <p:cNvPr id="19" name="Shape 17"/>
          <p:cNvSpPr/>
          <p:nvPr/>
        </p:nvSpPr>
        <p:spPr>
          <a:xfrm>
            <a:off x="4626864" y="2688336"/>
            <a:ext cx="4224528" cy="274320"/>
          </a:xfrm>
          <a:prstGeom prst="rect">
            <a:avLst/>
          </a:prstGeom>
          <a:solidFill>
            <a:srgbClr val="7B4F8C"/>
          </a:solidFill>
          <a:ln w="12700">
            <a:solidFill>
              <a:srgbClr val="7B4F8C"/>
            </a:solidFill>
            <a:prstDash val="solid"/>
          </a:ln>
        </p:spPr>
        <p:txBody>
          <a:bodyPr/>
          <a:p/>
        </p:txBody>
      </p:sp>
      <p:sp>
        <p:nvSpPr>
          <p:cNvPr id="20" name="Text 18"/>
          <p:cNvSpPr/>
          <p:nvPr/>
        </p:nvSpPr>
        <p:spPr>
          <a:xfrm>
            <a:off x="4736592" y="2734056"/>
            <a:ext cx="4078224" cy="201168"/>
          </a:xfrm>
          <a:prstGeom prst="rect">
            <a:avLst/>
          </a:prstGeom>
          <a:noFill/>
          <a:ln/>
        </p:spPr>
        <p:txBody>
          <a:bodyPr wrap="square" lIns="0" tIns="0" rIns="0" bIns="0" rtlCol="0" anchor="ctr"/>
          <a:lstStyle/>
          <a:p>
            <a:pPr marL="0" indent="0">
              <a:buNone/>
            </a:pPr>
            <a:r>
              <a:rPr lang="en-US" sz="1050" b="1" dirty="0">
                <a:solidFill>
                  <a:srgbClr val="FFFFFF"/>
                </a:solidFill>
                <a:latin typeface="Arial" pitchFamily="34" charset="0"/>
                <a:ea typeface="Arial" pitchFamily="34" charset="-122"/>
                <a:cs typeface="Arial" pitchFamily="34" charset="-120"/>
              </a:rPr>
              <a:t>Elective Repeat Cesarean</a:t>
            </a:r>
            <a:endParaRPr lang="en-US" sz="1050" dirty="0"/>
          </a:p>
        </p:txBody>
      </p:sp>
      <p:sp>
        <p:nvSpPr>
          <p:cNvPr id="21" name="Shape 19"/>
          <p:cNvSpPr/>
          <p:nvPr/>
        </p:nvSpPr>
        <p:spPr>
          <a:xfrm>
            <a:off x="4626864" y="2962656"/>
            <a:ext cx="4224528" cy="493776"/>
          </a:xfrm>
          <a:prstGeom prst="rect">
            <a:avLst/>
          </a:prstGeom>
          <a:solidFill>
            <a:srgbClr val="F5F1F8"/>
          </a:solidFill>
          <a:ln w="6350">
            <a:solidFill>
              <a:srgbClr val="C9B8D8"/>
            </a:solidFill>
            <a:prstDash val="solid"/>
          </a:ln>
        </p:spPr>
        <p:txBody>
          <a:bodyPr/>
          <a:p/>
        </p:txBody>
      </p:sp>
      <p:sp>
        <p:nvSpPr>
          <p:cNvPr id="22" name="Text 20"/>
          <p:cNvSpPr/>
          <p:nvPr/>
        </p:nvSpPr>
        <p:spPr>
          <a:xfrm>
            <a:off x="4736592" y="3072384"/>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Known birth date, planned recovery</a:t>
            </a:r>
            <a:endParaRPr lang="en-US" sz="1200" dirty="0"/>
          </a:p>
        </p:txBody>
      </p:sp>
      <p:sp>
        <p:nvSpPr>
          <p:cNvPr id="23" name="Shape 21"/>
          <p:cNvSpPr/>
          <p:nvPr/>
        </p:nvSpPr>
        <p:spPr>
          <a:xfrm>
            <a:off x="4626864" y="3456432"/>
            <a:ext cx="4224528" cy="493776"/>
          </a:xfrm>
          <a:prstGeom prst="rect">
            <a:avLst/>
          </a:prstGeom>
          <a:solidFill>
            <a:srgbClr val="FFFFFF"/>
          </a:solidFill>
          <a:ln w="6350">
            <a:solidFill>
              <a:srgbClr val="C9B8D8"/>
            </a:solidFill>
            <a:prstDash val="solid"/>
          </a:ln>
        </p:spPr>
        <p:txBody>
          <a:bodyPr/>
          <a:p/>
        </p:txBody>
      </p:sp>
      <p:sp>
        <p:nvSpPr>
          <p:cNvPr id="24" name="Text 22"/>
          <p:cNvSpPr/>
          <p:nvPr/>
        </p:nvSpPr>
        <p:spPr>
          <a:xfrm>
            <a:off x="4736592" y="3566160"/>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No risk of rupture during birth</a:t>
            </a:r>
            <a:endParaRPr lang="en-US" sz="1200" dirty="0"/>
          </a:p>
        </p:txBody>
      </p:sp>
      <p:sp>
        <p:nvSpPr>
          <p:cNvPr id="25" name="Shape 23"/>
          <p:cNvSpPr/>
          <p:nvPr/>
        </p:nvSpPr>
        <p:spPr>
          <a:xfrm>
            <a:off x="4626864" y="3950208"/>
            <a:ext cx="4224528" cy="493776"/>
          </a:xfrm>
          <a:prstGeom prst="rect">
            <a:avLst/>
          </a:prstGeom>
          <a:solidFill>
            <a:srgbClr val="F5F1F8"/>
          </a:solidFill>
          <a:ln w="6350">
            <a:solidFill>
              <a:srgbClr val="C9B8D8"/>
            </a:solidFill>
            <a:prstDash val="solid"/>
          </a:ln>
        </p:spPr>
        <p:txBody>
          <a:bodyPr/>
          <a:p/>
        </p:txBody>
      </p:sp>
      <p:sp>
        <p:nvSpPr>
          <p:cNvPr id="26" name="Text 24"/>
          <p:cNvSpPr/>
          <p:nvPr/>
        </p:nvSpPr>
        <p:spPr>
          <a:xfrm>
            <a:off x="4736592" y="4059936"/>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Longer initial recovery</a:t>
            </a:r>
            <a:endParaRPr lang="en-US" sz="1200" dirty="0"/>
          </a:p>
        </p:txBody>
      </p:sp>
      <p:sp>
        <p:nvSpPr>
          <p:cNvPr id="27" name="Shape 25"/>
          <p:cNvSpPr/>
          <p:nvPr/>
        </p:nvSpPr>
        <p:spPr>
          <a:xfrm>
            <a:off x="4626864" y="4443984"/>
            <a:ext cx="4224528" cy="493776"/>
          </a:xfrm>
          <a:prstGeom prst="rect">
            <a:avLst/>
          </a:prstGeom>
          <a:solidFill>
            <a:srgbClr val="FFFFFF"/>
          </a:solidFill>
          <a:ln w="6350">
            <a:solidFill>
              <a:srgbClr val="C9B8D8"/>
            </a:solidFill>
            <a:prstDash val="solid"/>
          </a:ln>
        </p:spPr>
        <p:txBody>
          <a:bodyPr/>
          <a:p/>
        </p:txBody>
      </p:sp>
      <p:sp>
        <p:nvSpPr>
          <p:cNvPr id="28" name="Text 26"/>
          <p:cNvSpPr/>
          <p:nvPr/>
        </p:nvSpPr>
        <p:spPr>
          <a:xfrm>
            <a:off x="4736592" y="4553712"/>
            <a:ext cx="4041648" cy="329184"/>
          </a:xfrm>
          <a:prstGeom prst="rect">
            <a:avLst/>
          </a:prstGeom>
          <a:noFill/>
          <a:ln/>
        </p:spPr>
        <p:txBody>
          <a:bodyPr wrap="square" lIns="0" tIns="0" rIns="0" bIns="0" rtlCol="0" anchor="t"/>
          <a:lstStyle/>
          <a:p>
            <a:pPr marL="0" indent="0">
              <a:buNone/>
            </a:pPr>
            <a:r>
              <a:rPr lang="en-US" sz="1200" dirty="0">
                <a:solidFill>
                  <a:srgbClr val="2D2D2D"/>
                </a:solidFill>
                <a:latin typeface="Arial" pitchFamily="34" charset="0"/>
                <a:ea typeface="Arial" pitchFamily="34" charset="-122"/>
                <a:cs typeface="Arial" pitchFamily="34" charset="-120"/>
              </a:rPr>
              <a:t>Future births likely also cesarean</a:t>
            </a:r>
            <a:endParaRPr lang="en-US" sz="120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900" b="1" kern="0" spc="200" dirty="0">
                <a:solidFill>
                  <a:srgbClr val="5E376C"/>
                </a:solidFill>
                <a:latin typeface="Arial" pitchFamily="34" charset="0"/>
                <a:ea typeface="Arial" pitchFamily="34" charset="-122"/>
                <a:cs typeface="Arial" pitchFamily="34" charset="-120"/>
              </a:rPr>
              <a:t>CASE STUDY  ·  10 MINUTES</a:t>
            </a:r>
            <a:endParaRPr lang="en-US" sz="900" dirty="0"/>
          </a:p>
        </p:txBody>
      </p:sp>
      <p:sp>
        <p:nvSpPr>
          <p:cNvPr id="5" name="Text 3"/>
          <p:cNvSpPr/>
          <p:nvPr/>
        </p:nvSpPr>
        <p:spPr>
          <a:xfrm>
            <a:off x="457200" y="493776"/>
            <a:ext cx="8229600" cy="603504"/>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What Would You Do?</a:t>
            </a:r>
            <a:endParaRPr lang="en-US" sz="3200" dirty="0"/>
          </a:p>
        </p:txBody>
      </p:sp>
      <p:sp>
        <p:nvSpPr>
          <p:cNvPr id="6" name="Shape 4"/>
          <p:cNvSpPr/>
          <p:nvPr/>
        </p:nvSpPr>
        <p:spPr>
          <a:xfrm>
            <a:off x="457200" y="1207008"/>
            <a:ext cx="8229600" cy="1115568"/>
          </a:xfrm>
          <a:prstGeom prst="rect">
            <a:avLst/>
          </a:prstGeom>
          <a:solidFill>
            <a:srgbClr val="FDF0F7"/>
          </a:solidFill>
          <a:ln w="12700">
            <a:solidFill>
              <a:srgbClr val="B5166B"/>
            </a:solidFill>
            <a:prstDash val="solid"/>
          </a:ln>
        </p:spPr>
        <p:txBody>
          <a:bodyPr/>
          <a:p/>
        </p:txBody>
      </p:sp>
      <p:sp>
        <p:nvSpPr>
          <p:cNvPr id="7" name="Shape 5"/>
          <p:cNvSpPr/>
          <p:nvPr/>
        </p:nvSpPr>
        <p:spPr>
          <a:xfrm>
            <a:off x="457200" y="1207008"/>
            <a:ext cx="64008" cy="1115568"/>
          </a:xfrm>
          <a:prstGeom prst="rect">
            <a:avLst/>
          </a:prstGeom>
          <a:solidFill>
            <a:srgbClr val="B5166B"/>
          </a:solidFill>
          <a:ln w="12700">
            <a:solidFill>
              <a:srgbClr val="B5166B"/>
            </a:solidFill>
            <a:prstDash val="solid"/>
          </a:ln>
        </p:spPr>
        <p:txBody>
          <a:bodyPr/>
          <a:p/>
        </p:txBody>
      </p:sp>
      <p:sp>
        <p:nvSpPr>
          <p:cNvPr id="8" name="Text 6"/>
          <p:cNvSpPr/>
          <p:nvPr/>
        </p:nvSpPr>
        <p:spPr>
          <a:xfrm>
            <a:off x="640080" y="1316736"/>
            <a:ext cx="7863840" cy="237744"/>
          </a:xfrm>
          <a:prstGeom prst="rect">
            <a:avLst/>
          </a:prstGeom>
          <a:noFill/>
          <a:ln/>
        </p:spPr>
        <p:txBody>
          <a:bodyPr wrap="square" lIns="0" tIns="0" rIns="0" bIns="0" rtlCol="0" anchor="ctr"/>
          <a:lstStyle/>
          <a:p>
            <a:pPr marL="0" indent="0">
              <a:buNone/>
            </a:pPr>
            <a:r>
              <a:rPr lang="en-US" sz="1100" b="1" dirty="0">
                <a:solidFill>
                  <a:srgbClr val="B5166B"/>
                </a:solidFill>
                <a:latin typeface="Arial" pitchFamily="34" charset="0"/>
                <a:ea typeface="Arial" pitchFamily="34" charset="-122"/>
                <a:cs typeface="Arial" pitchFamily="34" charset="-120"/>
              </a:rPr>
              <a:t>The Scenario:</a:t>
            </a:r>
            <a:endParaRPr lang="en-US" sz="1100" dirty="0"/>
          </a:p>
        </p:txBody>
      </p:sp>
      <p:sp>
        <p:nvSpPr>
          <p:cNvPr id="9" name="Text 7"/>
          <p:cNvSpPr/>
          <p:nvPr/>
        </p:nvSpPr>
        <p:spPr>
          <a:xfrm>
            <a:off x="640080" y="1591056"/>
            <a:ext cx="7863840" cy="658368"/>
          </a:xfrm>
          <a:prstGeom prst="rect">
            <a:avLst/>
          </a:prstGeom>
          <a:noFill/>
          <a:ln/>
        </p:spPr>
        <p:txBody>
          <a:bodyPr wrap="square" lIns="0" tIns="0" rIns="0" bIns="0" rtlCol="0" anchor="t"/>
          <a:lstStyle/>
          <a:p>
            <a:pPr marL="0" indent="0" algn="l">
              <a:lnSpc>
                <a:spcPct val="135000"/>
              </a:lnSpc>
              <a:buNone/>
            </a:pPr>
            <a:r>
              <a:rPr lang="en-US" sz="1250" i="1" dirty="0">
                <a:solidFill>
                  <a:srgbClr val="2D2D2D"/>
                </a:solidFill>
                <a:latin typeface="Georgia" pitchFamily="34" charset="0"/>
                <a:ea typeface="Georgia" pitchFamily="34" charset="-122"/>
                <a:cs typeface="Georgia" pitchFamily="34" charset="-120"/>
              </a:rPr>
              <a:t>Your client has been in labor for 34 hours. She planned an unmedicated birth and has been doing beautifully. But for the last 6 hours, her cervix hasn’t changed. The provider is now recommending a cesarean. She’s sobbing. Her partner looks panicked.</a:t>
            </a:r>
            <a:endParaRPr lang="en-US" sz="1250" dirty="0"/>
          </a:p>
        </p:txBody>
      </p:sp>
      <p:sp>
        <p:nvSpPr>
          <p:cNvPr id="10" name="Text 8"/>
          <p:cNvSpPr/>
          <p:nvPr/>
        </p:nvSpPr>
        <p:spPr>
          <a:xfrm>
            <a:off x="457200" y="2487168"/>
            <a:ext cx="8229600" cy="256032"/>
          </a:xfrm>
          <a:prstGeom prst="rect">
            <a:avLst/>
          </a:prstGeom>
          <a:noFill/>
          <a:ln/>
        </p:spPr>
        <p:txBody>
          <a:bodyPr wrap="square" lIns="0" tIns="0" rIns="0" bIns="0" rtlCol="0" anchor="ctr"/>
          <a:lstStyle/>
          <a:p>
            <a:pPr marL="0" indent="0">
              <a:buNone/>
            </a:pPr>
            <a:r>
              <a:rPr lang="en-US" sz="1200" b="1" dirty="0">
                <a:solidFill>
                  <a:srgbClr val="5E376C"/>
                </a:solidFill>
                <a:latin typeface="Arial" pitchFamily="34" charset="0"/>
                <a:ea typeface="Arial" pitchFamily="34" charset="-122"/>
                <a:cs typeface="Arial" pitchFamily="34" charset="-120"/>
              </a:rPr>
              <a:t>Discuss with your group:</a:t>
            </a:r>
            <a:endParaRPr lang="en-US" sz="1200" dirty="0"/>
          </a:p>
        </p:txBody>
      </p:sp>
      <p:sp>
        <p:nvSpPr>
          <p:cNvPr id="11" name="Text 9"/>
          <p:cNvSpPr/>
          <p:nvPr/>
        </p:nvSpPr>
        <p:spPr>
          <a:xfrm>
            <a:off x="457200" y="2779776"/>
            <a:ext cx="8229600" cy="1609344"/>
          </a:xfrm>
          <a:prstGeom prst="rect">
            <a:avLst/>
          </a:prstGeom>
          <a:noFill/>
          <a:ln/>
        </p:spPr>
        <p:txBody>
          <a:bodyPr wrap="square" lIns="0" tIns="0" rIns="0" bIns="0" rtlCol="0" anchor="t"/>
          <a:lstStyle/>
          <a:p>
            <a:pPr marL="0" indent="0">
              <a:spcAft>
                <a:spcPts val="500"/>
              </a:spcAft>
              <a:buNone/>
            </a:pPr>
            <a:r>
              <a:rPr lang="en-US" sz="1300" dirty="0">
                <a:solidFill>
                  <a:srgbClr val="2D2D2D"/>
                </a:solidFill>
                <a:latin typeface="Arial" pitchFamily="34" charset="0"/>
                <a:ea typeface="Arial" pitchFamily="34" charset="-122"/>
                <a:cs typeface="Arial" pitchFamily="34" charset="-120"/>
              </a:rPr>
              <a:t>–  What do you say to her in this moment — word for word?</a:t>
            </a:r>
            <a:endParaRPr lang="en-US" sz="1300" dirty="0"/>
          </a:p>
          <a:p>
            <a:pPr marL="0" indent="0">
              <a:spcAft>
                <a:spcPts val="500"/>
              </a:spcAft>
              <a:buNone/>
            </a:pPr>
            <a:r>
              <a:rPr lang="en-US" sz="1300" dirty="0">
                <a:solidFill>
                  <a:srgbClr val="2D2D2D"/>
                </a:solidFill>
                <a:latin typeface="Arial" pitchFamily="34" charset="0"/>
                <a:ea typeface="Arial" pitchFamily="34" charset="-122"/>
                <a:cs typeface="Arial" pitchFamily="34" charset="-120"/>
              </a:rPr>
              <a:t>–  What do you say to the partner?</a:t>
            </a:r>
            <a:endParaRPr lang="en-US" sz="1300" dirty="0"/>
          </a:p>
          <a:p>
            <a:pPr marL="0" indent="0">
              <a:spcAft>
                <a:spcPts val="500"/>
              </a:spcAft>
              <a:buNone/>
            </a:pPr>
            <a:r>
              <a:rPr lang="en-US" sz="1300" dirty="0">
                <a:solidFill>
                  <a:srgbClr val="2D2D2D"/>
                </a:solidFill>
                <a:latin typeface="Arial" pitchFamily="34" charset="0"/>
                <a:ea typeface="Arial" pitchFamily="34" charset="-122"/>
                <a:cs typeface="Arial" pitchFamily="34" charset="-120"/>
              </a:rPr>
              <a:t>–  If she asks “Should I do it?” — how do you respond without answering the medical question?</a:t>
            </a:r>
            <a:endParaRPr lang="en-US" sz="1300" dirty="0"/>
          </a:p>
          <a:p>
            <a:pPr marL="0" indent="0">
              <a:spcAft>
                <a:spcPts val="500"/>
              </a:spcAft>
              <a:buNone/>
            </a:pPr>
            <a:r>
              <a:rPr lang="en-US" sz="1300" dirty="0">
                <a:solidFill>
                  <a:srgbClr val="2D2D2D"/>
                </a:solidFill>
                <a:latin typeface="Arial" pitchFamily="34" charset="0"/>
                <a:ea typeface="Arial" pitchFamily="34" charset="-122"/>
                <a:cs typeface="Arial" pitchFamily="34" charset="-120"/>
              </a:rPr>
              <a:t>–  How does your support look different in the OR waiting room vs. in recovery?</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100" kern="0" spc="300" dirty="0">
                <a:solidFill>
                  <a:srgbClr val="C9B8D8"/>
                </a:solidFill>
                <a:latin typeface="Arial" pitchFamily="34" charset="0"/>
                <a:ea typeface="Arial" pitchFamily="34" charset="-122"/>
                <a:cs typeface="Arial" pitchFamily="34" charset="-120"/>
              </a:rPr>
              <a:t>SECTION SEVEN</a:t>
            </a:r>
            <a:endParaRPr lang="en-US" sz="11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Perinatal Loss—</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An Introduction</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doula work doesn’t end when hope shatters.</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In the moments when words fail, presence becomes your most powerful tool.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PERINATAL LOSS  ·  ORIENTATION</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Why We Cover This — and What It Includes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Grief is not proportional to the size of the baby or length of pregnancy. Every loss is profound.</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Types of perinatal loss</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Miscarriage — before 20 weeks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Stillbirth — fetal death at 20+ weeks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Neonatal death — within 28 days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Life-limiting diagnosis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TFMR — termination for medical reasons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Loss of a twin / multiple</a:t>
            </a:r>
            <a:endParaRPr lang="en-US" sz="1250" dirty="0"/>
          </a:p>
        </p:txBody>
      </p:sp>
      <p:sp>
        <p:nvSpPr>
          <p:cNvPr id="9" name="Shape 7"/>
          <p:cNvSpPr/>
          <p:nvPr/>
        </p:nvSpPr>
        <p:spPr>
          <a:xfrm>
            <a:off x="4663440" y="1536192"/>
            <a:ext cx="4224528" cy="3310128"/>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3310128"/>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Why Doulas Need This Training</a:t>
            </a:r>
            <a:endParaRPr lang="en-US" sz="1100" dirty="0"/>
          </a:p>
        </p:txBody>
      </p:sp>
      <p:sp>
        <p:nvSpPr>
          <p:cNvPr id="12" name="Text 10"/>
          <p:cNvSpPr/>
          <p:nvPr/>
        </p:nvSpPr>
        <p:spPr>
          <a:xfrm>
            <a:off x="4828032" y="1956816"/>
            <a:ext cx="3858768" cy="2743200"/>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You WILL encounter loss during your career — it is not rare</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Families remember forever how they were treated in these moments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Your presence, language, and actions either help or cause harm</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You do not need to fix grief — you need to witness it</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Doulas who are unprepared often disappear when they’re needed most</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This training protects your clients and protects you</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PERINATAL LOSS  ·  LANGUAGE</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Language — What Helps vs. What Harms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Families will remember what you said forever. Choose your words with that weight.</a:t>
            </a:r>
            <a:endParaRPr lang="en-US" sz="135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402336" y="1572768"/>
            <a:ext cx="4114800" cy="219456"/>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SAY THIS</a:t>
            </a:r>
            <a:endParaRPr lang="en-US" sz="1100" dirty="0"/>
          </a:p>
        </p:txBody>
      </p:sp>
      <p:sp>
        <p:nvSpPr>
          <p:cNvPr id="7" name="Text 5"/>
          <p:cNvSpPr/>
          <p:nvPr/>
        </p:nvSpPr>
        <p:spPr>
          <a:xfrm>
            <a:off x="4645152" y="1572768"/>
            <a:ext cx="4114800" cy="219456"/>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NEVER SAY THIS</a:t>
            </a:r>
            <a:endParaRPr lang="en-US" sz="1100" dirty="0"/>
          </a:p>
        </p:txBody>
      </p:sp>
      <p:sp>
        <p:nvSpPr>
          <p:cNvPr id="8" name="Shape 6"/>
          <p:cNvSpPr/>
          <p:nvPr/>
        </p:nvSpPr>
        <p:spPr>
          <a:xfrm>
            <a:off x="292608" y="1828800"/>
            <a:ext cx="4224528" cy="530352"/>
          </a:xfrm>
          <a:prstGeom prst="rect">
            <a:avLst/>
          </a:prstGeom>
          <a:solidFill>
            <a:srgbClr val="F5F1F8"/>
          </a:solidFill>
          <a:ln w="6350">
            <a:solidFill>
              <a:srgbClr val="C9B8D8"/>
            </a:solidFill>
            <a:prstDash val="solid"/>
          </a:ln>
        </p:spPr>
        <p:txBody>
          <a:bodyPr/>
          <a:p/>
        </p:txBody>
      </p:sp>
      <p:sp>
        <p:nvSpPr>
          <p:cNvPr id="9" name="Shape 7"/>
          <p:cNvSpPr/>
          <p:nvPr/>
        </p:nvSpPr>
        <p:spPr>
          <a:xfrm>
            <a:off x="4517136" y="1828800"/>
            <a:ext cx="4334256" cy="530352"/>
          </a:xfrm>
          <a:prstGeom prst="rect">
            <a:avLst/>
          </a:prstGeom>
          <a:solidFill>
            <a:srgbClr val="FFF5F5"/>
          </a:solidFill>
          <a:ln w="6350">
            <a:solidFill>
              <a:srgbClr val="F5C6CB"/>
            </a:solidFill>
            <a:prstDash val="solid"/>
          </a:ln>
        </p:spPr>
        <p:txBody>
          <a:bodyPr/>
          <a:p/>
        </p:txBody>
      </p:sp>
      <p:sp>
        <p:nvSpPr>
          <p:cNvPr id="10" name="Text 8"/>
          <p:cNvSpPr/>
          <p:nvPr/>
        </p:nvSpPr>
        <p:spPr>
          <a:xfrm>
            <a:off x="402336" y="1920240"/>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I’m so sorry.</a:t>
            </a:r>
            <a:endParaRPr lang="en-US" sz="1150" dirty="0"/>
          </a:p>
        </p:txBody>
      </p:sp>
      <p:sp>
        <p:nvSpPr>
          <p:cNvPr id="11" name="Text 9"/>
          <p:cNvSpPr/>
          <p:nvPr/>
        </p:nvSpPr>
        <p:spPr>
          <a:xfrm>
            <a:off x="4626864" y="1920240"/>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Everything happens for a reason.</a:t>
            </a:r>
            <a:endParaRPr lang="en-US" sz="1150" dirty="0"/>
          </a:p>
        </p:txBody>
      </p:sp>
      <p:sp>
        <p:nvSpPr>
          <p:cNvPr id="12" name="Shape 10"/>
          <p:cNvSpPr/>
          <p:nvPr/>
        </p:nvSpPr>
        <p:spPr>
          <a:xfrm>
            <a:off x="292608" y="2359152"/>
            <a:ext cx="4224528" cy="530352"/>
          </a:xfrm>
          <a:prstGeom prst="rect">
            <a:avLst/>
          </a:prstGeom>
          <a:solidFill>
            <a:srgbClr val="FFFFFF"/>
          </a:solidFill>
          <a:ln w="6350">
            <a:solidFill>
              <a:srgbClr val="C9B8D8"/>
            </a:solidFill>
            <a:prstDash val="solid"/>
          </a:ln>
        </p:spPr>
        <p:txBody>
          <a:bodyPr/>
          <a:p/>
        </p:txBody>
      </p:sp>
      <p:sp>
        <p:nvSpPr>
          <p:cNvPr id="13" name="Shape 11"/>
          <p:cNvSpPr/>
          <p:nvPr/>
        </p:nvSpPr>
        <p:spPr>
          <a:xfrm>
            <a:off x="4517136" y="2359152"/>
            <a:ext cx="4334256" cy="530352"/>
          </a:xfrm>
          <a:prstGeom prst="rect">
            <a:avLst/>
          </a:prstGeom>
          <a:solidFill>
            <a:srgbClr val="FFF5F5"/>
          </a:solidFill>
          <a:ln w="6350">
            <a:solidFill>
              <a:srgbClr val="F5C6CB"/>
            </a:solidFill>
            <a:prstDash val="solid"/>
          </a:ln>
        </p:spPr>
        <p:txBody>
          <a:bodyPr/>
          <a:p/>
        </p:txBody>
      </p:sp>
      <p:sp>
        <p:nvSpPr>
          <p:cNvPr id="14" name="Text 12"/>
          <p:cNvSpPr/>
          <p:nvPr/>
        </p:nvSpPr>
        <p:spPr>
          <a:xfrm>
            <a:off x="402336" y="2450592"/>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Your baby is beautiful.</a:t>
            </a:r>
            <a:endParaRPr lang="en-US" sz="1150" dirty="0"/>
          </a:p>
        </p:txBody>
      </p:sp>
      <p:sp>
        <p:nvSpPr>
          <p:cNvPr id="15" name="Text 13"/>
          <p:cNvSpPr/>
          <p:nvPr/>
        </p:nvSpPr>
        <p:spPr>
          <a:xfrm>
            <a:off x="4626864" y="2450592"/>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God needed another angel.</a:t>
            </a:r>
            <a:endParaRPr lang="en-US" sz="1150" dirty="0"/>
          </a:p>
        </p:txBody>
      </p:sp>
      <p:sp>
        <p:nvSpPr>
          <p:cNvPr id="16" name="Shape 14"/>
          <p:cNvSpPr/>
          <p:nvPr/>
        </p:nvSpPr>
        <p:spPr>
          <a:xfrm>
            <a:off x="292608" y="2889504"/>
            <a:ext cx="4224528" cy="530352"/>
          </a:xfrm>
          <a:prstGeom prst="rect">
            <a:avLst/>
          </a:prstGeom>
          <a:solidFill>
            <a:srgbClr val="F5F1F8"/>
          </a:solidFill>
          <a:ln w="6350">
            <a:solidFill>
              <a:srgbClr val="C9B8D8"/>
            </a:solidFill>
            <a:prstDash val="solid"/>
          </a:ln>
        </p:spPr>
        <p:txBody>
          <a:bodyPr/>
          <a:p/>
        </p:txBody>
      </p:sp>
      <p:sp>
        <p:nvSpPr>
          <p:cNvPr id="17" name="Shape 15"/>
          <p:cNvSpPr/>
          <p:nvPr/>
        </p:nvSpPr>
        <p:spPr>
          <a:xfrm>
            <a:off x="4517136" y="2889504"/>
            <a:ext cx="4334256" cy="530352"/>
          </a:xfrm>
          <a:prstGeom prst="rect">
            <a:avLst/>
          </a:prstGeom>
          <a:solidFill>
            <a:srgbClr val="FFF5F5"/>
          </a:solidFill>
          <a:ln w="6350">
            <a:solidFill>
              <a:srgbClr val="F5C6CB"/>
            </a:solidFill>
            <a:prstDash val="solid"/>
          </a:ln>
        </p:spPr>
        <p:txBody>
          <a:bodyPr/>
          <a:p/>
        </p:txBody>
      </p:sp>
      <p:sp>
        <p:nvSpPr>
          <p:cNvPr id="18" name="Text 16"/>
          <p:cNvSpPr/>
          <p:nvPr/>
        </p:nvSpPr>
        <p:spPr>
          <a:xfrm>
            <a:off x="402336" y="2980944"/>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There’s nothing I can say. But I’m here.</a:t>
            </a:r>
            <a:endParaRPr lang="en-US" sz="1150" dirty="0"/>
          </a:p>
        </p:txBody>
      </p:sp>
      <p:sp>
        <p:nvSpPr>
          <p:cNvPr id="19" name="Text 17"/>
          <p:cNvSpPr/>
          <p:nvPr/>
        </p:nvSpPr>
        <p:spPr>
          <a:xfrm>
            <a:off x="4626864" y="2980944"/>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At least you can get pregnant again.</a:t>
            </a:r>
            <a:endParaRPr lang="en-US" sz="1150" dirty="0"/>
          </a:p>
        </p:txBody>
      </p:sp>
      <p:sp>
        <p:nvSpPr>
          <p:cNvPr id="20" name="Shape 18"/>
          <p:cNvSpPr/>
          <p:nvPr/>
        </p:nvSpPr>
        <p:spPr>
          <a:xfrm>
            <a:off x="292608" y="3419856"/>
            <a:ext cx="4224528" cy="530352"/>
          </a:xfrm>
          <a:prstGeom prst="rect">
            <a:avLst/>
          </a:prstGeom>
          <a:solidFill>
            <a:srgbClr val="FFFFFF"/>
          </a:solidFill>
          <a:ln w="6350">
            <a:solidFill>
              <a:srgbClr val="C9B8D8"/>
            </a:solidFill>
            <a:prstDash val="solid"/>
          </a:ln>
        </p:spPr>
        <p:txBody>
          <a:bodyPr/>
          <a:p/>
        </p:txBody>
      </p:sp>
      <p:sp>
        <p:nvSpPr>
          <p:cNvPr id="21" name="Shape 19"/>
          <p:cNvSpPr/>
          <p:nvPr/>
        </p:nvSpPr>
        <p:spPr>
          <a:xfrm>
            <a:off x="4517136" y="3419856"/>
            <a:ext cx="4334256" cy="530352"/>
          </a:xfrm>
          <a:prstGeom prst="rect">
            <a:avLst/>
          </a:prstGeom>
          <a:solidFill>
            <a:srgbClr val="FFF5F5"/>
          </a:solidFill>
          <a:ln w="6350">
            <a:solidFill>
              <a:srgbClr val="F5C6CB"/>
            </a:solidFill>
            <a:prstDash val="solid"/>
          </a:ln>
        </p:spPr>
        <p:txBody>
          <a:bodyPr/>
          <a:p/>
        </p:txBody>
      </p:sp>
      <p:sp>
        <p:nvSpPr>
          <p:cNvPr id="22" name="Text 20"/>
          <p:cNvSpPr/>
          <p:nvPr/>
        </p:nvSpPr>
        <p:spPr>
          <a:xfrm>
            <a:off x="402336" y="3511296"/>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Tell me about [baby’s name].</a:t>
            </a:r>
            <a:endParaRPr lang="en-US" sz="1150" dirty="0"/>
          </a:p>
        </p:txBody>
      </p:sp>
      <p:sp>
        <p:nvSpPr>
          <p:cNvPr id="23" name="Text 21"/>
          <p:cNvSpPr/>
          <p:nvPr/>
        </p:nvSpPr>
        <p:spPr>
          <a:xfrm>
            <a:off x="4626864" y="3511296"/>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At least you have other children.</a:t>
            </a:r>
            <a:endParaRPr lang="en-US" sz="1150" dirty="0"/>
          </a:p>
        </p:txBody>
      </p:sp>
      <p:sp>
        <p:nvSpPr>
          <p:cNvPr id="24" name="Shape 22"/>
          <p:cNvSpPr/>
          <p:nvPr/>
        </p:nvSpPr>
        <p:spPr>
          <a:xfrm>
            <a:off x="292608" y="3950208"/>
            <a:ext cx="4224528" cy="530352"/>
          </a:xfrm>
          <a:prstGeom prst="rect">
            <a:avLst/>
          </a:prstGeom>
          <a:solidFill>
            <a:srgbClr val="F5F1F8"/>
          </a:solidFill>
          <a:ln w="6350">
            <a:solidFill>
              <a:srgbClr val="C9B8D8"/>
            </a:solidFill>
            <a:prstDash val="solid"/>
          </a:ln>
        </p:spPr>
        <p:txBody>
          <a:bodyPr/>
          <a:p/>
        </p:txBody>
      </p:sp>
      <p:sp>
        <p:nvSpPr>
          <p:cNvPr id="25" name="Shape 23"/>
          <p:cNvSpPr/>
          <p:nvPr/>
        </p:nvSpPr>
        <p:spPr>
          <a:xfrm>
            <a:off x="4517136" y="3950208"/>
            <a:ext cx="4334256" cy="530352"/>
          </a:xfrm>
          <a:prstGeom prst="rect">
            <a:avLst/>
          </a:prstGeom>
          <a:solidFill>
            <a:srgbClr val="FFF5F5"/>
          </a:solidFill>
          <a:ln w="6350">
            <a:solidFill>
              <a:srgbClr val="F5C6CB"/>
            </a:solidFill>
            <a:prstDash val="solid"/>
          </a:ln>
        </p:spPr>
        <p:txBody>
          <a:bodyPr/>
          <a:p/>
        </p:txBody>
      </p:sp>
      <p:sp>
        <p:nvSpPr>
          <p:cNvPr id="26" name="Text 24"/>
          <p:cNvSpPr/>
          <p:nvPr/>
        </p:nvSpPr>
        <p:spPr>
          <a:xfrm>
            <a:off x="402336" y="4041648"/>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It’s okay to feel whatever you feel.</a:t>
            </a:r>
            <a:endParaRPr lang="en-US" sz="1150" dirty="0"/>
          </a:p>
        </p:txBody>
      </p:sp>
      <p:sp>
        <p:nvSpPr>
          <p:cNvPr id="27" name="Text 25"/>
          <p:cNvSpPr/>
          <p:nvPr/>
        </p:nvSpPr>
        <p:spPr>
          <a:xfrm>
            <a:off x="4626864" y="4041648"/>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I know how you feel.</a:t>
            </a:r>
            <a:endParaRPr lang="en-US" sz="1150" dirty="0"/>
          </a:p>
        </p:txBody>
      </p:sp>
      <p:sp>
        <p:nvSpPr>
          <p:cNvPr id="28" name="Shape 26"/>
          <p:cNvSpPr/>
          <p:nvPr/>
        </p:nvSpPr>
        <p:spPr>
          <a:xfrm>
            <a:off x="292608" y="4480560"/>
            <a:ext cx="4224528" cy="530352"/>
          </a:xfrm>
          <a:prstGeom prst="rect">
            <a:avLst/>
          </a:prstGeom>
          <a:solidFill>
            <a:srgbClr val="FFFFFF"/>
          </a:solidFill>
          <a:ln w="6350">
            <a:solidFill>
              <a:srgbClr val="C9B8D8"/>
            </a:solidFill>
            <a:prstDash val="solid"/>
          </a:ln>
        </p:spPr>
        <p:txBody>
          <a:bodyPr/>
          <a:p/>
        </p:txBody>
      </p:sp>
      <p:sp>
        <p:nvSpPr>
          <p:cNvPr id="29" name="Shape 27"/>
          <p:cNvSpPr/>
          <p:nvPr/>
        </p:nvSpPr>
        <p:spPr>
          <a:xfrm>
            <a:off x="4517136" y="4480560"/>
            <a:ext cx="4334256" cy="530352"/>
          </a:xfrm>
          <a:prstGeom prst="rect">
            <a:avLst/>
          </a:prstGeom>
          <a:solidFill>
            <a:srgbClr val="FFF5F5"/>
          </a:solidFill>
          <a:ln w="6350">
            <a:solidFill>
              <a:srgbClr val="F5C6CB"/>
            </a:solidFill>
            <a:prstDash val="solid"/>
          </a:ln>
        </p:spPr>
        <p:txBody>
          <a:bodyPr/>
          <a:p/>
        </p:txBody>
      </p:sp>
      <p:sp>
        <p:nvSpPr>
          <p:cNvPr id="30" name="Text 28"/>
          <p:cNvSpPr/>
          <p:nvPr/>
        </p:nvSpPr>
        <p:spPr>
          <a:xfrm>
            <a:off x="402336" y="4572000"/>
            <a:ext cx="4005072" cy="402336"/>
          </a:xfrm>
          <a:prstGeom prst="rect">
            <a:avLst/>
          </a:prstGeom>
          <a:noFill/>
          <a:ln/>
        </p:spPr>
        <p:txBody>
          <a:bodyPr wrap="square" lIns="0" tIns="0" rIns="0" bIns="0" rtlCol="0" anchor="t"/>
          <a:lstStyle/>
          <a:p>
            <a:pPr marL="0" indent="0">
              <a:buNone/>
            </a:pPr>
            <a:r>
              <a:rPr lang="en-US" sz="1150" i="1" dirty="0">
                <a:solidFill>
                  <a:srgbClr val="2D2D2D"/>
                </a:solidFill>
                <a:latin typeface="Georgia" pitchFamily="34" charset="0"/>
                <a:ea typeface="Georgia" pitchFamily="34" charset="-122"/>
                <a:cs typeface="Georgia" pitchFamily="34" charset="-120"/>
              </a:rPr>
              <a:t>What do you need right now?</a:t>
            </a:r>
            <a:endParaRPr lang="en-US" sz="1150" dirty="0"/>
          </a:p>
        </p:txBody>
      </p:sp>
      <p:sp>
        <p:nvSpPr>
          <p:cNvPr id="31" name="Text 29"/>
          <p:cNvSpPr/>
          <p:nvPr/>
        </p:nvSpPr>
        <p:spPr>
          <a:xfrm>
            <a:off x="4626864" y="4572000"/>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They’re in a better place now.</a:t>
            </a:r>
            <a:endParaRPr lang="en-US" sz="1150" dirty="0"/>
          </a:p>
        </p:txBody>
      </p:sp>
      <p:sp>
        <p:nvSpPr>
          <p:cNvPr id="32" name="Shape 30"/>
          <p:cNvSpPr/>
          <p:nvPr/>
        </p:nvSpPr>
        <p:spPr>
          <a:xfrm>
            <a:off x="292608" y="5010912"/>
            <a:ext cx="4224528" cy="530352"/>
          </a:xfrm>
          <a:prstGeom prst="rect">
            <a:avLst/>
          </a:prstGeom>
          <a:solidFill>
            <a:srgbClr val="F5F1F8"/>
          </a:solidFill>
          <a:ln w="6350">
            <a:solidFill>
              <a:srgbClr val="C9B8D8"/>
            </a:solidFill>
            <a:prstDash val="solid"/>
          </a:ln>
        </p:spPr>
        <p:txBody>
          <a:bodyPr/>
          <a:p/>
        </p:txBody>
      </p:sp>
      <p:sp>
        <p:nvSpPr>
          <p:cNvPr id="33" name="Shape 31"/>
          <p:cNvSpPr/>
          <p:nvPr/>
        </p:nvSpPr>
        <p:spPr>
          <a:xfrm>
            <a:off x="4517136" y="5010912"/>
            <a:ext cx="4334256" cy="530352"/>
          </a:xfrm>
          <a:prstGeom prst="rect">
            <a:avLst/>
          </a:prstGeom>
          <a:solidFill>
            <a:srgbClr val="FFF5F5"/>
          </a:solidFill>
          <a:ln w="6350">
            <a:solidFill>
              <a:srgbClr val="F5C6CB"/>
            </a:solidFill>
            <a:prstDash val="solid"/>
          </a:ln>
        </p:spPr>
        <p:txBody>
          <a:bodyPr/>
          <a:p/>
        </p:txBody>
      </p:sp>
      <p:sp>
        <p:nvSpPr>
          <p:cNvPr id="35" name="Text 33"/>
          <p:cNvSpPr/>
          <p:nvPr/>
        </p:nvSpPr>
        <p:spPr>
          <a:xfrm>
            <a:off x="4626864" y="5102352"/>
            <a:ext cx="4114800" cy="402336"/>
          </a:xfrm>
          <a:prstGeom prst="rect">
            <a:avLst/>
          </a:prstGeom>
          <a:noFill/>
          <a:ln/>
        </p:spPr>
        <p:txBody>
          <a:bodyPr wrap="square" lIns="0" tIns="0" rIns="0" bIns="0" rtlCol="0" anchor="t"/>
          <a:lstStyle/>
          <a:p>
            <a:pPr marL="0" indent="0">
              <a:buNone/>
            </a:pPr>
            <a:r>
              <a:rPr lang="en-US" sz="1150" dirty="0">
                <a:solidFill>
                  <a:srgbClr val="8B0000"/>
                </a:solidFill>
                <a:latin typeface="Arial" pitchFamily="34" charset="0"/>
                <a:ea typeface="Arial" pitchFamily="34" charset="-122"/>
                <a:cs typeface="Arial" pitchFamily="34" charset="-120"/>
              </a:rPr>
              <a:t>You’ll get through this. You’re strong.</a:t>
            </a:r>
            <a:endParaRPr lang="en-US" sz="1150" dirty="0"/>
          </a:p>
        </p:txBody>
      </p:sp>
      <p:sp>
        <p:nvSpPr>
          <p:cNvPr id="36" name="Text 34"/>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900" dirty="0">
                <a:solidFill>
                  <a:srgbClr val="8B6A9E"/>
                </a:solidFill>
                <a:latin typeface="Arial" pitchFamily="34" charset="0"/>
                <a:ea typeface="Arial" pitchFamily="34" charset="-122"/>
                <a:cs typeface="Arial" pitchFamily="34" charset="-120"/>
              </a:rPr>
              <a:t>Perinatal Loss: Language</a:t>
            </a:r>
            <a:endParaRPr lang="en-US" sz="900" dirty="0"/>
          </a:p>
        </p:txBody>
      </p:sp>
      <p:sp>
        <p:nvSpPr>
          <p:cNvPr id="37" name="Text 35"/>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PERINATAL LOSS  ·  YOUR ROLE</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Your Role — Bear Witness. Use the Name. Stay.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 don’t need the perfect words. You need to show up and not disappear.</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What your role looks like</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Use the baby's name — every time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Sit quietly — be okay with silence</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Stay even when there's nothing to do</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No phone, no clock-watching</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Ask before touching</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Years later they'll remember you weren't afraid</a:t>
            </a:r>
            <a:endParaRPr lang="en-US" sz="1250" dirty="0"/>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Memory-making — offer, don’t push</a:t>
            </a:r>
            <a:endParaRPr lang="en-US" sz="1100" dirty="0"/>
          </a:p>
        </p:txBody>
      </p:sp>
      <p:sp>
        <p:nvSpPr>
          <p:cNvPr id="12" name="Text 10"/>
          <p:cNvSpPr/>
          <p:nvPr/>
        </p:nvSpPr>
        <p:spPr>
          <a:xfrm>
            <a:off x="4846320" y="1956816"/>
            <a:ext cx="3858768" cy="2743200"/>
          </a:xfrm>
          <a:prstGeom prst="rect">
            <a:avLst/>
          </a:prstGeom>
          <a:noFill/>
          <a:ln/>
        </p:spPr>
        <p:txBody>
          <a:bodyPr wrap="square" lIns="0" tIns="0" rIns="0" bIns="0" rtlCol="0" anchor="t"/>
          <a:lstStyle/>
          <a:p>
            <a:pPr marL="0" indent="0">
              <a:spcAft>
                <a:spcPts val="500"/>
              </a:spcAft>
              <a:buNone/>
            </a:pPr>
            <a:r>
              <a:rPr lang="en-US" sz="2000" dirty="0">
                <a:solidFill>
                  <a:srgbClr val="2D2D2D"/>
                </a:solidFill>
                <a:latin typeface="Arial" pitchFamily="34" charset="0"/>
                <a:ea typeface="Arial" pitchFamily="34" charset="-122"/>
                <a:cs typeface="Arial" pitchFamily="34" charset="-120"/>
              </a:rPr>
              <a:t>–  Photos — Now I Lay Me Down to Sleep (free professional photographers)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Hand and footprints — ink impressions or clay castings</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Physical keepsakes: lock of hair, blanket, hat</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Time — uninterrupted time alone with their baby</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Naming and naming ceremonies if desired</a:t>
            </a:r>
            <a:endParaRPr lang="en-US" sz="1250" dirty="0"/>
          </a:p>
          <a:p>
            <a:pPr marL="0" indent="0">
              <a:spcAft>
                <a:spcPts val="500"/>
              </a:spcAft>
              <a:buNone/>
            </a:pPr>
            <a:r>
              <a:rPr lang="en-US" sz="2000" dirty="0">
                <a:solidFill>
                  <a:srgbClr val="2D2D2D"/>
                </a:solidFill>
                <a:latin typeface="Arial" pitchFamily="34" charset="0"/>
                <a:ea typeface="Arial" pitchFamily="34" charset="-122"/>
                <a:cs typeface="Arial" pitchFamily="34" charset="-120"/>
              </a:rPr>
              <a:t>–  Memory box — many hospitals provide these</a:t>
            </a:r>
            <a:endParaRPr lang="en-US" sz="125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PERINATAL LOSS  ·  SELF-CARE</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Doula Self-Care After Loss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350" i="1" dirty="0">
                <a:solidFill>
                  <a:srgbClr val="845995"/>
                </a:solidFill>
                <a:latin typeface="Georgia" pitchFamily="34" charset="0"/>
                <a:ea typeface="Georgia" pitchFamily="34" charset="-122"/>
                <a:cs typeface="Georgia" pitchFamily="34" charset="-120"/>
              </a:rPr>
              <a:t>You cannot pour from an empty vessel. The 24-hour rule exists to protect you.</a:t>
            </a:r>
            <a:endParaRPr lang="en-US" sz="1350" dirty="0"/>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100" b="1" dirty="0">
                <a:solidFill>
                  <a:srgbClr val="5E376C"/>
                </a:solidFill>
                <a:latin typeface="Arial" pitchFamily="34" charset="0"/>
                <a:ea typeface="Arial" pitchFamily="34" charset="-122"/>
                <a:cs typeface="Arial" pitchFamily="34" charset="-120"/>
              </a:rPr>
              <a:t>The 24-hour protocol</a:t>
            </a:r>
            <a:endParaRPr lang="en-US" sz="11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0" indent="0">
              <a:spcAft>
                <a:spcPts val="500"/>
              </a:spcAft>
              <a:buNone/>
            </a:pPr>
            <a:r>
              <a:rPr lang="en-US" sz="1250" dirty="0">
                <a:solidFill>
                  <a:srgbClr val="2D2D2D"/>
                </a:solidFill>
                <a:latin typeface="Arial" pitchFamily="34" charset="0"/>
                <a:ea typeface="Arial" pitchFamily="34" charset="-122"/>
                <a:cs typeface="Arial" pitchFamily="34" charset="-120"/>
              </a:rPr>
              <a:t>Don't process alone in first 24 hours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Don't reach to family to process YOUR feelings</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Journal privately if needed — not social media</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Rest, eat, be cared for</a:t>
            </a:r>
            <a:endParaRPr lang="en-US" sz="1250" dirty="0"/>
          </a:p>
          <a:p>
            <a:pPr marL="0" indent="0">
              <a:spcAft>
                <a:spcPts val="500"/>
              </a:spcAft>
              <a:buNone/>
            </a:pPr>
            <a:r>
              <a:rPr lang="en-US" sz="1250" dirty="0">
                <a:solidFill>
                  <a:srgbClr val="2D2D2D"/>
                </a:solidFill>
                <a:latin typeface="Arial" pitchFamily="34" charset="0"/>
                <a:ea typeface="Arial" pitchFamily="34" charset="-122"/>
                <a:cs typeface="Arial" pitchFamily="34" charset="-120"/>
              </a:rPr>
              <a:t>Debrief within the week — use MHN monthlies</a:t>
            </a:r>
            <a:endParaRPr lang="en-US" sz="1250" dirty="0"/>
          </a:p>
        </p:txBody>
      </p:sp>
      <p:sp>
        <p:nvSpPr>
          <p:cNvPr id="9" name="Shape 7"/>
          <p:cNvSpPr/>
          <p:nvPr/>
        </p:nvSpPr>
        <p:spPr>
          <a:xfrm>
            <a:off x="4663440" y="1536192"/>
            <a:ext cx="4224528" cy="1664208"/>
          </a:xfrm>
          <a:prstGeom prst="rect">
            <a:avLst/>
          </a:prstGeom>
          <a:solidFill>
            <a:srgbClr val="F0F7FA"/>
          </a:solidFill>
          <a:ln w="12700">
            <a:solidFill>
              <a:srgbClr val="0D9488"/>
            </a:solidFill>
            <a:prstDash val="solid"/>
          </a:ln>
        </p:spPr>
        <p:txBody>
          <a:bodyPr/>
          <a:p/>
        </p:txBody>
      </p:sp>
      <p:sp>
        <p:nvSpPr>
          <p:cNvPr id="10" name="Shape 8"/>
          <p:cNvSpPr/>
          <p:nvPr/>
        </p:nvSpPr>
        <p:spPr>
          <a:xfrm>
            <a:off x="4663440" y="1536192"/>
            <a:ext cx="64008" cy="1664208"/>
          </a:xfrm>
          <a:prstGeom prst="rect">
            <a:avLst/>
          </a:prstGeom>
          <a:solidFill>
            <a:srgbClr val="0D9488"/>
          </a:solidFill>
          <a:ln w="12700">
            <a:solidFill>
              <a:srgbClr val="0D9488"/>
            </a:solidFill>
            <a:prstDash val="solid"/>
          </a:ln>
        </p:spPr>
        <p:txBody>
          <a:bodyPr/>
          <a:p/>
        </p:txBody>
      </p:sp>
      <p:sp>
        <p:nvSpPr>
          <p:cNvPr id="11" name="Text 9"/>
          <p:cNvSpPr/>
          <p:nvPr/>
        </p:nvSpPr>
        <p:spPr>
          <a:xfrm>
            <a:off x="4828032" y="1645920"/>
            <a:ext cx="8229600" cy="256032"/>
          </a:xfrm>
          <a:prstGeom prst="rect">
            <a:avLst/>
          </a:prstGeom>
          <a:noFill/>
          <a:ln/>
        </p:spPr>
        <p:txBody>
          <a:bodyPr wrap="square" lIns="0" tIns="0" rIns="0" bIns="0" rtlCol="0" anchor="ctr"/>
          <a:lstStyle/>
          <a:p>
            <a:pPr marL="0" indent="0" algn="l">
              <a:buNone/>
            </a:pPr>
            <a:r>
              <a:rPr lang="en-US" sz="1100" b="1" dirty="0">
                <a:solidFill>
                  <a:srgbClr val="0D9488"/>
                </a:solidFill>
                <a:latin typeface="Arial" pitchFamily="34" charset="0"/>
                <a:ea typeface="Arial" pitchFamily="34" charset="-122"/>
                <a:cs typeface="Arial" pitchFamily="34" charset="-120"/>
              </a:rPr>
              <a:t>What Not to Do Right After a Loss Birth</a:t>
            </a:r>
            <a:endParaRPr lang="en-US" sz="1100" dirty="0"/>
          </a:p>
        </p:txBody>
      </p:sp>
      <p:sp>
        <p:nvSpPr>
          <p:cNvPr id="12" name="Text 10"/>
          <p:cNvSpPr/>
          <p:nvPr/>
        </p:nvSpPr>
        <p:spPr>
          <a:xfrm>
            <a:off x="4828032" y="1956816"/>
            <a:ext cx="3858768" cy="1170432"/>
          </a:xfrm>
          <a:prstGeom prst="rect">
            <a:avLst/>
          </a:prstGeom>
          <a:noFill/>
          <a:ln/>
        </p:spPr>
        <p:txBody>
          <a:bodyPr wrap="square" lIns="0" tIns="0" rIns="0" bIns="0" rtlCol="0" anchor="t"/>
          <a:lstStyle/>
          <a:p>
            <a:pPr marL="0" indent="0">
              <a:spcAft>
                <a:spcPts val="400"/>
              </a:spcAft>
              <a:buNone/>
            </a:pPr>
            <a:r>
              <a:rPr lang="en-US" sz="2000" dirty="0">
                <a:solidFill>
                  <a:srgbClr val="2D2D2D"/>
                </a:solidFill>
                <a:latin typeface="Arial" pitchFamily="34" charset="0"/>
                <a:ea typeface="Arial" pitchFamily="34" charset="-122"/>
                <a:cs typeface="Arial" pitchFamily="34" charset="-120"/>
              </a:rPr>
              <a:t>–  Don’t share the story publicly or on social media, ever</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Don’t make the family’s loss about your feelings</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Don’t skip the debrief because you think you’re fine</a:t>
            </a:r>
            <a:endParaRPr lang="en-US" sz="1200" dirty="0"/>
          </a:p>
          <a:p>
            <a:pPr marL="0" indent="0">
              <a:spcAft>
                <a:spcPts val="400"/>
              </a:spcAft>
              <a:buNone/>
            </a:pPr>
            <a:r>
              <a:rPr lang="en-US" sz="2000" dirty="0">
                <a:solidFill>
                  <a:srgbClr val="2D2D2D"/>
                </a:solidFill>
                <a:latin typeface="Arial" pitchFamily="34" charset="0"/>
                <a:ea typeface="Arial" pitchFamily="34" charset="-122"/>
                <a:cs typeface="Arial" pitchFamily="34" charset="-120"/>
              </a:rPr>
              <a:t>–  Don’t take on another birth immediately if you’re not ready</a:t>
            </a:r>
            <a:endParaRPr lang="en-US" sz="1200" dirty="0"/>
          </a:p>
        </p:txBody>
      </p:sp>
      <p:sp>
        <p:nvSpPr>
          <p:cNvPr id="13" name="Shape 11"/>
          <p:cNvSpPr/>
          <p:nvPr/>
        </p:nvSpPr>
        <p:spPr>
          <a:xfrm>
            <a:off x="4663440" y="3310128"/>
            <a:ext cx="4224528" cy="1389888"/>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310128"/>
            <a:ext cx="64008" cy="1389888"/>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419856"/>
            <a:ext cx="8229600" cy="256032"/>
          </a:xfrm>
          <a:prstGeom prst="rect">
            <a:avLst/>
          </a:prstGeom>
          <a:noFill/>
          <a:ln/>
        </p:spPr>
        <p:txBody>
          <a:bodyPr wrap="square" lIns="0" tIns="0" rIns="0" bIns="0" rtlCol="0" anchor="ctr"/>
          <a:lstStyle/>
          <a:p>
            <a:pPr marL="0" indent="0" algn="l">
              <a:buNone/>
            </a:pPr>
            <a:r>
              <a:rPr lang="en-US" sz="1100" b="1" dirty="0">
                <a:solidFill>
                  <a:srgbClr val="B5166B"/>
                </a:solidFill>
                <a:latin typeface="Arial" pitchFamily="34" charset="0"/>
                <a:ea typeface="Arial" pitchFamily="34" charset="-122"/>
                <a:cs typeface="Arial" pitchFamily="34" charset="-120"/>
              </a:rPr>
              <a:t>Carry This Without Being Crushed</a:t>
            </a:r>
            <a:endParaRPr lang="en-US" sz="1100" dirty="0"/>
          </a:p>
        </p:txBody>
      </p:sp>
      <p:sp>
        <p:nvSpPr>
          <p:cNvPr id="16" name="Text 14"/>
          <p:cNvSpPr/>
          <p:nvPr/>
        </p:nvSpPr>
        <p:spPr>
          <a:xfrm>
            <a:off x="4828032" y="3712464"/>
            <a:ext cx="3877056" cy="932688"/>
          </a:xfrm>
          <a:prstGeom prst="rect">
            <a:avLst/>
          </a:prstGeom>
          <a:noFill/>
          <a:ln/>
        </p:spPr>
        <p:txBody>
          <a:bodyPr wrap="square" lIns="0" tIns="0" rIns="0" bIns="0" rtlCol="0" anchor="t"/>
          <a:lstStyle/>
          <a:p>
            <a:pPr marL="0" indent="0" algn="l">
              <a:lnSpc>
                <a:spcPct val="130000"/>
              </a:lnSpc>
              <a:buNone/>
            </a:pPr>
            <a:r>
              <a:rPr lang="en-US" sz="1150" dirty="0">
                <a:solidFill>
                  <a:srgbClr val="2D2D2D"/>
                </a:solidFill>
                <a:latin typeface="Arial" pitchFamily="34" charset="0"/>
                <a:ea typeface="Arial" pitchFamily="34" charset="-122"/>
                <a:cs typeface="Arial" pitchFamily="34" charset="-120"/>
              </a:rPr>
              <a:t>You are not required to be okay immediately. Grief is the appropriate response to witnessing grief. What you carry from this work is evidence that you were fully present for a family in the worst moment of their lives.</a:t>
            </a:r>
            <a:endParaRPr lang="en-US" sz="115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457200" y="1005840"/>
            <a:ext cx="8229600" cy="640080"/>
          </a:xfrm>
          <a:prstGeom prst="rect">
            <a:avLst/>
          </a:prstGeom>
          <a:noFill/>
          <a:ln/>
        </p:spPr>
        <p:txBody>
          <a:bodyPr wrap="square" lIns="0" tIns="0" rIns="0" bIns="0" rtlCol="0" anchor="ctr"/>
          <a:lstStyle/>
          <a:p>
            <a:pPr marL="0" indent="0" algn="ctr">
              <a:buNone/>
            </a:pPr>
            <a:r>
              <a:rPr lang="en-US" sz="3800" b="1" dirty="0">
                <a:solidFill>
                  <a:srgbClr val="FFFFFF"/>
                </a:solidFill>
                <a:latin typeface="Georgia" pitchFamily="34" charset="0"/>
                <a:ea typeface="Georgia" pitchFamily="34" charset="-122"/>
                <a:cs typeface="Georgia" pitchFamily="34" charset="-120"/>
              </a:rPr>
              <a:t>Take a breath.</a:t>
            </a:r>
            <a:endParaRPr lang="en-US" sz="3800" dirty="0"/>
          </a:p>
        </p:txBody>
      </p:sp>
      <p:sp>
        <p:nvSpPr>
          <p:cNvPr id="3" name="Shape 1"/>
          <p:cNvSpPr/>
          <p:nvPr/>
        </p:nvSpPr>
        <p:spPr>
          <a:xfrm>
            <a:off x="3200400" y="1828800"/>
            <a:ext cx="2743200" cy="36576"/>
          </a:xfrm>
          <a:prstGeom prst="rect">
            <a:avLst/>
          </a:prstGeom>
          <a:solidFill>
            <a:srgbClr val="C9B8D8"/>
          </a:solidFill>
          <a:ln w="12700">
            <a:solidFill>
              <a:srgbClr val="C9B8D8"/>
            </a:solidFill>
            <a:prstDash val="solid"/>
          </a:ln>
        </p:spPr>
        <p:txBody>
          <a:bodyPr/>
          <a:p/>
        </p:txBody>
      </p:sp>
      <p:sp>
        <p:nvSpPr>
          <p:cNvPr id="4" name="Text 2"/>
          <p:cNvSpPr/>
          <p:nvPr/>
        </p:nvSpPr>
        <p:spPr>
          <a:xfrm>
            <a:off x="457200" y="2011680"/>
            <a:ext cx="8229600" cy="640080"/>
          </a:xfrm>
          <a:prstGeom prst="rect">
            <a:avLst/>
          </a:prstGeom>
          <a:noFill/>
          <a:ln/>
        </p:spPr>
        <p:txBody>
          <a:bodyPr wrap="square" lIns="0" tIns="0" rIns="0" bIns="0" rtlCol="0" anchor="ctr"/>
          <a:lstStyle/>
          <a:p>
            <a:pPr marL="0" indent="0" algn="ctr">
              <a:lnSpc>
                <a:spcPct val="140000"/>
              </a:lnSpc>
              <a:buNone/>
            </a:pPr>
            <a:r>
              <a:rPr lang="en-US" sz="1600" i="1" dirty="0">
                <a:solidFill>
                  <a:srgbClr val="C9B8D8"/>
                </a:solidFill>
                <a:latin typeface="Georgia" pitchFamily="34" charset="0"/>
                <a:ea typeface="Georgia" pitchFamily="34" charset="-122"/>
                <a:cs typeface="Georgia" pitchFamily="34" charset="-120"/>
              </a:rPr>
              <a:t>This material is heavy. That weight is appropriate.</a:t>
            </a:r>
            <a:endParaRPr lang="en-US" sz="1600" dirty="0"/>
          </a:p>
          <a:p>
            <a:pPr marL="0" indent="0" algn="ctr">
              <a:lnSpc>
                <a:spcPct val="140000"/>
              </a:lnSpc>
              <a:buNone/>
            </a:pPr>
            <a:r>
              <a:rPr lang="en-US" sz="1600" i="1" dirty="0">
                <a:solidFill>
                  <a:srgbClr val="C9B8D8"/>
                </a:solidFill>
                <a:latin typeface="Georgia" pitchFamily="34" charset="0"/>
                <a:ea typeface="Georgia" pitchFamily="34" charset="-122"/>
                <a:cs typeface="Georgia" pitchFamily="34" charset="-120"/>
              </a:rPr>
              <a:t>It means you understand what is at stake.</a:t>
            </a:r>
            <a:endParaRPr lang="en-US" sz="1600" dirty="0"/>
          </a:p>
        </p:txBody>
      </p:sp>
      <p:sp>
        <p:nvSpPr>
          <p:cNvPr id="5" name="Text 3"/>
          <p:cNvSpPr/>
          <p:nvPr/>
        </p:nvSpPr>
        <p:spPr>
          <a:xfrm>
            <a:off x="457200" y="2834640"/>
            <a:ext cx="8229600" cy="640080"/>
          </a:xfrm>
          <a:prstGeom prst="rect">
            <a:avLst/>
          </a:prstGeom>
          <a:noFill/>
          <a:ln/>
        </p:spPr>
        <p:txBody>
          <a:bodyPr wrap="square" lIns="0" tIns="0" rIns="0" bIns="0" rtlCol="0" anchor="ctr"/>
          <a:lstStyle/>
          <a:p>
            <a:pPr marL="0" indent="0" algn="ctr">
              <a:lnSpc>
                <a:spcPct val="140000"/>
              </a:lnSpc>
              <a:buNone/>
            </a:pPr>
            <a:r>
              <a:rPr lang="en-US" sz="1500" i="1" dirty="0">
                <a:solidFill>
                  <a:srgbClr val="C9B8D8"/>
                </a:solidFill>
                <a:latin typeface="Georgia" pitchFamily="34" charset="0"/>
                <a:ea typeface="Georgia" pitchFamily="34" charset="-122"/>
                <a:cs typeface="Georgia" pitchFamily="34" charset="-120"/>
              </a:rPr>
              <a:t>Hold space for whatever this material brings up for you.</a:t>
            </a:r>
            <a:endParaRPr lang="en-US" sz="1500" dirty="0"/>
          </a:p>
          <a:p>
            <a:pPr marL="0" indent="0" algn="ctr">
              <a:lnSpc>
                <a:spcPct val="140000"/>
              </a:lnSpc>
              <a:buNone/>
            </a:pPr>
            <a:r>
              <a:rPr lang="en-US" sz="1500" i="1" dirty="0">
                <a:solidFill>
                  <a:srgbClr val="C9B8D8"/>
                </a:solidFill>
                <a:latin typeface="Georgia" pitchFamily="34" charset="0"/>
                <a:ea typeface="Georgia" pitchFamily="34" charset="-122"/>
                <a:cs typeface="Georgia" pitchFamily="34" charset="-120"/>
              </a:rPr>
              <a:t>You do not have to perform okayness right now.</a:t>
            </a:r>
            <a:endParaRPr lang="en-US" sz="1500" dirty="0"/>
          </a:p>
        </p:txBody>
      </p:sp>
      <p:sp>
        <p:nvSpPr>
          <p:cNvPr id="6" name="Shape 4"/>
          <p:cNvSpPr/>
          <p:nvPr/>
        </p:nvSpPr>
        <p:spPr>
          <a:xfrm>
            <a:off x="3200400" y="3657600"/>
            <a:ext cx="2743200" cy="36576"/>
          </a:xfrm>
          <a:prstGeom prst="rect">
            <a:avLst/>
          </a:prstGeom>
          <a:solidFill>
            <a:srgbClr val="C9B8D8"/>
          </a:solidFill>
          <a:ln w="12700">
            <a:solidFill>
              <a:srgbClr val="C9B8D8"/>
            </a:solidFill>
            <a:prstDash val="solid"/>
          </a:ln>
        </p:spPr>
        <p:txBody>
          <a:bodyPr/>
          <a:p/>
        </p:txBody>
      </p:sp>
      <p:sp>
        <p:nvSpPr>
          <p:cNvPr id="7" name="Text 5"/>
          <p:cNvSpPr/>
          <p:nvPr/>
        </p:nvSpPr>
        <p:spPr>
          <a:xfrm>
            <a:off x="457200" y="3840480"/>
            <a:ext cx="8229600" cy="457200"/>
          </a:xfrm>
          <a:prstGeom prst="rect">
            <a:avLst/>
          </a:prstGeom>
          <a:noFill/>
          <a:ln/>
        </p:spPr>
        <p:txBody>
          <a:bodyPr wrap="square" lIns="0" tIns="0" rIns="0" bIns="0" rtlCol="0" anchor="ctr"/>
          <a:lstStyle/>
          <a:p>
            <a:pPr marL="0" indent="0" algn="ctr">
              <a:buNone/>
            </a:pPr>
            <a:r>
              <a:rPr lang="en-US" sz="1800" b="1" dirty="0">
                <a:solidFill>
                  <a:srgbClr val="C9B8D8"/>
                </a:solidFill>
                <a:latin typeface="Georgia" pitchFamily="34" charset="0"/>
                <a:ea typeface="Georgia" pitchFamily="34" charset="-122"/>
                <a:cs typeface="Georgia" pitchFamily="34" charset="-120"/>
              </a:rPr>
              <a:t>This is why you’re here.</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900" kern="0" spc="150" dirty="0">
                <a:solidFill>
                  <a:srgbClr val="7B4F8C"/>
                </a:solidFill>
                <a:latin typeface="Arial" pitchFamily="34" charset="0"/>
                <a:ea typeface="Arial" pitchFamily="34" charset="-122"/>
                <a:cs typeface="Arial" pitchFamily="34" charset="-120"/>
              </a:rPr>
              <a:t>KEY TAKEAWAYS  ·  NIGHT 2</a:t>
            </a:r>
            <a:endParaRPr lang="en-US" sz="9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What to Carry With You From Tonight</a:t>
            </a:r>
            <a:endParaRPr lang="en-US" sz="2800" dirty="0"/>
          </a:p>
        </p:txBody>
      </p:sp>
      <p:sp>
        <p:nvSpPr>
          <p:cNvPr id="4" name="Shape 2"/>
          <p:cNvSpPr/>
          <p:nvPr/>
        </p:nvSpPr>
        <p:spPr>
          <a:xfrm>
            <a:off x="292608" y="868680"/>
            <a:ext cx="4114800" cy="1188720"/>
          </a:xfrm>
          <a:prstGeom prst="rect">
            <a:avLst/>
          </a:prstGeom>
          <a:solidFill>
            <a:srgbClr val="F5F1F8"/>
          </a:solidFill>
          <a:ln w="12700">
            <a:solidFill>
              <a:srgbClr val="C9B8D8"/>
            </a:solidFill>
            <a:prstDash val="solid"/>
          </a:ln>
        </p:spPr>
        <p:txBody>
          <a:bodyPr/>
          <a:p/>
        </p:txBody>
      </p:sp>
      <p:sp>
        <p:nvSpPr>
          <p:cNvPr id="5" name="Shape 3"/>
          <p:cNvSpPr/>
          <p:nvPr/>
        </p:nvSpPr>
        <p:spPr>
          <a:xfrm>
            <a:off x="292608" y="868680"/>
            <a:ext cx="64008" cy="1188720"/>
          </a:xfrm>
          <a:prstGeom prst="rect">
            <a:avLst/>
          </a:prstGeom>
          <a:solidFill>
            <a:srgbClr val="5E376C"/>
          </a:solidFill>
          <a:ln w="12700">
            <a:solidFill>
              <a:srgbClr val="5E376C"/>
            </a:solidFill>
            <a:prstDash val="solid"/>
          </a:ln>
        </p:spPr>
        <p:txBody>
          <a:bodyPr/>
          <a:p/>
        </p:txBody>
      </p:sp>
      <p:sp>
        <p:nvSpPr>
          <p:cNvPr id="6" name="Text 4"/>
          <p:cNvSpPr/>
          <p:nvPr/>
        </p:nvSpPr>
        <p:spPr>
          <a:xfrm>
            <a:off x="457200" y="1024127"/>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457200" y="1408175"/>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There are four stages of birth and three phases of Stage 1. Get the language right — it matters in the clinical setting.</a:t>
            </a:r>
            <a:endParaRPr lang="en-US" sz="1200" dirty="0"/>
          </a:p>
        </p:txBody>
      </p:sp>
      <p:sp>
        <p:nvSpPr>
          <p:cNvPr id="8" name="Shape 6"/>
          <p:cNvSpPr/>
          <p:nvPr/>
        </p:nvSpPr>
        <p:spPr>
          <a:xfrm>
            <a:off x="4517136" y="868680"/>
            <a:ext cx="4114800" cy="1188720"/>
          </a:xfrm>
          <a:prstGeom prst="rect">
            <a:avLst/>
          </a:prstGeom>
          <a:solidFill>
            <a:srgbClr val="F5F1F8"/>
          </a:solidFill>
          <a:ln w="12700">
            <a:solidFill>
              <a:srgbClr val="C9B8D8"/>
            </a:solidFill>
            <a:prstDash val="solid"/>
          </a:ln>
        </p:spPr>
        <p:txBody>
          <a:bodyPr/>
          <a:p/>
        </p:txBody>
      </p:sp>
      <p:sp>
        <p:nvSpPr>
          <p:cNvPr id="9" name="Shape 7"/>
          <p:cNvSpPr/>
          <p:nvPr/>
        </p:nvSpPr>
        <p:spPr>
          <a:xfrm>
            <a:off x="4517136" y="868680"/>
            <a:ext cx="64008" cy="1188720"/>
          </a:xfrm>
          <a:prstGeom prst="rect">
            <a:avLst/>
          </a:prstGeom>
          <a:solidFill>
            <a:srgbClr val="5E376C"/>
          </a:solidFill>
          <a:ln w="12700">
            <a:solidFill>
              <a:srgbClr val="5E376C"/>
            </a:solidFill>
            <a:prstDash val="solid"/>
          </a:ln>
        </p:spPr>
        <p:txBody>
          <a:bodyPr/>
          <a:p/>
        </p:txBody>
      </p:sp>
      <p:sp>
        <p:nvSpPr>
          <p:cNvPr id="10" name="Text 8"/>
          <p:cNvSpPr/>
          <p:nvPr/>
        </p:nvSpPr>
        <p:spPr>
          <a:xfrm>
            <a:off x="4681728" y="1024127"/>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02</a:t>
            </a:r>
            <a:endParaRPr lang="en-US" sz="2200" dirty="0"/>
          </a:p>
        </p:txBody>
      </p:sp>
      <p:sp>
        <p:nvSpPr>
          <p:cNvPr id="11" name="Text 9"/>
          <p:cNvSpPr/>
          <p:nvPr/>
        </p:nvSpPr>
        <p:spPr>
          <a:xfrm>
            <a:off x="4681728" y="1408175"/>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Labor hormones respond to environment. Dim lights, privacy, warmth, and your calm presence are biological support.</a:t>
            </a:r>
            <a:endParaRPr lang="en-US" sz="1200" dirty="0"/>
          </a:p>
        </p:txBody>
      </p:sp>
      <p:sp>
        <p:nvSpPr>
          <p:cNvPr id="12" name="Shape 10"/>
          <p:cNvSpPr/>
          <p:nvPr/>
        </p:nvSpPr>
        <p:spPr>
          <a:xfrm>
            <a:off x="292608" y="2194560"/>
            <a:ext cx="4114800" cy="1188720"/>
          </a:xfrm>
          <a:prstGeom prst="rect">
            <a:avLst/>
          </a:prstGeom>
          <a:solidFill>
            <a:srgbClr val="F5F1F8"/>
          </a:solidFill>
          <a:ln w="12700">
            <a:solidFill>
              <a:srgbClr val="C9B8D8"/>
            </a:solidFill>
            <a:prstDash val="solid"/>
          </a:ln>
        </p:spPr>
        <p:txBody>
          <a:bodyPr/>
          <a:p/>
        </p:txBody>
      </p:sp>
      <p:sp>
        <p:nvSpPr>
          <p:cNvPr id="13" name="Shape 11"/>
          <p:cNvSpPr/>
          <p:nvPr/>
        </p:nvSpPr>
        <p:spPr>
          <a:xfrm>
            <a:off x="292608" y="2194560"/>
            <a:ext cx="64008" cy="1188720"/>
          </a:xfrm>
          <a:prstGeom prst="rect">
            <a:avLst/>
          </a:prstGeom>
          <a:solidFill>
            <a:srgbClr val="5E376C"/>
          </a:solidFill>
          <a:ln w="12700">
            <a:solidFill>
              <a:srgbClr val="5E376C"/>
            </a:solidFill>
            <a:prstDash val="solid"/>
          </a:ln>
        </p:spPr>
        <p:txBody>
          <a:bodyPr/>
          <a:p/>
        </p:txBody>
      </p:sp>
      <p:sp>
        <p:nvSpPr>
          <p:cNvPr id="14" name="Text 12"/>
          <p:cNvSpPr/>
          <p:nvPr/>
        </p:nvSpPr>
        <p:spPr>
          <a:xfrm>
            <a:off x="457200" y="2322576"/>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03</a:t>
            </a:r>
            <a:endParaRPr lang="en-US" sz="2200" dirty="0"/>
          </a:p>
        </p:txBody>
      </p:sp>
      <p:sp>
        <p:nvSpPr>
          <p:cNvPr id="15" name="Text 13"/>
          <p:cNvSpPr/>
          <p:nvPr/>
        </p:nvSpPr>
        <p:spPr>
          <a:xfrm>
            <a:off x="457200" y="2706624"/>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Active labor doesn’t reliably begin until 6 cm. The ACOG 2014 update exists to reduce unnecessary interventions.</a:t>
            </a:r>
            <a:endParaRPr lang="en-US" sz="1200" dirty="0"/>
          </a:p>
        </p:txBody>
      </p:sp>
      <p:sp>
        <p:nvSpPr>
          <p:cNvPr id="16" name="Shape 14"/>
          <p:cNvSpPr/>
          <p:nvPr/>
        </p:nvSpPr>
        <p:spPr>
          <a:xfrm>
            <a:off x="4517136" y="2194560"/>
            <a:ext cx="4114800" cy="1188720"/>
          </a:xfrm>
          <a:prstGeom prst="rect">
            <a:avLst/>
          </a:prstGeom>
          <a:solidFill>
            <a:srgbClr val="F5F1F8"/>
          </a:solidFill>
          <a:ln w="12700">
            <a:solidFill>
              <a:srgbClr val="C9B8D8"/>
            </a:solidFill>
            <a:prstDash val="solid"/>
          </a:ln>
        </p:spPr>
        <p:txBody>
          <a:bodyPr/>
          <a:p/>
        </p:txBody>
      </p:sp>
      <p:sp>
        <p:nvSpPr>
          <p:cNvPr id="17" name="Shape 15"/>
          <p:cNvSpPr/>
          <p:nvPr/>
        </p:nvSpPr>
        <p:spPr>
          <a:xfrm>
            <a:off x="4517136" y="2194560"/>
            <a:ext cx="64008" cy="1188720"/>
          </a:xfrm>
          <a:prstGeom prst="rect">
            <a:avLst/>
          </a:prstGeom>
          <a:solidFill>
            <a:srgbClr val="5E376C"/>
          </a:solidFill>
          <a:ln w="12700">
            <a:solidFill>
              <a:srgbClr val="5E376C"/>
            </a:solidFill>
            <a:prstDash val="solid"/>
          </a:ln>
        </p:spPr>
        <p:txBody>
          <a:bodyPr/>
          <a:p/>
        </p:txBody>
      </p:sp>
      <p:sp>
        <p:nvSpPr>
          <p:cNvPr id="18" name="Text 16"/>
          <p:cNvSpPr/>
          <p:nvPr/>
        </p:nvSpPr>
        <p:spPr>
          <a:xfrm>
            <a:off x="4681728" y="2322576"/>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04</a:t>
            </a:r>
            <a:endParaRPr lang="en-US" sz="2200" dirty="0"/>
          </a:p>
        </p:txBody>
      </p:sp>
      <p:sp>
        <p:nvSpPr>
          <p:cNvPr id="19" name="Text 17"/>
          <p:cNvSpPr/>
          <p:nvPr/>
        </p:nvSpPr>
        <p:spPr>
          <a:xfrm>
            <a:off x="4681728" y="2706624"/>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Induction is common. Your role is to support informed decision-making using BRAIN — never to steer the decision.</a:t>
            </a:r>
            <a:endParaRPr lang="en-US" sz="1200" dirty="0"/>
          </a:p>
        </p:txBody>
      </p:sp>
      <p:sp>
        <p:nvSpPr>
          <p:cNvPr id="20" name="Shape 18"/>
          <p:cNvSpPr/>
          <p:nvPr/>
        </p:nvSpPr>
        <p:spPr>
          <a:xfrm>
            <a:off x="292608" y="3520440"/>
            <a:ext cx="4114800" cy="1188720"/>
          </a:xfrm>
          <a:prstGeom prst="rect">
            <a:avLst/>
          </a:prstGeom>
          <a:solidFill>
            <a:srgbClr val="F5F1F8"/>
          </a:solidFill>
          <a:ln w="12700">
            <a:solidFill>
              <a:srgbClr val="C9B8D8"/>
            </a:solidFill>
            <a:prstDash val="solid"/>
          </a:ln>
        </p:spPr>
        <p:txBody>
          <a:bodyPr/>
          <a:p/>
        </p:txBody>
      </p:sp>
      <p:sp>
        <p:nvSpPr>
          <p:cNvPr id="21" name="Shape 19"/>
          <p:cNvSpPr/>
          <p:nvPr/>
        </p:nvSpPr>
        <p:spPr>
          <a:xfrm>
            <a:off x="292608" y="3520440"/>
            <a:ext cx="64008" cy="1188720"/>
          </a:xfrm>
          <a:prstGeom prst="rect">
            <a:avLst/>
          </a:prstGeom>
          <a:solidFill>
            <a:srgbClr val="5E376C"/>
          </a:solidFill>
          <a:ln w="12700">
            <a:solidFill>
              <a:srgbClr val="5E376C"/>
            </a:solidFill>
            <a:prstDash val="solid"/>
          </a:ln>
        </p:spPr>
        <p:txBody>
          <a:bodyPr/>
          <a:p/>
        </p:txBody>
      </p:sp>
      <p:sp>
        <p:nvSpPr>
          <p:cNvPr id="22" name="Text 20"/>
          <p:cNvSpPr/>
          <p:nvPr/>
        </p:nvSpPr>
        <p:spPr>
          <a:xfrm>
            <a:off x="457200" y="3648456"/>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05</a:t>
            </a:r>
            <a:endParaRPr lang="en-US" sz="2200" dirty="0"/>
          </a:p>
        </p:txBody>
      </p:sp>
      <p:sp>
        <p:nvSpPr>
          <p:cNvPr id="23" name="Text 21"/>
          <p:cNvSpPr/>
          <p:nvPr/>
        </p:nvSpPr>
        <p:spPr>
          <a:xfrm>
            <a:off x="457200" y="4032504"/>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An epiduralized client needs you just as much. Peanut ball, positioning, and emotional presence don’t stop.</a:t>
            </a:r>
            <a:endParaRPr lang="en-US" sz="1200" dirty="0"/>
          </a:p>
        </p:txBody>
      </p:sp>
      <p:sp>
        <p:nvSpPr>
          <p:cNvPr id="24" name="Shape 22"/>
          <p:cNvSpPr/>
          <p:nvPr/>
        </p:nvSpPr>
        <p:spPr>
          <a:xfrm>
            <a:off x="4517136" y="3520440"/>
            <a:ext cx="4114800" cy="1188720"/>
          </a:xfrm>
          <a:prstGeom prst="rect">
            <a:avLst/>
          </a:prstGeom>
          <a:solidFill>
            <a:srgbClr val="F5F1F8"/>
          </a:solidFill>
          <a:ln w="12700">
            <a:solidFill>
              <a:srgbClr val="C9B8D8"/>
            </a:solidFill>
            <a:prstDash val="solid"/>
          </a:ln>
        </p:spPr>
        <p:txBody>
          <a:bodyPr/>
          <a:p/>
        </p:txBody>
      </p:sp>
      <p:sp>
        <p:nvSpPr>
          <p:cNvPr id="25" name="Shape 23"/>
          <p:cNvSpPr/>
          <p:nvPr/>
        </p:nvSpPr>
        <p:spPr>
          <a:xfrm>
            <a:off x="4517136" y="3520440"/>
            <a:ext cx="64008" cy="1188720"/>
          </a:xfrm>
          <a:prstGeom prst="rect">
            <a:avLst/>
          </a:prstGeom>
          <a:solidFill>
            <a:srgbClr val="5E376C"/>
          </a:solidFill>
          <a:ln w="12700">
            <a:solidFill>
              <a:srgbClr val="5E376C"/>
            </a:solidFill>
            <a:prstDash val="solid"/>
          </a:ln>
        </p:spPr>
        <p:txBody>
          <a:bodyPr/>
          <a:p/>
        </p:txBody>
      </p:sp>
      <p:sp>
        <p:nvSpPr>
          <p:cNvPr id="26" name="Text 24"/>
          <p:cNvSpPr/>
          <p:nvPr/>
        </p:nvSpPr>
        <p:spPr>
          <a:xfrm>
            <a:off x="4681728" y="3648456"/>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06</a:t>
            </a:r>
            <a:endParaRPr lang="en-US" sz="2200" dirty="0"/>
          </a:p>
        </p:txBody>
      </p:sp>
      <p:sp>
        <p:nvSpPr>
          <p:cNvPr id="27" name="Text 25"/>
          <p:cNvSpPr/>
          <p:nvPr/>
        </p:nvSpPr>
        <p:spPr>
          <a:xfrm>
            <a:off x="4681728" y="4032504"/>
            <a:ext cx="3840480" cy="85953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When birth becomes loss, you stay. You say the baby’s name. You do not look away. You bear witness.</a:t>
            </a:r>
            <a:endParaRPr lang="en-US" sz="1200" dirty="0"/>
          </a:p>
        </p:txBody>
      </p:sp>
      <p:sp>
        <p:nvSpPr>
          <p:cNvPr id="29" name="Text 27"/>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900" dirty="0">
                <a:solidFill>
                  <a:srgbClr val="8B6A9E"/>
                </a:solidFill>
                <a:latin typeface="Arial" pitchFamily="34" charset="0"/>
                <a:ea typeface="Arial" pitchFamily="34" charset="-122"/>
                <a:cs typeface="Arial" pitchFamily="34" charset="-120"/>
              </a:rPr>
              <a:t>Mary's Hands Network  ·  ICBD Hybrid Training  ·  Night 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457200"/>
            <a:ext cx="8046720" cy="402336"/>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Before In-Person Day 1:</a:t>
            </a:r>
            <a:endParaRPr lang="en-US" sz="2200" dirty="0"/>
          </a:p>
        </p:txBody>
      </p:sp>
      <p:sp>
        <p:nvSpPr>
          <p:cNvPr id="3" name="Shape 1"/>
          <p:cNvSpPr/>
          <p:nvPr/>
        </p:nvSpPr>
        <p:spPr>
          <a:xfrm>
            <a:off x="548640" y="950976"/>
            <a:ext cx="8046720" cy="36576"/>
          </a:xfrm>
          <a:prstGeom prst="rect">
            <a:avLst/>
          </a:prstGeom>
          <a:solidFill>
            <a:srgbClr val="C9B8D8"/>
          </a:solidFill>
          <a:ln w="12700">
            <a:solidFill>
              <a:srgbClr val="C9B8D8"/>
            </a:solidFill>
            <a:prstDash val="solid"/>
          </a:ln>
        </p:spPr>
        <p:txBody>
          <a:bodyPr/>
          <a:p/>
        </p:txBody>
      </p:sp>
      <p:sp>
        <p:nvSpPr>
          <p:cNvPr id="4" name="Shape 2"/>
          <p:cNvSpPr/>
          <p:nvPr/>
        </p:nvSpPr>
        <p:spPr>
          <a:xfrm>
            <a:off x="548640" y="1170432"/>
            <a:ext cx="8046720" cy="1152144"/>
          </a:xfrm>
          <a:prstGeom prst="rect">
            <a:avLst/>
          </a:prstGeom>
          <a:solidFill>
            <a:srgbClr val="F5F1F8"/>
          </a:solidFill>
          <a:ln w="12700">
            <a:solidFill>
              <a:srgbClr val="C9B8D8"/>
            </a:solidFill>
            <a:prstDash val="solid"/>
          </a:ln>
        </p:spPr>
        <p:txBody>
          <a:bodyPr/>
          <a:p/>
        </p:txBody>
      </p:sp>
      <p:sp>
        <p:nvSpPr>
          <p:cNvPr id="5" name="Shape 3"/>
          <p:cNvSpPr/>
          <p:nvPr/>
        </p:nvSpPr>
        <p:spPr>
          <a:xfrm>
            <a:off x="548640" y="1170432"/>
            <a:ext cx="64008" cy="1152144"/>
          </a:xfrm>
          <a:prstGeom prst="rect">
            <a:avLst/>
          </a:prstGeom>
          <a:solidFill>
            <a:srgbClr val="5E376C"/>
          </a:solidFill>
          <a:ln w="12700">
            <a:solidFill>
              <a:srgbClr val="5E376C"/>
            </a:solidFill>
            <a:prstDash val="solid"/>
          </a:ln>
        </p:spPr>
        <p:txBody>
          <a:bodyPr/>
          <a:p/>
        </p:txBody>
      </p:sp>
      <p:sp>
        <p:nvSpPr>
          <p:cNvPr id="6" name="Text 4"/>
          <p:cNvSpPr/>
          <p:nvPr/>
        </p:nvSpPr>
        <p:spPr>
          <a:xfrm>
            <a:off x="731520" y="1298448"/>
            <a:ext cx="7680960" cy="274320"/>
          </a:xfrm>
          <a:prstGeom prst="rect">
            <a:avLst/>
          </a:prstGeom>
          <a:noFill/>
          <a:ln/>
        </p:spPr>
        <p:txBody>
          <a:bodyPr wrap="square" lIns="0" tIns="0" rIns="0" bIns="0" rtlCol="0" anchor="ctr"/>
          <a:lstStyle/>
          <a:p>
            <a:pPr marL="0" indent="0">
              <a:buNone/>
            </a:pPr>
            <a:r>
              <a:rPr lang="en-US" sz="1500" b="1" dirty="0">
                <a:solidFill>
                  <a:srgbClr val="5E376C"/>
                </a:solidFill>
                <a:latin typeface="Georgia" pitchFamily="34" charset="0"/>
                <a:ea typeface="Georgia" pitchFamily="34" charset="-122"/>
                <a:cs typeface="Georgia" pitchFamily="34" charset="-120"/>
              </a:rPr>
              <a:t>1. Stages of Labor Quiz</a:t>
            </a:r>
            <a:endParaRPr lang="en-US" sz="1500" dirty="0"/>
          </a:p>
        </p:txBody>
      </p:sp>
      <p:sp>
        <p:nvSpPr>
          <p:cNvPr id="7" name="Text 5"/>
          <p:cNvSpPr/>
          <p:nvPr/>
        </p:nvSpPr>
        <p:spPr>
          <a:xfrm>
            <a:off x="731520" y="1627632"/>
            <a:ext cx="7680960" cy="621792"/>
          </a:xfrm>
          <a:prstGeom prst="rect">
            <a:avLst/>
          </a:prstGeom>
          <a:noFill/>
          <a:ln/>
        </p:spPr>
        <p:txBody>
          <a:bodyPr wrap="square" lIns="0" tIns="0" rIns="0" bIns="0" rtlCol="0" anchor="t"/>
          <a:lstStyle/>
          <a:p>
            <a:pPr marL="0" indent="0" algn="l">
              <a:lnSpc>
                <a:spcPct val="135000"/>
              </a:lnSpc>
              <a:buNone/>
            </a:pPr>
            <a:r>
              <a:rPr lang="en-US" sz="1300" dirty="0">
                <a:solidFill>
                  <a:srgbClr val="2D2D2D"/>
                </a:solidFill>
                <a:latin typeface="Arial" pitchFamily="34" charset="0"/>
                <a:ea typeface="Arial" pitchFamily="34" charset="-122"/>
                <a:cs typeface="Arial" pitchFamily="34" charset="-120"/>
              </a:rPr>
              <a:t>Complete and pass the quiz on Canvas (stages, phases, hormone functions, medication identification). You must pass to attend In-Person Day 1. Retakes are available.</a:t>
            </a:r>
            <a:endParaRPr lang="en-US" sz="1300" dirty="0"/>
          </a:p>
        </p:txBody>
      </p:sp>
      <p:sp>
        <p:nvSpPr>
          <p:cNvPr id="8" name="Shape 6"/>
          <p:cNvSpPr/>
          <p:nvPr/>
        </p:nvSpPr>
        <p:spPr>
          <a:xfrm>
            <a:off x="548640" y="2432304"/>
            <a:ext cx="8046720" cy="1152144"/>
          </a:xfrm>
          <a:prstGeom prst="rect">
            <a:avLst/>
          </a:prstGeom>
          <a:solidFill>
            <a:srgbClr val="F5F1F8"/>
          </a:solidFill>
          <a:ln w="12700">
            <a:solidFill>
              <a:srgbClr val="C9B8D8"/>
            </a:solidFill>
            <a:prstDash val="solid"/>
          </a:ln>
        </p:spPr>
        <p:txBody>
          <a:bodyPr/>
          <a:p/>
        </p:txBody>
      </p:sp>
      <p:sp>
        <p:nvSpPr>
          <p:cNvPr id="9" name="Shape 7"/>
          <p:cNvSpPr/>
          <p:nvPr/>
        </p:nvSpPr>
        <p:spPr>
          <a:xfrm>
            <a:off x="548640" y="2432304"/>
            <a:ext cx="64008" cy="1152144"/>
          </a:xfrm>
          <a:prstGeom prst="rect">
            <a:avLst/>
          </a:prstGeom>
          <a:solidFill>
            <a:srgbClr val="5E376C"/>
          </a:solidFill>
          <a:ln w="12700">
            <a:solidFill>
              <a:srgbClr val="5E376C"/>
            </a:solidFill>
            <a:prstDash val="solid"/>
          </a:ln>
        </p:spPr>
        <p:txBody>
          <a:bodyPr/>
          <a:p/>
        </p:txBody>
      </p:sp>
      <p:sp>
        <p:nvSpPr>
          <p:cNvPr id="10" name="Text 8"/>
          <p:cNvSpPr/>
          <p:nvPr/>
        </p:nvSpPr>
        <p:spPr>
          <a:xfrm>
            <a:off x="731520" y="2560320"/>
            <a:ext cx="7680960" cy="274320"/>
          </a:xfrm>
          <a:prstGeom prst="rect">
            <a:avLst/>
          </a:prstGeom>
          <a:noFill/>
          <a:ln/>
        </p:spPr>
        <p:txBody>
          <a:bodyPr wrap="square" lIns="0" tIns="0" rIns="0" bIns="0" rtlCol="0" anchor="ctr"/>
          <a:lstStyle/>
          <a:p>
            <a:pPr marL="0" indent="0">
              <a:buNone/>
            </a:pPr>
            <a:r>
              <a:rPr lang="en-US" sz="1500" b="1" dirty="0">
                <a:solidFill>
                  <a:srgbClr val="5E376C"/>
                </a:solidFill>
                <a:latin typeface="Georgia" pitchFamily="34" charset="0"/>
                <a:ea typeface="Georgia" pitchFamily="34" charset="-122"/>
                <a:cs typeface="Georgia" pitchFamily="34" charset="-120"/>
              </a:rPr>
              <a:t>2. Resource Guide — Keep Adding</a:t>
            </a:r>
            <a:endParaRPr lang="en-US" sz="1500" dirty="0"/>
          </a:p>
        </p:txBody>
      </p:sp>
      <p:sp>
        <p:nvSpPr>
          <p:cNvPr id="11" name="Text 9"/>
          <p:cNvSpPr/>
          <p:nvPr/>
        </p:nvSpPr>
        <p:spPr>
          <a:xfrm>
            <a:off x="731520" y="2889504"/>
            <a:ext cx="7680960" cy="621792"/>
          </a:xfrm>
          <a:prstGeom prst="rect">
            <a:avLst/>
          </a:prstGeom>
          <a:noFill/>
          <a:ln/>
        </p:spPr>
        <p:txBody>
          <a:bodyPr wrap="square" lIns="0" tIns="0" rIns="0" bIns="0" rtlCol="0" anchor="t"/>
          <a:lstStyle/>
          <a:p>
            <a:pPr marL="0" indent="0" algn="l">
              <a:lnSpc>
                <a:spcPct val="135000"/>
              </a:lnSpc>
              <a:buNone/>
            </a:pPr>
            <a:r>
              <a:rPr lang="en-US" sz="1300" dirty="0">
                <a:solidFill>
                  <a:srgbClr val="2D2D2D"/>
                </a:solidFill>
                <a:latin typeface="Arial" pitchFamily="34" charset="0"/>
                <a:ea typeface="Arial" pitchFamily="34" charset="-122"/>
                <a:cs typeface="Arial" pitchFamily="34" charset="-120"/>
              </a:rPr>
              <a:t>Add at least 3 new entries covering labor support, birth trauma, and perinatal loss resources in your community. Guide must be complete by Day 1.</a:t>
            </a:r>
            <a:endParaRPr lang="en-US" sz="1300" dirty="0"/>
          </a:p>
        </p:txBody>
      </p:sp>
      <p:sp>
        <p:nvSpPr>
          <p:cNvPr id="12" name="Shape 10"/>
          <p:cNvSpPr/>
          <p:nvPr/>
        </p:nvSpPr>
        <p:spPr>
          <a:xfrm>
            <a:off x="548640" y="3694176"/>
            <a:ext cx="8046720" cy="1152144"/>
          </a:xfrm>
          <a:prstGeom prst="rect">
            <a:avLst/>
          </a:prstGeom>
          <a:solidFill>
            <a:srgbClr val="F5F1F8"/>
          </a:solidFill>
          <a:ln w="12700">
            <a:solidFill>
              <a:srgbClr val="C9B8D8"/>
            </a:solidFill>
            <a:prstDash val="solid"/>
          </a:ln>
        </p:spPr>
        <p:txBody>
          <a:bodyPr/>
          <a:p/>
        </p:txBody>
      </p:sp>
      <p:sp>
        <p:nvSpPr>
          <p:cNvPr id="13" name="Shape 11"/>
          <p:cNvSpPr/>
          <p:nvPr/>
        </p:nvSpPr>
        <p:spPr>
          <a:xfrm>
            <a:off x="548640" y="3694176"/>
            <a:ext cx="64008" cy="1152144"/>
          </a:xfrm>
          <a:prstGeom prst="rect">
            <a:avLst/>
          </a:prstGeom>
          <a:solidFill>
            <a:srgbClr val="5E376C"/>
          </a:solidFill>
          <a:ln w="12700">
            <a:solidFill>
              <a:srgbClr val="5E376C"/>
            </a:solidFill>
            <a:prstDash val="solid"/>
          </a:ln>
        </p:spPr>
        <p:txBody>
          <a:bodyPr/>
          <a:p/>
        </p:txBody>
      </p:sp>
      <p:sp>
        <p:nvSpPr>
          <p:cNvPr id="14" name="Text 12"/>
          <p:cNvSpPr/>
          <p:nvPr/>
        </p:nvSpPr>
        <p:spPr>
          <a:xfrm>
            <a:off x="731520" y="3822192"/>
            <a:ext cx="7680960" cy="274320"/>
          </a:xfrm>
          <a:prstGeom prst="rect">
            <a:avLst/>
          </a:prstGeom>
          <a:noFill/>
          <a:ln/>
        </p:spPr>
        <p:txBody>
          <a:bodyPr wrap="square" lIns="0" tIns="0" rIns="0" bIns="0" rtlCol="0" anchor="ctr"/>
          <a:lstStyle/>
          <a:p>
            <a:pPr marL="0" indent="0">
              <a:buNone/>
            </a:pPr>
            <a:r>
              <a:rPr lang="en-US" sz="1500" b="1" dirty="0">
                <a:solidFill>
                  <a:srgbClr val="5E376C"/>
                </a:solidFill>
                <a:latin typeface="Georgia" pitchFamily="34" charset="0"/>
                <a:ea typeface="Georgia" pitchFamily="34" charset="-122"/>
                <a:cs typeface="Georgia" pitchFamily="34" charset="-120"/>
              </a:rPr>
              <a:t>3. Reflection Journal</a:t>
            </a:r>
            <a:endParaRPr lang="en-US" sz="1500" dirty="0"/>
          </a:p>
        </p:txBody>
      </p:sp>
      <p:sp>
        <p:nvSpPr>
          <p:cNvPr id="15" name="Text 13"/>
          <p:cNvSpPr/>
          <p:nvPr/>
        </p:nvSpPr>
        <p:spPr>
          <a:xfrm>
            <a:off x="731520" y="4151376"/>
            <a:ext cx="7680960" cy="621792"/>
          </a:xfrm>
          <a:prstGeom prst="rect">
            <a:avLst/>
          </a:prstGeom>
          <a:noFill/>
          <a:ln/>
        </p:spPr>
        <p:txBody>
          <a:bodyPr wrap="square" lIns="0" tIns="0" rIns="0" bIns="0" rtlCol="0" anchor="t"/>
          <a:lstStyle/>
          <a:p>
            <a:pPr marL="0" indent="0" algn="l">
              <a:lnSpc>
                <a:spcPct val="135000"/>
              </a:lnSpc>
              <a:buNone/>
            </a:pPr>
            <a:r>
              <a:rPr lang="en-US" sz="1300" dirty="0">
                <a:solidFill>
                  <a:srgbClr val="2D2D2D"/>
                </a:solidFill>
                <a:latin typeface="Arial" pitchFamily="34" charset="0"/>
                <a:ea typeface="Arial" pitchFamily="34" charset="-122"/>
                <a:cs typeface="Arial" pitchFamily="34" charset="-120"/>
              </a:rPr>
              <a:t>Ungraded. In Canvas, respond to: What came up for you during the perinatal loss section? What do you need to prepare yourself to support families through loss?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9cf175a-52c4-4d9a-b10b-1b73b60e10eb">
      <Terms xmlns="http://schemas.microsoft.com/office/infopath/2007/PartnerControls"/>
    </lcf76f155ced4ddcb4097134ff3c332f>
    <TaxCatchAll xmlns="d797d26f-9713-467f-b3fe-84ac0e5e8f9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18F37F813C2C9408C606DF61D003BBB" ma:contentTypeVersion="12" ma:contentTypeDescription="Create a new document." ma:contentTypeScope="" ma:versionID="c7d550912683b2666c998548ab3a797b">
  <xsd:schema xmlns:xsd="http://www.w3.org/2001/XMLSchema" xmlns:xs="http://www.w3.org/2001/XMLSchema" xmlns:p="http://schemas.microsoft.com/office/2006/metadata/properties" xmlns:ns2="f9cf175a-52c4-4d9a-b10b-1b73b60e10eb" xmlns:ns3="d797d26f-9713-467f-b3fe-84ac0e5e8f9e" targetNamespace="http://schemas.microsoft.com/office/2006/metadata/properties" ma:root="true" ma:fieldsID="95eac179afbb9c4e8c282a1d71f73d98" ns2:_="" ns3:_="">
    <xsd:import namespace="f9cf175a-52c4-4d9a-b10b-1b73b60e10eb"/>
    <xsd:import namespace="d797d26f-9713-467f-b3fe-84ac0e5e8f9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cf175a-52c4-4d9a-b10b-1b73b60e10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75dca9c-106c-4ae2-9548-35d2173e47f1"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797d26f-9713-467f-b3fe-84ac0e5e8f9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e6e897e-50b3-42c4-897f-37cc1add5eeb}" ma:internalName="TaxCatchAll" ma:showField="CatchAllData" ma:web="d797d26f-9713-467f-b3fe-84ac0e5e8f9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249AA6-7A70-4FE8-A48D-44C4E4CE77B2}">
  <ds:schemaRefs>
    <ds:schemaRef ds:uri="http://schemas.microsoft.com/sharepoint/v3/contenttype/forms"/>
  </ds:schemaRefs>
</ds:datastoreItem>
</file>

<file path=customXml/itemProps2.xml><?xml version="1.0" encoding="utf-8"?>
<ds:datastoreItem xmlns:ds="http://schemas.openxmlformats.org/officeDocument/2006/customXml" ds:itemID="{0CC40839-0D04-4E9F-BBCD-BF4B21F26889}">
  <ds:schemaRefs>
    <ds:schemaRef ds:uri="http://schemas.microsoft.com/office/2006/metadata/properties"/>
    <ds:schemaRef ds:uri="http://schemas.microsoft.com/office/infopath/2007/PartnerControls"/>
    <ds:schemaRef ds:uri="f9cf175a-52c4-4d9a-b10b-1b73b60e10eb"/>
    <ds:schemaRef ds:uri="d797d26f-9713-467f-b3fe-84ac0e5e8f9e"/>
  </ds:schemaRefs>
</ds:datastoreItem>
</file>

<file path=customXml/itemProps3.xml><?xml version="1.0" encoding="utf-8"?>
<ds:datastoreItem xmlns:ds="http://schemas.openxmlformats.org/officeDocument/2006/customXml" ds:itemID="{445CFF56-90C6-4018-B658-2906BDCFB9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cf175a-52c4-4d9a-b10b-1b73b60e10eb"/>
    <ds:schemaRef ds:uri="d797d26f-9713-467f-b3fe-84ac0e5e8f9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4" baseType="variant">
      <vt:variant>
        <vt:lpstr>Theme</vt:lpstr>
      </vt:variant>
      <vt:variant>
        <vt:i4>1</vt:i4>
      </vt:variant>
      <vt:variant>
        <vt:lpstr>Slide Titles</vt:lpstr>
      </vt:variant>
      <vt:variant>
        <vt:i4>53</vt:i4>
      </vt:variant>
    </vt:vector>
  </HeadingPairs>
  <TitlesOfParts>
    <vt:vector size="5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MHN Night 2 — Labor, Birth &amp; When Things Get Complex</dc:title>
  <dc:subject>PptxGenJS Presentation</dc:subject>
  <dc:creator>Madeline LeBlanc</dc:creator>
  <cp:lastModifiedBy>Madeline LeBlanc</cp:lastModifiedBy>
  <cp:revision>2</cp:revision>
  <dcterms:created xsi:type="dcterms:W3CDTF">2026-04-06T18:23:51Z</dcterms:created>
  <dcterms:modified xsi:type="dcterms:W3CDTF">2026-05-11T02:34:44Z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0x010100118F37F813C2C9408C606DF61D003BBB</vt:lpwstr>
  </property>
</Properties>
</file>